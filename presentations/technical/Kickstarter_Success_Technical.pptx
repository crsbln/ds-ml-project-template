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6.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7.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8.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9.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10.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11.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19598212-e7d5-ed00-b8d6-6886e50c677d}">
          <p14:sldIdLst>
            <p14:sldId id="256"/>
            <p14:sldId id="257"/>
            <p14:sldId id="258"/>
          </p14:sldIdLst>
        </p14:section>
        <p14:section name="Data" id="{5366e7a0-83fc-2a9c-817f-b9d9e9dbb2a0}">
          <p14:sldIdLst>
            <p14:sldId id="259"/>
            <p14:sldId id="260"/>
            <p14:sldId id="261"/>
          </p14:sldIdLst>
        </p14:section>
        <p14:section name="Exploration" id="{0bfa82eb-0d8b-299e-ee54-128d0a64976b}">
          <p14:sldIdLst>
            <p14:sldId id="262"/>
            <p14:sldId id="263"/>
            <p14:sldId id="264"/>
            <p14:sldId id="265"/>
            <p14:sldId id="266"/>
          </p14:sldIdLst>
        </p14:section>
        <p14:section name="Modelling" id="{513825cd-0861-3bf4-9c46-d51e42b99e74}">
          <p14:sldIdLst>
            <p14:sldId id="267"/>
            <p14:sldId id="268"/>
            <p14:sldId id="269"/>
            <p14:sldId id="270"/>
          </p14:sldIdLst>
        </p14:section>
        <p14:section name="Evaluation" id="{35a4f4f3-e023-1763-efc2-fd7eca9e6367}">
          <p14:sldIdLst>
            <p14:sldId id="271"/>
            <p14:sldId id="272"/>
            <p14:sldId id="273"/>
            <p14:sldId id="274"/>
            <p14:sldId id="275"/>
            <p14:sldId id="276"/>
          </p14:sldIdLst>
        </p14:section>
        <p14:section name="Wrap-up" id="{8bf8c768-9faf-bfd9-be42-fda1d361d5cc}">
          <p14:sldIdLst>
            <p14:sldId id="277"/>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Success rate by funding goal</c:v>
                </c:pt>
              </c:strCache>
            </c:strRef>
          </c:tx>
          <c:spPr>
            <a:solidFill>
              <a:srgbClr val="05CE78"/>
            </a:solidFill>
            <a:effectLst/>
          </c:spPr>
          <c:invertIfNegative val="0"/>
          <c:dLbls>
            <c:numFmt formatCode="0%" sourceLinked="0"/>
            <c:txPr>
              <a:bodyPr/>
              <a:lstStyle/>
              <a:p>
                <a:pPr>
                  <a:defRPr b="0" i="0" strike="noStrike" sz="1300" u="none">
                    <a:solidFill>
                      <a:srgbClr val="1F2421"/>
                    </a:solidFill>
                    <a:latin typeface="+mn-lt"/>
                  </a:defRPr>
                </a:pPr>
              </a:p>
            </c:txPr>
            <c:showLegendKey val="0"/>
            <c:showVal val="1"/>
            <c:showCatName val="0"/>
            <c:showSerName val="0"/>
            <c:showPercent val="0"/>
            <c:showBubbleSize val="0"/>
            <c:showLeaderLines val="0"/>
          </c:dLbls>
          <c:dPt>
            <c:idx val="0"/>
            <c:invertIfNegative val="0"/>
            <c:bubble3D val="0"/>
            <c:spPr>
              <a:solidFill>
                <a:srgbClr val="05CE78"/>
              </a:solidFill>
              <a:effectLst/>
            </c:spPr>
          </c:dPt>
          <c:dPt>
            <c:idx val="1"/>
            <c:invertIfNegative val="0"/>
            <c:bubble3D val="0"/>
            <c:spPr>
              <a:solidFill>
                <a:srgbClr val="05CE78"/>
              </a:solidFill>
              <a:effectLst/>
            </c:spPr>
          </c:dPt>
          <c:dPt>
            <c:idx val="2"/>
            <c:invertIfNegative val="0"/>
            <c:bubble3D val="0"/>
            <c:spPr>
              <a:solidFill>
                <a:srgbClr val="05CE78"/>
              </a:solidFill>
              <a:effectLst/>
            </c:spPr>
          </c:dPt>
          <c:dPt>
            <c:idx val="3"/>
            <c:invertIfNegative val="0"/>
            <c:bubble3D val="0"/>
            <c:spPr>
              <a:solidFill>
                <a:srgbClr val="2E3431"/>
              </a:solidFill>
              <a:effectLst/>
            </c:spPr>
          </c:dPt>
          <c:dPt>
            <c:idx val="4"/>
            <c:invertIfNegative val="0"/>
            <c:bubble3D val="0"/>
            <c:spPr>
              <a:solidFill>
                <a:srgbClr val="2E3431"/>
              </a:solidFill>
              <a:effectLst/>
            </c:spPr>
          </c:dPt>
          <c:dPt>
            <c:idx val="5"/>
            <c:invertIfNegative val="0"/>
            <c:bubble3D val="0"/>
            <c:spPr>
              <a:solidFill>
                <a:srgbClr val="2E3431"/>
              </a:solidFill>
              <a:effectLst/>
            </c:spPr>
          </c:dPt>
          <c:dPt>
            <c:idx val="6"/>
            <c:invertIfNegative val="0"/>
            <c:bubble3D val="0"/>
            <c:spPr>
              <a:solidFill>
                <a:srgbClr val="2E3431"/>
              </a:solidFill>
              <a:effectLst/>
            </c:spPr>
          </c:dPt>
          <c:dPt>
            <c:idx val="7"/>
            <c:invertIfNegative val="0"/>
            <c:bubble3D val="0"/>
            <c:spPr>
              <a:solidFill>
                <a:srgbClr val="2E3431"/>
              </a:solidFill>
              <a:effectLst/>
            </c:spPr>
          </c:dPt>
          <c:cat>
            <c:multiLvlStrRef>
              <c:f>Sheet1!$A$2:$A$9</c:f>
              <c:multiLvlStrCache>
                <c:ptCount val="8"/>
                <c:lvl>
                  <c:pt idx="0">
                    <c:v>up to 1k</c:v>
                  </c:pt>
                  <c:pt idx="1">
                    <c:v>1k-2.5k</c:v>
                  </c:pt>
                  <c:pt idx="2">
                    <c:v>2.5k-5k</c:v>
                  </c:pt>
                  <c:pt idx="3">
                    <c:v>5k-10k</c:v>
                  </c:pt>
                  <c:pt idx="4">
                    <c:v>10k-25k</c:v>
                  </c:pt>
                  <c:pt idx="5">
                    <c:v>25k-50k</c:v>
                  </c:pt>
                  <c:pt idx="6">
                    <c:v>50k-100k</c:v>
                  </c:pt>
                  <c:pt idx="7">
                    <c:v>over 100k</c:v>
                  </c:pt>
                </c:lvl>
              </c:multiLvlStrCache>
            </c:multiLvlStrRef>
          </c:cat>
          <c:val>
            <c:numRef>
              <c:f>Sheet1!$B$2:$B$9</c:f>
              <c:numCache>
                <c:formatCode>General</c:formatCode>
                <c:ptCount val="8"/>
                <c:pt idx="0">
                  <c:v>0.494</c:v>
                </c:pt>
                <c:pt idx="1">
                  <c:v>0.46</c:v>
                </c:pt>
                <c:pt idx="2">
                  <c:v>0.404</c:v>
                </c:pt>
                <c:pt idx="3">
                  <c:v>0.354</c:v>
                </c:pt>
                <c:pt idx="4">
                  <c:v>0.296</c:v>
                </c:pt>
                <c:pt idx="5">
                  <c:v>0.211</c:v>
                </c:pt>
                <c:pt idx="6">
                  <c:v>0.14</c:v>
                </c:pt>
                <c:pt idx="7">
                  <c:v>0.058</c:v>
                </c:pt>
              </c:numCache>
            </c:numRef>
          </c:val>
        </c:ser>
        <c:dLbls>
          <c:numFmt formatCode="0%" sourceLinked="0"/>
          <c:txPr>
            <a:bodyPr/>
            <a:lstStyle/>
            <a:p>
              <a:pPr>
                <a:defRPr b="0" i="0" strike="noStrike" sz="1300" u="none">
                  <a:solidFill>
                    <a:srgbClr val="1F2421"/>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1F2421"/>
                </a:solidFill>
                <a:latin typeface="+mn-lt"/>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D686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Success rate by main category</c:v>
                </c:pt>
              </c:strCache>
            </c:strRef>
          </c:tx>
          <c:spPr>
            <a:solidFill>
              <a:srgbClr val="05CE78"/>
            </a:solidFill>
            <a:effectLst/>
          </c:spPr>
          <c:invertIfNegative val="0"/>
          <c:dLbls>
            <c:numFmt formatCode="0%" sourceLinked="0"/>
            <c:txPr>
              <a:bodyPr/>
              <a:lstStyle/>
              <a:p>
                <a:pPr>
                  <a:defRPr b="0" i="0" strike="noStrike" sz="1300" u="none">
                    <a:solidFill>
                      <a:srgbClr val="1F2421"/>
                    </a:solidFill>
                    <a:latin typeface="+mn-lt"/>
                  </a:defRPr>
                </a:pPr>
              </a:p>
            </c:txPr>
            <c:showLegendKey val="0"/>
            <c:showVal val="1"/>
            <c:showCatName val="0"/>
            <c:showSerName val="0"/>
            <c:showPercent val="0"/>
            <c:showBubbleSize val="0"/>
            <c:showLeaderLines val="0"/>
          </c:dLbls>
          <c:dPt>
            <c:idx val="0"/>
            <c:invertIfNegative val="0"/>
            <c:bubble3D val="0"/>
            <c:spPr>
              <a:solidFill>
                <a:srgbClr val="05CE78"/>
              </a:solidFill>
              <a:effectLst/>
            </c:spPr>
          </c:dPt>
          <c:dPt>
            <c:idx val="1"/>
            <c:invertIfNegative val="0"/>
            <c:bubble3D val="0"/>
            <c:spPr>
              <a:solidFill>
                <a:srgbClr val="05CE78"/>
              </a:solidFill>
              <a:effectLst/>
            </c:spPr>
          </c:dPt>
          <c:dPt>
            <c:idx val="2"/>
            <c:invertIfNegative val="0"/>
            <c:bubble3D val="0"/>
            <c:spPr>
              <a:solidFill>
                <a:srgbClr val="05CE78"/>
              </a:solidFill>
              <a:effectLst/>
            </c:spPr>
          </c:dPt>
          <c:dPt>
            <c:idx val="3"/>
            <c:invertIfNegative val="0"/>
            <c:bubble3D val="0"/>
            <c:spPr>
              <a:solidFill>
                <a:srgbClr val="05CE78"/>
              </a:solidFill>
              <a:effectLst/>
            </c:spPr>
          </c:dPt>
          <c:dPt>
            <c:idx val="4"/>
            <c:invertIfNegative val="0"/>
            <c:bubble3D val="0"/>
            <c:spPr>
              <a:solidFill>
                <a:srgbClr val="05CE78"/>
              </a:solidFill>
              <a:effectLst/>
            </c:spPr>
          </c:dPt>
          <c:dPt>
            <c:idx val="5"/>
            <c:invertIfNegative val="0"/>
            <c:bubble3D val="0"/>
            <c:spPr>
              <a:solidFill>
                <a:srgbClr val="05CE78"/>
              </a:solidFill>
              <a:effectLst/>
            </c:spPr>
          </c:dPt>
          <c:dPt>
            <c:idx val="6"/>
            <c:invertIfNegative val="0"/>
            <c:bubble3D val="0"/>
            <c:spPr>
              <a:solidFill>
                <a:srgbClr val="2E3431"/>
              </a:solidFill>
              <a:effectLst/>
            </c:spPr>
          </c:dPt>
          <c:dPt>
            <c:idx val="7"/>
            <c:invertIfNegative val="0"/>
            <c:bubble3D val="0"/>
            <c:spPr>
              <a:solidFill>
                <a:srgbClr val="2E3431"/>
              </a:solidFill>
              <a:effectLst/>
            </c:spPr>
          </c:dPt>
          <c:dPt>
            <c:idx val="8"/>
            <c:invertIfNegative val="0"/>
            <c:bubble3D val="0"/>
            <c:spPr>
              <a:solidFill>
                <a:srgbClr val="2E3431"/>
              </a:solidFill>
              <a:effectLst/>
            </c:spPr>
          </c:dPt>
          <c:dPt>
            <c:idx val="9"/>
            <c:invertIfNegative val="0"/>
            <c:bubble3D val="0"/>
            <c:spPr>
              <a:solidFill>
                <a:srgbClr val="2E3431"/>
              </a:solidFill>
              <a:effectLst/>
            </c:spPr>
          </c:dPt>
          <c:dPt>
            <c:idx val="10"/>
            <c:invertIfNegative val="0"/>
            <c:bubble3D val="0"/>
            <c:spPr>
              <a:solidFill>
                <a:srgbClr val="2E3431"/>
              </a:solidFill>
              <a:effectLst/>
            </c:spPr>
          </c:dPt>
          <c:dPt>
            <c:idx val="11"/>
            <c:invertIfNegative val="0"/>
            <c:bubble3D val="0"/>
            <c:spPr>
              <a:solidFill>
                <a:srgbClr val="2E3431"/>
              </a:solidFill>
              <a:effectLst/>
            </c:spPr>
          </c:dPt>
          <c:dPt>
            <c:idx val="12"/>
            <c:invertIfNegative val="0"/>
            <c:bubble3D val="0"/>
            <c:spPr>
              <a:solidFill>
                <a:srgbClr val="2E3431"/>
              </a:solidFill>
              <a:effectLst/>
            </c:spPr>
          </c:dPt>
          <c:dPt>
            <c:idx val="13"/>
            <c:invertIfNegative val="0"/>
            <c:bubble3D val="0"/>
            <c:spPr>
              <a:solidFill>
                <a:srgbClr val="2E3431"/>
              </a:solidFill>
              <a:effectLst/>
            </c:spPr>
          </c:dPt>
          <c:dPt>
            <c:idx val="14"/>
            <c:invertIfNegative val="0"/>
            <c:bubble3D val="0"/>
            <c:spPr>
              <a:solidFill>
                <a:srgbClr val="2E3431"/>
              </a:solidFill>
              <a:effectLst/>
            </c:spPr>
          </c:dPt>
          <c:cat>
            <c:multiLvlStrRef>
              <c:f>Sheet1!$A$2:$A$16</c:f>
              <c:multiLvlStrCache>
                <c:ptCount val="15"/>
                <c:lvl>
                  <c:pt idx="0">
                    <c:v>Dance</c:v>
                  </c:pt>
                  <c:pt idx="1">
                    <c:v>Theater</c:v>
                  </c:pt>
                  <c:pt idx="2">
                    <c:v>Comics</c:v>
                  </c:pt>
                  <c:pt idx="3">
                    <c:v>Music</c:v>
                  </c:pt>
                  <c:pt idx="4">
                    <c:v>Art</c:v>
                  </c:pt>
                  <c:pt idx="5">
                    <c:v>Film &amp; Video</c:v>
                  </c:pt>
                  <c:pt idx="6">
                    <c:v>Games</c:v>
                  </c:pt>
                  <c:pt idx="7">
                    <c:v>Design</c:v>
                  </c:pt>
                  <c:pt idx="8">
                    <c:v>Publishing</c:v>
                  </c:pt>
                  <c:pt idx="9">
                    <c:v>Photography</c:v>
                  </c:pt>
                  <c:pt idx="10">
                    <c:v>Food</c:v>
                  </c:pt>
                  <c:pt idx="11">
                    <c:v>Fashion</c:v>
                  </c:pt>
                  <c:pt idx="12">
                    <c:v>Crafts</c:v>
                  </c:pt>
                  <c:pt idx="13">
                    <c:v>Journalism</c:v>
                  </c:pt>
                  <c:pt idx="14">
                    <c:v>Technology</c:v>
                  </c:pt>
                </c:lvl>
              </c:multiLvlStrCache>
            </c:multiLvlStrRef>
          </c:cat>
          <c:val>
            <c:numRef>
              <c:f>Sheet1!$B$2:$B$16</c:f>
              <c:numCache>
                <c:formatCode>General</c:formatCode>
                <c:ptCount val="15"/>
                <c:pt idx="0">
                  <c:v>0.624</c:v>
                </c:pt>
                <c:pt idx="1">
                  <c:v>0.601</c:v>
                </c:pt>
                <c:pt idx="2">
                  <c:v>0.544</c:v>
                </c:pt>
                <c:pt idx="3">
                  <c:v>0.49</c:v>
                </c:pt>
                <c:pt idx="4">
                  <c:v>0.412</c:v>
                </c:pt>
                <c:pt idx="5">
                  <c:v>0.379</c:v>
                </c:pt>
                <c:pt idx="6">
                  <c:v>0.358</c:v>
                </c:pt>
                <c:pt idx="7">
                  <c:v>0.354</c:v>
                </c:pt>
                <c:pt idx="8">
                  <c:v>0.314</c:v>
                </c:pt>
                <c:pt idx="9">
                  <c:v>0.308</c:v>
                </c:pt>
                <c:pt idx="10">
                  <c:v>0.249</c:v>
                </c:pt>
                <c:pt idx="11">
                  <c:v>0.248</c:v>
                </c:pt>
                <c:pt idx="12">
                  <c:v>0.242</c:v>
                </c:pt>
                <c:pt idx="13">
                  <c:v>0.214</c:v>
                </c:pt>
                <c:pt idx="14">
                  <c:v>0.2</c:v>
                </c:pt>
              </c:numCache>
            </c:numRef>
          </c:val>
        </c:ser>
        <c:dLbls>
          <c:numFmt formatCode="0%" sourceLinked="0"/>
          <c:txPr>
            <a:bodyPr/>
            <a:lstStyle/>
            <a:p>
              <a:pPr>
                <a:defRPr b="0" i="0" strike="noStrike" sz="1300" u="none">
                  <a:solidFill>
                    <a:srgbClr val="1F2421"/>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1F2421"/>
                </a:solidFill>
                <a:latin typeface="+mn-lt"/>
              </a:defRPr>
            </a:pPr>
            <a:endParaRPr lang="en-US"/>
          </a:p>
        </c:txPr>
        <c:crossAx val="2094734552"/>
        <c:crosses val="autoZero"/>
        <c:auto val="1"/>
        <c:lblAlgn val="ctr"/>
        <c:noMultiLvlLbl val="1"/>
      </c:catAx>
      <c:valAx>
        <c:axId val="2094734552"/>
        <c:scaling>
          <c:orientation val="minMax"/>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D686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Day before</c:v>
                </c:pt>
              </c:strCache>
            </c:strRef>
          </c:tx>
          <c:spPr>
            <a:solidFill>
              <a:srgbClr val="C9D3CE"/>
            </a:solidFill>
            <a:effectLst/>
          </c:spPr>
          <c:invertIfNegative val="0"/>
          <c:dLbls>
            <c:numFmt formatCode="#,##0" sourceLinked="0"/>
            <c:txPr>
              <a:bodyPr/>
              <a:lstStyle/>
              <a:p>
                <a:pPr>
                  <a:defRPr b="0" i="0" strike="noStrike" sz="1300" u="none">
                    <a:solidFill>
                      <a:srgbClr val="1F2421"/>
                    </a:solidFill>
                    <a:latin typeface="+mn-lt"/>
                  </a:defRPr>
                </a:pPr>
              </a:p>
            </c:txPr>
            <c:showLegendKey val="0"/>
            <c:showVal val="0"/>
            <c:showCatName val="0"/>
            <c:showSerName val="0"/>
            <c:showPercent val="0"/>
            <c:showBubbleSize val="0"/>
            <c:showLeaderLines val="0"/>
          </c:dLbls>
          <c:cat>
            <c:multiLvlStrRef>
              <c:f>Sheet1!$A$2:$A$9</c:f>
              <c:multiLvlStrCache>
                <c:ptCount val="8"/>
                <c:lvl>
                  <c:pt idx="0">
                    <c:v>15 days</c:v>
                  </c:pt>
                  <c:pt idx="1">
                    <c:v>20 days</c:v>
                  </c:pt>
                  <c:pt idx="2">
                    <c:v>25 days</c:v>
                  </c:pt>
                  <c:pt idx="3">
                    <c:v>30 days</c:v>
                  </c:pt>
                  <c:pt idx="4">
                    <c:v>35 days</c:v>
                  </c:pt>
                  <c:pt idx="5">
                    <c:v>40 days</c:v>
                  </c:pt>
                  <c:pt idx="6">
                    <c:v>45 days</c:v>
                  </c:pt>
                  <c:pt idx="7">
                    <c:v>60 days</c:v>
                  </c:pt>
                </c:lvl>
              </c:multiLvlStrCache>
            </c:multiLvlStrRef>
          </c:cat>
          <c:val>
            <c:numRef>
              <c:f>Sheet1!$B$2:$B$9</c:f>
              <c:numCache>
                <c:formatCode>General</c:formatCode>
                <c:ptCount val="8"/>
                <c:pt idx="0">
                  <c:v>0.506</c:v>
                </c:pt>
                <c:pt idx="1">
                  <c:v>0.552</c:v>
                </c:pt>
                <c:pt idx="2">
                  <c:v>0.535</c:v>
                </c:pt>
                <c:pt idx="3">
                  <c:v>0.459</c:v>
                </c:pt>
                <c:pt idx="4">
                  <c:v>0.491</c:v>
                </c:pt>
                <c:pt idx="5">
                  <c:v>0.434</c:v>
                </c:pt>
                <c:pt idx="6">
                  <c:v>0.415</c:v>
                </c:pt>
                <c:pt idx="7">
                  <c:v>0.242</c:v>
                </c:pt>
              </c:numCache>
            </c:numRef>
          </c:val>
        </c:ser>
        <c:ser>
          <c:idx val="1"/>
          <c:order val="1"/>
          <c:tx>
            <c:strRef>
              <c:f>Sheet1!$C$1</c:f>
              <c:strCache>
                <c:ptCount val="1"/>
                <c:pt idx="0">
                  <c:v>Round length</c:v>
                </c:pt>
              </c:strCache>
            </c:strRef>
          </c:tx>
          <c:spPr>
            <a:solidFill>
              <a:srgbClr val="2E3431"/>
            </a:solidFill>
            <a:effectLst/>
          </c:spPr>
          <c:invertIfNegative val="0"/>
          <c:dLbls>
            <c:numFmt formatCode="#,##0" sourceLinked="0"/>
            <c:txPr>
              <a:bodyPr/>
              <a:lstStyle/>
              <a:p>
                <a:pPr>
                  <a:defRPr b="0" i="0" strike="noStrike" sz="1300" u="none">
                    <a:solidFill>
                      <a:srgbClr val="1F2421"/>
                    </a:solidFill>
                    <a:latin typeface="+mn-lt"/>
                  </a:defRPr>
                </a:pPr>
              </a:p>
            </c:txPr>
            <c:showLegendKey val="0"/>
            <c:showVal val="0"/>
            <c:showCatName val="0"/>
            <c:showSerName val="0"/>
            <c:showPercent val="0"/>
            <c:showBubbleSize val="0"/>
            <c:showLeaderLines val="0"/>
          </c:dLbls>
          <c:cat>
            <c:multiLvlStrRef>
              <c:f>Sheet1!$A$2:$A$9</c:f>
              <c:multiLvlStrCache>
                <c:ptCount val="8"/>
                <c:lvl>
                  <c:pt idx="0">
                    <c:v>15 days</c:v>
                  </c:pt>
                  <c:pt idx="1">
                    <c:v>20 days</c:v>
                  </c:pt>
                  <c:pt idx="2">
                    <c:v>25 days</c:v>
                  </c:pt>
                  <c:pt idx="3">
                    <c:v>30 days</c:v>
                  </c:pt>
                  <c:pt idx="4">
                    <c:v>35 days</c:v>
                  </c:pt>
                  <c:pt idx="5">
                    <c:v>40 days</c:v>
                  </c:pt>
                  <c:pt idx="6">
                    <c:v>45 days</c:v>
                  </c:pt>
                  <c:pt idx="7">
                    <c:v>60 days</c:v>
                  </c:pt>
                </c:lvl>
              </c:multiLvlStrCache>
            </c:multiLvlStrRef>
          </c:cat>
          <c:val>
            <c:numRef>
              <c:f>Sheet1!$C$2:$C$9</c:f>
              <c:numCache>
                <c:formatCode>General</c:formatCode>
                <c:ptCount val="8"/>
                <c:pt idx="0">
                  <c:v>0.418</c:v>
                </c:pt>
                <c:pt idx="1">
                  <c:v>0.406</c:v>
                </c:pt>
                <c:pt idx="2">
                  <c:v>0.442</c:v>
                </c:pt>
                <c:pt idx="3">
                  <c:v>0.319</c:v>
                </c:pt>
                <c:pt idx="4">
                  <c:v>0.39</c:v>
                </c:pt>
                <c:pt idx="5">
                  <c:v>0.335</c:v>
                </c:pt>
                <c:pt idx="6">
                  <c:v>0.287</c:v>
                </c:pt>
                <c:pt idx="7">
                  <c:v>0.19</c:v>
                </c:pt>
              </c:numCache>
            </c:numRef>
          </c:val>
        </c:ser>
        <c:ser>
          <c:idx val="2"/>
          <c:order val="2"/>
          <c:tx>
            <c:strRef>
              <c:f>Sheet1!$D$1</c:f>
              <c:strCache>
                <c:ptCount val="1"/>
                <c:pt idx="0">
                  <c:v>Day after</c:v>
                </c:pt>
              </c:strCache>
            </c:strRef>
          </c:tx>
          <c:spPr>
            <a:solidFill>
              <a:srgbClr val="037A47"/>
            </a:solidFill>
            <a:effectLst/>
          </c:spPr>
          <c:invertIfNegative val="0"/>
          <c:dLbls>
            <c:numFmt formatCode="#,##0" sourceLinked="0"/>
            <c:txPr>
              <a:bodyPr/>
              <a:lstStyle/>
              <a:p>
                <a:pPr>
                  <a:defRPr b="0" i="0" strike="noStrike" sz="1300" u="none">
                    <a:solidFill>
                      <a:srgbClr val="1F2421"/>
                    </a:solidFill>
                    <a:latin typeface="+mn-lt"/>
                  </a:defRPr>
                </a:pPr>
              </a:p>
            </c:txPr>
            <c:showLegendKey val="0"/>
            <c:showVal val="0"/>
            <c:showCatName val="0"/>
            <c:showSerName val="0"/>
            <c:showPercent val="0"/>
            <c:showBubbleSize val="0"/>
            <c:showLeaderLines val="0"/>
          </c:dLbls>
          <c:cat>
            <c:multiLvlStrRef>
              <c:f>Sheet1!$A$2:$A$9</c:f>
              <c:multiLvlStrCache>
                <c:ptCount val="8"/>
                <c:lvl>
                  <c:pt idx="0">
                    <c:v>15 days</c:v>
                  </c:pt>
                  <c:pt idx="1">
                    <c:v>20 days</c:v>
                  </c:pt>
                  <c:pt idx="2">
                    <c:v>25 days</c:v>
                  </c:pt>
                  <c:pt idx="3">
                    <c:v>30 days</c:v>
                  </c:pt>
                  <c:pt idx="4">
                    <c:v>35 days</c:v>
                  </c:pt>
                  <c:pt idx="5">
                    <c:v>40 days</c:v>
                  </c:pt>
                  <c:pt idx="6">
                    <c:v>45 days</c:v>
                  </c:pt>
                  <c:pt idx="7">
                    <c:v>60 days</c:v>
                  </c:pt>
                </c:lvl>
              </c:multiLvlStrCache>
            </c:multiLvlStrRef>
          </c:cat>
          <c:val>
            <c:numRef>
              <c:f>Sheet1!$D$2:$D$9</c:f>
              <c:numCache>
                <c:formatCode>General</c:formatCode>
                <c:ptCount val="8"/>
                <c:pt idx="0">
                  <c:v>0.573</c:v>
                </c:pt>
                <c:pt idx="1">
                  <c:v>0.541</c:v>
                </c:pt>
                <c:pt idx="2">
                  <c:v>0.521</c:v>
                </c:pt>
                <c:pt idx="3">
                  <c:v>0.495</c:v>
                </c:pt>
                <c:pt idx="4">
                  <c:v>0.48</c:v>
                </c:pt>
                <c:pt idx="5">
                  <c:v>0.449</c:v>
                </c:pt>
                <c:pt idx="6">
                  <c:v>0.437</c:v>
                </c:pt>
                <c:pt idx="7">
                  <c:v>0.375</c:v>
                </c:pt>
              </c:numCache>
            </c:numRef>
          </c:val>
        </c:ser>
        <c:dLbls>
          <c:numFmt formatCode="#,##0" sourceLinked="0"/>
          <c:txPr>
            <a:bodyPr/>
            <a:lstStyle/>
            <a:p>
              <a:pPr>
                <a:defRPr b="0" i="0" strike="noStrike" sz="1300" u="none">
                  <a:solidFill>
                    <a:srgbClr val="1F2421"/>
                  </a:solidFill>
                  <a:latin typeface="+mn-lt"/>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1F2421"/>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F5F7F6"/>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D6863"/>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300">
              <a:solidFill>
                <a:srgbClr val="1F242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Success rate</c:v>
                </c:pt>
              </c:strCache>
            </c:strRef>
          </c:tx>
          <c:spPr>
            <a:solidFill>
              <a:srgbClr val="05CE78"/>
            </a:solidFill>
            <a:ln w="38100" cap="flat">
              <a:solidFill>
                <a:srgbClr val="05CE78"/>
              </a:solidFill>
              <a:prstDash val="solid"/>
              <a:round/>
            </a:ln>
            <a:effectLst/>
          </c:spPr>
          <c:invertIfNegative val="0"/>
          <c:dLbls>
            <c:numFmt formatCode="0%" sourceLinked="0"/>
            <c:txPr>
              <a:bodyPr/>
              <a:lstStyle/>
              <a:p>
                <a:pPr>
                  <a:defRPr b="0" i="0" strike="noStrike" sz="1300" u="none">
                    <a:solidFill>
                      <a:srgbClr val="1F2421"/>
                    </a:solidFill>
                    <a:latin typeface="+mn-lt"/>
                  </a:defRPr>
                </a:pPr>
              </a:p>
            </c:txPr>
            <c:dLblPos val="t"/>
            <c:showLegendKey val="0"/>
            <c:showVal val="1"/>
            <c:showCatName val="0"/>
            <c:showSerName val="0"/>
            <c:showPercent val="0"/>
            <c:showBubbleSize val="0"/>
            <c:showLeaderLines val="0"/>
          </c:dLbls>
          <c:marker>
            <c:symbol val="circle"/>
            <c:size val="9"/>
            <c:spPr>
              <a:solidFill>
                <a:srgbClr val="05CE78"/>
              </a:solidFill>
              <a:ln w="9525" cap="flat">
                <a:solidFill>
                  <a:srgbClr val="05CE78"/>
                </a:solidFill>
                <a:prstDash val="solid"/>
                <a:round/>
              </a:ln>
              <a:effectLst/>
            </c:spPr>
          </c:marker>
          <c:cat>
            <c:multiLvlStrRef>
              <c:f>Sheet1!$A$2:$A$10</c:f>
              <c:multiLvlStrCache>
                <c:ptCount val="9"/>
                <c:lvl>
                  <c:pt idx="0">
                    <c:v>2009</c:v>
                  </c:pt>
                  <c:pt idx="1">
                    <c:v>2010</c:v>
                  </c:pt>
                  <c:pt idx="2">
                    <c:v>2011</c:v>
                  </c:pt>
                  <c:pt idx="3">
                    <c:v>2012</c:v>
                  </c:pt>
                  <c:pt idx="4">
                    <c:v>2013</c:v>
                  </c:pt>
                  <c:pt idx="5">
                    <c:v>2014</c:v>
                  </c:pt>
                  <c:pt idx="6">
                    <c:v>2015</c:v>
                  </c:pt>
                  <c:pt idx="7">
                    <c:v>2016</c:v>
                  </c:pt>
                  <c:pt idx="8">
                    <c:v>2017</c:v>
                  </c:pt>
                </c:lvl>
              </c:multiLvlStrCache>
            </c:multiLvlStrRef>
          </c:cat>
          <c:val>
            <c:numRef>
              <c:f>Sheet1!$B$2:$B$10</c:f>
              <c:numCache>
                <c:formatCode>General</c:formatCode>
                <c:ptCount val="9"/>
                <c:pt idx="0">
                  <c:v>0.436</c:v>
                </c:pt>
                <c:pt idx="1">
                  <c:v>0.437</c:v>
                </c:pt>
                <c:pt idx="2">
                  <c:v>0.464</c:v>
                </c:pt>
                <c:pt idx="3">
                  <c:v>0.435</c:v>
                </c:pt>
                <c:pt idx="4">
                  <c:v>0.433</c:v>
                </c:pt>
                <c:pt idx="5">
                  <c:v>0.315</c:v>
                </c:pt>
                <c:pt idx="6">
                  <c:v>0.28</c:v>
                </c:pt>
                <c:pt idx="7">
                  <c:v>0.331</c:v>
                </c:pt>
                <c:pt idx="8">
                  <c:v>0.373</c:v>
                </c:pt>
              </c:numCache>
            </c:numRef>
          </c:val>
          <c:smooth val="0"/>
        </c:ser>
        <c:dLbls>
          <c:numFmt formatCode="0%" sourceLinked="0"/>
          <c:txPr>
            <a:bodyPr/>
            <a:lstStyle/>
            <a:p>
              <a:pPr>
                <a:defRPr b="0" i="0" strike="noStrike" sz="1300" u="none">
                  <a:solidFill>
                    <a:srgbClr val="1F2421"/>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1F2421"/>
                </a:solidFill>
                <a:latin typeface="+mn-lt"/>
              </a:defRPr>
            </a:pPr>
            <a:endParaRPr lang="en-US"/>
          </a:p>
        </c:txPr>
        <c:crossAx val="2094734552"/>
        <c:crosses val="autoZero"/>
        <c:auto val="1"/>
        <c:lblAlgn val="ctr"/>
        <c:noMultiLvlLbl val="1"/>
      </c:catAx>
      <c:valAx>
        <c:axId val="2094734552"/>
        <c:scaling>
          <c:orientation val="minMax"/>
          <c:max val="0.6"/>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D686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Projects launched per year</c:v>
                </c:pt>
              </c:strCache>
            </c:strRef>
          </c:tx>
          <c:spPr>
            <a:solidFill>
              <a:srgbClr val="5D6863"/>
            </a:solidFill>
            <a:effectLst/>
          </c:spPr>
          <c:invertIfNegative val="0"/>
          <c:dLbls>
            <c:numFmt formatCode="#,##0" sourceLinked="0"/>
            <c:txPr>
              <a:bodyPr/>
              <a:lstStyle/>
              <a:p>
                <a:pPr>
                  <a:defRPr b="0" i="0" strike="noStrike" sz="1300" u="none">
                    <a:solidFill>
                      <a:srgbClr val="1F2421"/>
                    </a:solidFill>
                    <a:latin typeface="+mn-lt"/>
                  </a:defRPr>
                </a:pPr>
              </a:p>
            </c:txPr>
            <c:showLegendKey val="0"/>
            <c:showVal val="1"/>
            <c:showCatName val="0"/>
            <c:showSerName val="0"/>
            <c:showPercent val="0"/>
            <c:showBubbleSize val="0"/>
            <c:showLeaderLines val="0"/>
          </c:dLbls>
          <c:dPt>
            <c:idx val="0"/>
            <c:invertIfNegative val="0"/>
            <c:bubble3D val="0"/>
            <c:spPr>
              <a:solidFill>
                <a:srgbClr val="5D6863"/>
              </a:solidFill>
              <a:effectLst/>
            </c:spPr>
          </c:dPt>
          <c:dPt>
            <c:idx val="1"/>
            <c:invertIfNegative val="0"/>
            <c:bubble3D val="0"/>
            <c:spPr>
              <a:solidFill>
                <a:srgbClr val="5D6863"/>
              </a:solidFill>
              <a:effectLst/>
            </c:spPr>
          </c:dPt>
          <c:dPt>
            <c:idx val="2"/>
            <c:invertIfNegative val="0"/>
            <c:bubble3D val="0"/>
            <c:spPr>
              <a:solidFill>
                <a:srgbClr val="5D6863"/>
              </a:solidFill>
              <a:effectLst/>
            </c:spPr>
          </c:dPt>
          <c:dPt>
            <c:idx val="3"/>
            <c:invertIfNegative val="0"/>
            <c:bubble3D val="0"/>
            <c:spPr>
              <a:solidFill>
                <a:srgbClr val="5D6863"/>
              </a:solidFill>
              <a:effectLst/>
            </c:spPr>
          </c:dPt>
          <c:dPt>
            <c:idx val="4"/>
            <c:invertIfNegative val="0"/>
            <c:bubble3D val="0"/>
            <c:spPr>
              <a:solidFill>
                <a:srgbClr val="5D6863"/>
              </a:solidFill>
              <a:effectLst/>
            </c:spPr>
          </c:dPt>
          <c:dPt>
            <c:idx val="5"/>
            <c:invertIfNegative val="0"/>
            <c:bubble3D val="0"/>
            <c:spPr>
              <a:solidFill>
                <a:srgbClr val="5D6863"/>
              </a:solidFill>
              <a:effectLst/>
            </c:spPr>
          </c:dPt>
          <c:dPt>
            <c:idx val="6"/>
            <c:invertIfNegative val="0"/>
            <c:bubble3D val="0"/>
            <c:spPr>
              <a:solidFill>
                <a:srgbClr val="5D6863"/>
              </a:solidFill>
              <a:effectLst/>
            </c:spPr>
          </c:dPt>
          <c:dPt>
            <c:idx val="7"/>
            <c:invertIfNegative val="0"/>
            <c:bubble3D val="0"/>
            <c:spPr>
              <a:solidFill>
                <a:srgbClr val="5D6863"/>
              </a:solidFill>
              <a:effectLst/>
            </c:spPr>
          </c:dPt>
          <c:dPt>
            <c:idx val="8"/>
            <c:invertIfNegative val="0"/>
            <c:bubble3D val="0"/>
            <c:spPr>
              <a:solidFill>
                <a:srgbClr val="5D6863"/>
              </a:solidFill>
              <a:effectLst/>
            </c:spPr>
          </c:dPt>
          <c:cat>
            <c:multiLvlStrRef>
              <c:f>Sheet1!$A$2:$A$10</c:f>
              <c:multiLvlStrCache>
                <c:ptCount val="9"/>
                <c:lvl>
                  <c:pt idx="0">
                    <c:v>2009</c:v>
                  </c:pt>
                  <c:pt idx="1">
                    <c:v>2010</c:v>
                  </c:pt>
                  <c:pt idx="2">
                    <c:v>2011</c:v>
                  </c:pt>
                  <c:pt idx="3">
                    <c:v>2012</c:v>
                  </c:pt>
                  <c:pt idx="4">
                    <c:v>2013</c:v>
                  </c:pt>
                  <c:pt idx="5">
                    <c:v>2014</c:v>
                  </c:pt>
                  <c:pt idx="6">
                    <c:v>2015</c:v>
                  </c:pt>
                  <c:pt idx="7">
                    <c:v>2016</c:v>
                  </c:pt>
                  <c:pt idx="8">
                    <c:v>2017</c:v>
                  </c:pt>
                </c:lvl>
              </c:multiLvlStrCache>
            </c:multiLvlStrRef>
          </c:cat>
          <c:val>
            <c:numRef>
              <c:f>Sheet1!$B$2:$B$10</c:f>
              <c:numCache>
                <c:formatCode>General</c:formatCode>
                <c:ptCount val="9"/>
                <c:pt idx="0">
                  <c:v>1329</c:v>
                </c:pt>
                <c:pt idx="1">
                  <c:v>10519</c:v>
                </c:pt>
                <c:pt idx="2">
                  <c:v>26237</c:v>
                </c:pt>
                <c:pt idx="3">
                  <c:v>41163</c:v>
                </c:pt>
                <c:pt idx="4">
                  <c:v>44849</c:v>
                </c:pt>
                <c:pt idx="5">
                  <c:v>66994</c:v>
                </c:pt>
                <c:pt idx="6">
                  <c:v>74920</c:v>
                </c:pt>
                <c:pt idx="7">
                  <c:v>56755</c:v>
                </c:pt>
                <c:pt idx="8">
                  <c:v>49525</c:v>
                </c:pt>
              </c:numCache>
            </c:numRef>
          </c:val>
        </c:ser>
        <c:dLbls>
          <c:numFmt formatCode="#,##0" sourceLinked="0"/>
          <c:txPr>
            <a:bodyPr/>
            <a:lstStyle/>
            <a:p>
              <a:pPr>
                <a:defRPr b="0" i="0" strike="noStrike" sz="1300" u="none">
                  <a:solidFill>
                    <a:srgbClr val="1F2421"/>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1F2421"/>
                </a:solidFill>
                <a:latin typeface="+mn-lt"/>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D686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Always not funded</c:v>
                </c:pt>
              </c:strCache>
            </c:strRef>
          </c:tx>
          <c:spPr>
            <a:solidFill>
              <a:srgbClr val="5D6863"/>
            </a:solidFill>
            <a:effectLst/>
          </c:spPr>
          <c:invertIfNegative val="0"/>
          <c:dLbls>
            <c:numFmt formatCode="0.00" sourceLinked="0"/>
            <c:txPr>
              <a:bodyPr/>
              <a:lstStyle/>
              <a:p>
                <a:pPr>
                  <a:defRPr b="0" i="0" strike="noStrike" sz="1300" u="none">
                    <a:solidFill>
                      <a:srgbClr val="1F2421"/>
                    </a:solidFill>
                    <a:latin typeface="+mn-lt"/>
                  </a:defRPr>
                </a:pPr>
              </a:p>
            </c:txPr>
            <c:showLegendKey val="0"/>
            <c:showVal val="1"/>
            <c:showCatName val="0"/>
            <c:showSerName val="0"/>
            <c:showPercent val="0"/>
            <c:showBubbleSize val="0"/>
            <c:showLeaderLines val="0"/>
          </c:dLbls>
          <c:cat>
            <c:multiLvlStrRef>
              <c:f>Sheet1!$A$2:$A$5</c:f>
              <c:multiLvlStrCache>
                <c:ptCount val="4"/>
                <c:lvl>
                  <c:pt idx="0">
                    <c:v>Accuracy</c:v>
                  </c:pt>
                  <c:pt idx="1">
                    <c:v>Precision</c:v>
                  </c:pt>
                  <c:pt idx="2">
                    <c:v>Recall</c:v>
                  </c:pt>
                  <c:pt idx="3">
                    <c:v>F1</c:v>
                  </c:pt>
                </c:lvl>
              </c:multiLvlStrCache>
            </c:multiLvlStrRef>
          </c:cat>
          <c:val>
            <c:numRef>
              <c:f>Sheet1!$B$2:$B$5</c:f>
              <c:numCache>
                <c:formatCode>General</c:formatCode>
                <c:ptCount val="4"/>
                <c:pt idx="0">
                  <c:v>0.64</c:v>
                </c:pt>
                <c:pt idx="1">
                  <c:v>0</c:v>
                </c:pt>
                <c:pt idx="2">
                  <c:v>0</c:v>
                </c:pt>
                <c:pt idx="3">
                  <c:v>0</c:v>
                </c:pt>
              </c:numCache>
            </c:numRef>
          </c:val>
        </c:ser>
        <c:ser>
          <c:idx val="1"/>
          <c:order val="1"/>
          <c:tx>
            <c:strRef>
              <c:f>Sheet1!$C$1</c:f>
              <c:strCache>
                <c:ptCount val="1"/>
                <c:pt idx="0">
                  <c:v>Goal below $5,500</c:v>
                </c:pt>
              </c:strCache>
            </c:strRef>
          </c:tx>
          <c:spPr>
            <a:solidFill>
              <a:srgbClr val="8FE3BB"/>
            </a:solidFill>
            <a:effectLst/>
          </c:spPr>
          <c:invertIfNegative val="0"/>
          <c:dLbls>
            <c:numFmt formatCode="0.00" sourceLinked="0"/>
            <c:txPr>
              <a:bodyPr/>
              <a:lstStyle/>
              <a:p>
                <a:pPr>
                  <a:defRPr b="0" i="0" strike="noStrike" sz="1300" u="none">
                    <a:solidFill>
                      <a:srgbClr val="1F2421"/>
                    </a:solidFill>
                    <a:latin typeface="+mn-lt"/>
                  </a:defRPr>
                </a:pPr>
              </a:p>
            </c:txPr>
            <c:showLegendKey val="0"/>
            <c:showVal val="1"/>
            <c:showCatName val="0"/>
            <c:showSerName val="0"/>
            <c:showPercent val="0"/>
            <c:showBubbleSize val="0"/>
            <c:showLeaderLines val="0"/>
          </c:dLbls>
          <c:cat>
            <c:multiLvlStrRef>
              <c:f>Sheet1!$A$2:$A$5</c:f>
              <c:multiLvlStrCache>
                <c:ptCount val="4"/>
                <c:lvl>
                  <c:pt idx="0">
                    <c:v>Accuracy</c:v>
                  </c:pt>
                  <c:pt idx="1">
                    <c:v>Precision</c:v>
                  </c:pt>
                  <c:pt idx="2">
                    <c:v>Recall</c:v>
                  </c:pt>
                  <c:pt idx="3">
                    <c:v>F1</c:v>
                  </c:pt>
                </c:lvl>
              </c:multiLvlStrCache>
            </c:multiLvlStrRef>
          </c:cat>
          <c:val>
            <c:numRef>
              <c:f>Sheet1!$C$2:$C$5</c:f>
              <c:numCache>
                <c:formatCode>General</c:formatCode>
                <c:ptCount val="4"/>
                <c:pt idx="0">
                  <c:v>0.588</c:v>
                </c:pt>
                <c:pt idx="1">
                  <c:v>0.448</c:v>
                </c:pt>
                <c:pt idx="2">
                  <c:v>0.619</c:v>
                </c:pt>
                <c:pt idx="3">
                  <c:v>0.52</c:v>
                </c:pt>
              </c:numCache>
            </c:numRef>
          </c:val>
        </c:ser>
        <c:dLbls>
          <c:numFmt formatCode="0.00" sourceLinked="0"/>
          <c:txPr>
            <a:bodyPr/>
            <a:lstStyle/>
            <a:p>
              <a:pPr>
                <a:defRPr b="0" i="0" strike="noStrike" sz="1300" u="none">
                  <a:solidFill>
                    <a:srgbClr val="1F2421"/>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1F2421"/>
                </a:solidFill>
                <a:latin typeface="+mn-lt"/>
              </a:defRPr>
            </a:pPr>
            <a:endParaRPr lang="en-US"/>
          </a:p>
        </c:txPr>
        <c:crossAx val="2094734552"/>
        <c:crosses val="autoZero"/>
        <c:auto val="1"/>
        <c:lblAlgn val="ctr"/>
        <c:noMultiLvlLbl val="1"/>
      </c:catAx>
      <c:valAx>
        <c:axId val="2094734552"/>
        <c:scaling>
          <c:orientation val="minMax"/>
          <c:max val="1"/>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D6863"/>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300">
              <a:solidFill>
                <a:srgbClr val="1F242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ROC-AUC</c:v>
                </c:pt>
              </c:strCache>
            </c:strRef>
          </c:tx>
          <c:spPr>
            <a:solidFill>
              <a:srgbClr val="DDE2DF"/>
            </a:solidFill>
            <a:effectLst/>
          </c:spPr>
          <c:invertIfNegative val="0"/>
          <c:dLbls>
            <c:numFmt formatCode="0.000" sourceLinked="0"/>
            <c:txPr>
              <a:bodyPr/>
              <a:lstStyle/>
              <a:p>
                <a:pPr>
                  <a:defRPr b="0" i="0" strike="noStrike" sz="1300" u="none">
                    <a:solidFill>
                      <a:srgbClr val="1F2421"/>
                    </a:solidFill>
                    <a:latin typeface="+mn-lt"/>
                  </a:defRPr>
                </a:pPr>
              </a:p>
            </c:txPr>
            <c:showLegendKey val="0"/>
            <c:showVal val="1"/>
            <c:showCatName val="0"/>
            <c:showSerName val="0"/>
            <c:showPercent val="0"/>
            <c:showBubbleSize val="0"/>
            <c:showLeaderLines val="0"/>
          </c:dLbls>
          <c:dPt>
            <c:idx val="0"/>
            <c:invertIfNegative val="0"/>
            <c:bubble3D val="0"/>
            <c:spPr>
              <a:solidFill>
                <a:srgbClr val="DDE2DF"/>
              </a:solidFill>
              <a:effectLst/>
            </c:spPr>
          </c:dPt>
          <c:dPt>
            <c:idx val="1"/>
            <c:invertIfNegative val="0"/>
            <c:bubble3D val="0"/>
            <c:spPr>
              <a:solidFill>
                <a:srgbClr val="B9C2BE"/>
              </a:solidFill>
              <a:effectLst/>
            </c:spPr>
          </c:dPt>
          <c:dPt>
            <c:idx val="2"/>
            <c:invertIfNegative val="0"/>
            <c:bubble3D val="0"/>
            <c:spPr>
              <a:solidFill>
                <a:srgbClr val="B9C2BE"/>
              </a:solidFill>
              <a:effectLst/>
            </c:spPr>
          </c:dPt>
          <c:dPt>
            <c:idx val="3"/>
            <c:invertIfNegative val="0"/>
            <c:bubble3D val="0"/>
            <c:spPr>
              <a:solidFill>
                <a:srgbClr val="05CE78"/>
              </a:solidFill>
              <a:effectLst/>
            </c:spPr>
          </c:dPt>
          <c:cat>
            <c:multiLvlStrRef>
              <c:f>Sheet1!$A$2:$A$5</c:f>
              <c:multiLvlStrCache>
                <c:ptCount val="4"/>
                <c:lvl>
                  <c:pt idx="0">
                    <c:v>Goal rule</c:v>
                  </c:pt>
                  <c:pt idx="1">
                    <c:v>Logistic Regression</c:v>
                  </c:pt>
                  <c:pt idx="2">
                    <c:v>Random Forest</c:v>
                  </c:pt>
                  <c:pt idx="3">
                    <c:v>Gradient Boosting</c:v>
                  </c:pt>
                </c:lvl>
              </c:multiLvlStrCache>
            </c:multiLvlStrRef>
          </c:cat>
          <c:val>
            <c:numRef>
              <c:f>Sheet1!$B$2:$B$5</c:f>
              <c:numCache>
                <c:formatCode>General</c:formatCode>
                <c:ptCount val="4"/>
                <c:pt idx="0">
                  <c:v>0.6365</c:v>
                </c:pt>
                <c:pt idx="1">
                  <c:v>0.7279</c:v>
                </c:pt>
                <c:pt idx="2">
                  <c:v>0.7183</c:v>
                </c:pt>
                <c:pt idx="3">
                  <c:v>0.7517</c:v>
                </c:pt>
              </c:numCache>
            </c:numRef>
          </c:val>
        </c:ser>
        <c:dLbls>
          <c:numFmt formatCode="0.000" sourceLinked="0"/>
          <c:txPr>
            <a:bodyPr/>
            <a:lstStyle/>
            <a:p>
              <a:pPr>
                <a:defRPr b="0" i="0" strike="noStrike" sz="1300" u="none">
                  <a:solidFill>
                    <a:srgbClr val="1F2421"/>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1F2421"/>
                </a:solidFill>
                <a:latin typeface="+mn-lt"/>
              </a:defRPr>
            </a:pPr>
            <a:endParaRPr lang="en-US"/>
          </a:p>
        </c:txPr>
        <c:crossAx val="2094734552"/>
        <c:crosses val="autoZero"/>
        <c:auto val="1"/>
        <c:lblAlgn val="ctr"/>
        <c:noMultiLvlLbl val="1"/>
      </c:catAx>
      <c:valAx>
        <c:axId val="2094734552"/>
        <c:scaling>
          <c:orientation val="minMax"/>
          <c:max val="0.8"/>
          <c:min val="0.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D686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Predicted</c:v>
                </c:pt>
              </c:strCache>
            </c:strRef>
          </c:tx>
          <c:spPr>
            <a:solidFill>
              <a:srgbClr val="C9D3CE"/>
            </a:solidFill>
            <a:effectLst/>
          </c:spPr>
          <c:invertIfNegative val="0"/>
          <c:dLbls>
            <c:numFmt formatCode="#,##0" sourceLinked="0"/>
            <c:txPr>
              <a:bodyPr/>
              <a:lstStyle/>
              <a:p>
                <a:pPr>
                  <a:defRPr b="0" i="0" strike="noStrike" sz="1300" u="none">
                    <a:solidFill>
                      <a:srgbClr val="1F2421"/>
                    </a:solidFill>
                    <a:latin typeface="+mn-lt"/>
                  </a:defRPr>
                </a:pPr>
              </a:p>
            </c:txPr>
            <c:showLegendKey val="0"/>
            <c:showVal val="0"/>
            <c:showCatName val="0"/>
            <c:showSerName val="0"/>
            <c:showPercent val="0"/>
            <c:showBubbleSize val="0"/>
            <c:showLeaderLines val="0"/>
          </c:dLbls>
          <c:cat>
            <c:multiLvlStrRef>
              <c:f>Sheet1!$A$2:$A$11</c:f>
              <c:multiLvlStrCache>
                <c:ptCount val="10"/>
                <c:lvl>
                  <c:pt idx="0">
                    <c:v>0–10%</c:v>
                  </c:pt>
                  <c:pt idx="1">
                    <c:v>10–20%</c:v>
                  </c:pt>
                  <c:pt idx="2">
                    <c:v>20–30%</c:v>
                  </c:pt>
                  <c:pt idx="3">
                    <c:v>30–40%</c:v>
                  </c:pt>
                  <c:pt idx="4">
                    <c:v>40–50%</c:v>
                  </c:pt>
                  <c:pt idx="5">
                    <c:v>50–60%</c:v>
                  </c:pt>
                  <c:pt idx="6">
                    <c:v>60–70%</c:v>
                  </c:pt>
                  <c:pt idx="7">
                    <c:v>70–80%</c:v>
                  </c:pt>
                  <c:pt idx="8">
                    <c:v>80–90%</c:v>
                  </c:pt>
                  <c:pt idx="9">
                    <c:v>90–100%</c:v>
                  </c:pt>
                </c:lvl>
              </c:multiLvlStrCache>
            </c:multiLvlStrRef>
          </c:cat>
          <c:val>
            <c:numRef>
              <c:f>Sheet1!$B$2:$B$11</c:f>
              <c:numCache>
                <c:formatCode>General</c:formatCode>
                <c:ptCount val="10"/>
                <c:pt idx="0">
                  <c:v>0.055</c:v>
                </c:pt>
                <c:pt idx="1">
                  <c:v>0.151</c:v>
                </c:pt>
                <c:pt idx="2">
                  <c:v>0.251</c:v>
                </c:pt>
                <c:pt idx="3">
                  <c:v>0.35</c:v>
                </c:pt>
                <c:pt idx="4">
                  <c:v>0.449</c:v>
                </c:pt>
                <c:pt idx="5">
                  <c:v>0.549</c:v>
                </c:pt>
                <c:pt idx="6">
                  <c:v>0.646</c:v>
                </c:pt>
                <c:pt idx="7">
                  <c:v>0.741</c:v>
                </c:pt>
                <c:pt idx="8">
                  <c:v>0.829</c:v>
                </c:pt>
                <c:pt idx="9">
                  <c:v>0.913</c:v>
                </c:pt>
              </c:numCache>
            </c:numRef>
          </c:val>
        </c:ser>
        <c:ser>
          <c:idx val="1"/>
          <c:order val="1"/>
          <c:tx>
            <c:strRef>
              <c:f>Sheet1!$C$1</c:f>
              <c:strCache>
                <c:ptCount val="1"/>
                <c:pt idx="0">
                  <c:v>Actually funded</c:v>
                </c:pt>
              </c:strCache>
            </c:strRef>
          </c:tx>
          <c:spPr>
            <a:solidFill>
              <a:srgbClr val="037A47"/>
            </a:solidFill>
            <a:effectLst/>
          </c:spPr>
          <c:invertIfNegative val="0"/>
          <c:dLbls>
            <c:numFmt formatCode="#,##0" sourceLinked="0"/>
            <c:txPr>
              <a:bodyPr/>
              <a:lstStyle/>
              <a:p>
                <a:pPr>
                  <a:defRPr b="0" i="0" strike="noStrike" sz="1300" u="none">
                    <a:solidFill>
                      <a:srgbClr val="1F2421"/>
                    </a:solidFill>
                    <a:latin typeface="+mn-lt"/>
                  </a:defRPr>
                </a:pPr>
              </a:p>
            </c:txPr>
            <c:showLegendKey val="0"/>
            <c:showVal val="0"/>
            <c:showCatName val="0"/>
            <c:showSerName val="0"/>
            <c:showPercent val="0"/>
            <c:showBubbleSize val="0"/>
            <c:showLeaderLines val="0"/>
          </c:dLbls>
          <c:cat>
            <c:multiLvlStrRef>
              <c:f>Sheet1!$A$2:$A$11</c:f>
              <c:multiLvlStrCache>
                <c:ptCount val="10"/>
                <c:lvl>
                  <c:pt idx="0">
                    <c:v>0–10%</c:v>
                  </c:pt>
                  <c:pt idx="1">
                    <c:v>10–20%</c:v>
                  </c:pt>
                  <c:pt idx="2">
                    <c:v>20–30%</c:v>
                  </c:pt>
                  <c:pt idx="3">
                    <c:v>30–40%</c:v>
                  </c:pt>
                  <c:pt idx="4">
                    <c:v>40–50%</c:v>
                  </c:pt>
                  <c:pt idx="5">
                    <c:v>50–60%</c:v>
                  </c:pt>
                  <c:pt idx="6">
                    <c:v>60–70%</c:v>
                  </c:pt>
                  <c:pt idx="7">
                    <c:v>70–80%</c:v>
                  </c:pt>
                  <c:pt idx="8">
                    <c:v>80–90%</c:v>
                  </c:pt>
                  <c:pt idx="9">
                    <c:v>90–100%</c:v>
                  </c:pt>
                </c:lvl>
              </c:multiLvlStrCache>
            </c:multiLvlStrRef>
          </c:cat>
          <c:val>
            <c:numRef>
              <c:f>Sheet1!$C$2:$C$11</c:f>
              <c:numCache>
                <c:formatCode>General</c:formatCode>
                <c:ptCount val="10"/>
                <c:pt idx="0">
                  <c:v>0.053</c:v>
                </c:pt>
                <c:pt idx="1">
                  <c:v>0.15</c:v>
                </c:pt>
                <c:pt idx="2">
                  <c:v>0.255</c:v>
                </c:pt>
                <c:pt idx="3">
                  <c:v>0.35</c:v>
                </c:pt>
                <c:pt idx="4">
                  <c:v>0.445</c:v>
                </c:pt>
                <c:pt idx="5">
                  <c:v>0.547</c:v>
                </c:pt>
                <c:pt idx="6">
                  <c:v>0.646</c:v>
                </c:pt>
                <c:pt idx="7">
                  <c:v>0.734</c:v>
                </c:pt>
                <c:pt idx="8">
                  <c:v>0.836</c:v>
                </c:pt>
                <c:pt idx="9">
                  <c:v>0.944</c:v>
                </c:pt>
              </c:numCache>
            </c:numRef>
          </c:val>
        </c:ser>
        <c:dLbls>
          <c:numFmt formatCode="#,##0" sourceLinked="0"/>
          <c:txPr>
            <a:bodyPr/>
            <a:lstStyle/>
            <a:p>
              <a:pPr>
                <a:defRPr b="0" i="0" strike="noStrike" sz="1300" u="none">
                  <a:solidFill>
                    <a:srgbClr val="1F2421"/>
                  </a:solidFill>
                  <a:latin typeface="+mn-lt"/>
                </a:defRPr>
              </a:pPr>
            </a:p>
          </c:txPr>
          <c:showLegendKey val="0"/>
          <c:showVal val="0"/>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1F2421"/>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F5F7F6"/>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D6863"/>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300">
              <a:solidFill>
                <a:srgbClr val="1F242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Predicted</c:v>
                </c:pt>
              </c:strCache>
            </c:strRef>
          </c:tx>
          <c:spPr>
            <a:solidFill>
              <a:srgbClr val="C9D3CE"/>
            </a:solidFill>
            <a:effectLst/>
          </c:spPr>
          <c:invertIfNegative val="0"/>
          <c:dLbls>
            <c:numFmt formatCode="0%" sourceLinked="0"/>
            <c:txPr>
              <a:bodyPr/>
              <a:lstStyle/>
              <a:p>
                <a:pPr>
                  <a:defRPr b="0" i="0" strike="noStrike" sz="1000" u="none">
                    <a:solidFill>
                      <a:srgbClr val="1F2421"/>
                    </a:solidFill>
                    <a:latin typeface="+mn-lt"/>
                  </a:defRPr>
                </a:pPr>
              </a:p>
            </c:txPr>
            <c:showLegendKey val="0"/>
            <c:showVal val="1"/>
            <c:showCatName val="0"/>
            <c:showSerName val="0"/>
            <c:showPercent val="0"/>
            <c:showBubbleSize val="0"/>
            <c:showLeaderLines val="0"/>
          </c:dLbls>
          <c:cat>
            <c:multiLvlStrRef>
              <c:f>Sheet1!$A$2:$A$10</c:f>
              <c:multiLvlStrCache>
                <c:ptCount val="9"/>
                <c:lvl>
                  <c:pt idx="0">
                    <c:v>2009</c:v>
                  </c:pt>
                  <c:pt idx="1">
                    <c:v>2010</c:v>
                  </c:pt>
                  <c:pt idx="2">
                    <c:v>2011</c:v>
                  </c:pt>
                  <c:pt idx="3">
                    <c:v>2012</c:v>
                  </c:pt>
                  <c:pt idx="4">
                    <c:v>2013</c:v>
                  </c:pt>
                  <c:pt idx="5">
                    <c:v>2014</c:v>
                  </c:pt>
                  <c:pt idx="6">
                    <c:v>2015</c:v>
                  </c:pt>
                  <c:pt idx="7">
                    <c:v>2016</c:v>
                  </c:pt>
                  <c:pt idx="8">
                    <c:v>2017</c:v>
                  </c:pt>
                </c:lvl>
              </c:multiLvlStrCache>
            </c:multiLvlStrRef>
          </c:cat>
          <c:val>
            <c:numRef>
              <c:f>Sheet1!$B$2:$B$10</c:f>
              <c:numCache>
                <c:formatCode>General</c:formatCode>
                <c:ptCount val="9"/>
                <c:pt idx="0">
                  <c:v>0.414</c:v>
                </c:pt>
                <c:pt idx="1">
                  <c:v>0.441</c:v>
                </c:pt>
                <c:pt idx="2">
                  <c:v>0.44</c:v>
                </c:pt>
                <c:pt idx="3">
                  <c:v>0.412</c:v>
                </c:pt>
                <c:pt idx="4">
                  <c:v>0.399</c:v>
                </c:pt>
                <c:pt idx="5">
                  <c:v>0.334</c:v>
                </c:pt>
                <c:pt idx="6">
                  <c:v>0.317</c:v>
                </c:pt>
                <c:pt idx="7">
                  <c:v>0.331</c:v>
                </c:pt>
                <c:pt idx="8">
                  <c:v>0.357</c:v>
                </c:pt>
              </c:numCache>
            </c:numRef>
          </c:val>
        </c:ser>
        <c:ser>
          <c:idx val="1"/>
          <c:order val="1"/>
          <c:tx>
            <c:strRef>
              <c:f>Sheet1!$C$1</c:f>
              <c:strCache>
                <c:ptCount val="1"/>
                <c:pt idx="0">
                  <c:v>Actually funded</c:v>
                </c:pt>
              </c:strCache>
            </c:strRef>
          </c:tx>
          <c:spPr>
            <a:solidFill>
              <a:srgbClr val="037A47"/>
            </a:solidFill>
            <a:effectLst/>
          </c:spPr>
          <c:invertIfNegative val="0"/>
          <c:dLbls>
            <c:numFmt formatCode="0%" sourceLinked="0"/>
            <c:txPr>
              <a:bodyPr/>
              <a:lstStyle/>
              <a:p>
                <a:pPr>
                  <a:defRPr b="0" i="0" strike="noStrike" sz="1000" u="none">
                    <a:solidFill>
                      <a:srgbClr val="1F2421"/>
                    </a:solidFill>
                    <a:latin typeface="+mn-lt"/>
                  </a:defRPr>
                </a:pPr>
              </a:p>
            </c:txPr>
            <c:showLegendKey val="0"/>
            <c:showVal val="1"/>
            <c:showCatName val="0"/>
            <c:showSerName val="0"/>
            <c:showPercent val="0"/>
            <c:showBubbleSize val="0"/>
            <c:showLeaderLines val="0"/>
          </c:dLbls>
          <c:cat>
            <c:multiLvlStrRef>
              <c:f>Sheet1!$A$2:$A$10</c:f>
              <c:multiLvlStrCache>
                <c:ptCount val="9"/>
                <c:lvl>
                  <c:pt idx="0">
                    <c:v>2009</c:v>
                  </c:pt>
                  <c:pt idx="1">
                    <c:v>2010</c:v>
                  </c:pt>
                  <c:pt idx="2">
                    <c:v>2011</c:v>
                  </c:pt>
                  <c:pt idx="3">
                    <c:v>2012</c:v>
                  </c:pt>
                  <c:pt idx="4">
                    <c:v>2013</c:v>
                  </c:pt>
                  <c:pt idx="5">
                    <c:v>2014</c:v>
                  </c:pt>
                  <c:pt idx="6">
                    <c:v>2015</c:v>
                  </c:pt>
                  <c:pt idx="7">
                    <c:v>2016</c:v>
                  </c:pt>
                  <c:pt idx="8">
                    <c:v>2017</c:v>
                  </c:pt>
                </c:lvl>
              </c:multiLvlStrCache>
            </c:multiLvlStrRef>
          </c:cat>
          <c:val>
            <c:numRef>
              <c:f>Sheet1!$C$2:$C$10</c:f>
              <c:numCache>
                <c:formatCode>General</c:formatCode>
                <c:ptCount val="9"/>
                <c:pt idx="0">
                  <c:v>0.407</c:v>
                </c:pt>
                <c:pt idx="1">
                  <c:v>0.421</c:v>
                </c:pt>
                <c:pt idx="2">
                  <c:v>0.464</c:v>
                </c:pt>
                <c:pt idx="3">
                  <c:v>0.43</c:v>
                </c:pt>
                <c:pt idx="4">
                  <c:v>0.436</c:v>
                </c:pt>
                <c:pt idx="5">
                  <c:v>0.313</c:v>
                </c:pt>
                <c:pt idx="6">
                  <c:v>0.279</c:v>
                </c:pt>
                <c:pt idx="7">
                  <c:v>0.332</c:v>
                </c:pt>
                <c:pt idx="8">
                  <c:v>0.379</c:v>
                </c:pt>
              </c:numCache>
            </c:numRef>
          </c:val>
        </c:ser>
        <c:dLbls>
          <c:numFmt formatCode="0%" sourceLinked="0"/>
          <c:txPr>
            <a:bodyPr/>
            <a:lstStyle/>
            <a:p>
              <a:pPr>
                <a:defRPr b="0" i="0" strike="noStrike" sz="1000" u="none">
                  <a:solidFill>
                    <a:srgbClr val="1F2421"/>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1F2421"/>
                </a:solidFill>
                <a:latin typeface="+mn-lt"/>
              </a:defRPr>
            </a:pPr>
            <a:endParaRPr lang="en-US"/>
          </a:p>
        </c:txPr>
        <c:crossAx val="2094734552"/>
        <c:crosses val="autoZero"/>
        <c:auto val="1"/>
        <c:lblAlgn val="ctr"/>
        <c:noMultiLvlLbl val="1"/>
      </c:catAx>
      <c:valAx>
        <c:axId val="2094734552"/>
        <c:scaling>
          <c:orientation val="minMax"/>
          <c:max val="0.5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D6863"/>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300">
              <a:solidFill>
                <a:srgbClr val="1F242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ROC-AUC within category</c:v>
                </c:pt>
              </c:strCache>
            </c:strRef>
          </c:tx>
          <c:spPr>
            <a:solidFill>
              <a:srgbClr val="037A47"/>
            </a:solidFill>
            <a:effectLst/>
          </c:spPr>
          <c:invertIfNegative val="0"/>
          <c:dLbls>
            <c:numFmt formatCode="0.00" sourceLinked="0"/>
            <c:txPr>
              <a:bodyPr/>
              <a:lstStyle/>
              <a:p>
                <a:pPr>
                  <a:defRPr b="0" i="0" strike="noStrike" sz="1300" u="none">
                    <a:solidFill>
                      <a:srgbClr val="1F2421"/>
                    </a:solidFill>
                    <a:latin typeface="+mn-lt"/>
                  </a:defRPr>
                </a:pPr>
              </a:p>
            </c:txPr>
            <c:showLegendKey val="0"/>
            <c:showVal val="1"/>
            <c:showCatName val="0"/>
            <c:showSerName val="0"/>
            <c:showPercent val="0"/>
            <c:showBubbleSize val="0"/>
            <c:showLeaderLines val="0"/>
          </c:dLbls>
          <c:dPt>
            <c:idx val="0"/>
            <c:invertIfNegative val="0"/>
            <c:bubble3D val="0"/>
            <c:spPr>
              <a:solidFill>
                <a:srgbClr val="037A47"/>
              </a:solidFill>
              <a:effectLst/>
            </c:spPr>
          </c:dPt>
          <c:dPt>
            <c:idx val="1"/>
            <c:invertIfNegative val="0"/>
            <c:bubble3D val="0"/>
            <c:spPr>
              <a:solidFill>
                <a:srgbClr val="037A47"/>
              </a:solidFill>
              <a:effectLst/>
            </c:spPr>
          </c:dPt>
          <c:dPt>
            <c:idx val="2"/>
            <c:invertIfNegative val="0"/>
            <c:bubble3D val="0"/>
            <c:spPr>
              <a:solidFill>
                <a:srgbClr val="037A47"/>
              </a:solidFill>
              <a:effectLst/>
            </c:spPr>
          </c:dPt>
          <c:dPt>
            <c:idx val="3"/>
            <c:invertIfNegative val="0"/>
            <c:bubble3D val="0"/>
            <c:spPr>
              <a:solidFill>
                <a:srgbClr val="037A47"/>
              </a:solidFill>
              <a:effectLst/>
            </c:spPr>
          </c:dPt>
          <c:dPt>
            <c:idx val="4"/>
            <c:invertIfNegative val="0"/>
            <c:bubble3D val="0"/>
            <c:spPr>
              <a:solidFill>
                <a:srgbClr val="037A47"/>
              </a:solidFill>
              <a:effectLst/>
            </c:spPr>
          </c:dPt>
          <c:dPt>
            <c:idx val="5"/>
            <c:invertIfNegative val="0"/>
            <c:bubble3D val="0"/>
            <c:spPr>
              <a:solidFill>
                <a:srgbClr val="037A47"/>
              </a:solidFill>
              <a:effectLst/>
            </c:spPr>
          </c:dPt>
          <c:dPt>
            <c:idx val="6"/>
            <c:invertIfNegative val="0"/>
            <c:bubble3D val="0"/>
            <c:spPr>
              <a:solidFill>
                <a:srgbClr val="037A47"/>
              </a:solidFill>
              <a:effectLst/>
            </c:spPr>
          </c:dPt>
          <c:dPt>
            <c:idx val="7"/>
            <c:invertIfNegative val="0"/>
            <c:bubble3D val="0"/>
            <c:spPr>
              <a:solidFill>
                <a:srgbClr val="037A47"/>
              </a:solidFill>
              <a:effectLst/>
            </c:spPr>
          </c:dPt>
          <c:dPt>
            <c:idx val="8"/>
            <c:invertIfNegative val="0"/>
            <c:bubble3D val="0"/>
            <c:spPr>
              <a:solidFill>
                <a:srgbClr val="037A47"/>
              </a:solidFill>
              <a:effectLst/>
            </c:spPr>
          </c:dPt>
          <c:dPt>
            <c:idx val="9"/>
            <c:invertIfNegative val="0"/>
            <c:bubble3D val="0"/>
            <c:spPr>
              <a:solidFill>
                <a:srgbClr val="037A47"/>
              </a:solidFill>
              <a:effectLst/>
            </c:spPr>
          </c:dPt>
          <c:dPt>
            <c:idx val="10"/>
            <c:invertIfNegative val="0"/>
            <c:bubble3D val="0"/>
            <c:spPr>
              <a:solidFill>
                <a:srgbClr val="037A47"/>
              </a:solidFill>
              <a:effectLst/>
            </c:spPr>
          </c:dPt>
          <c:dPt>
            <c:idx val="11"/>
            <c:invertIfNegative val="0"/>
            <c:bubble3D val="0"/>
            <c:spPr>
              <a:solidFill>
                <a:srgbClr val="037A47"/>
              </a:solidFill>
              <a:effectLst/>
            </c:spPr>
          </c:dPt>
          <c:dPt>
            <c:idx val="12"/>
            <c:invertIfNegative val="0"/>
            <c:bubble3D val="0"/>
            <c:spPr>
              <a:solidFill>
                <a:srgbClr val="037A47"/>
              </a:solidFill>
              <a:effectLst/>
            </c:spPr>
          </c:dPt>
          <c:dPt>
            <c:idx val="13"/>
            <c:invertIfNegative val="0"/>
            <c:bubble3D val="0"/>
            <c:spPr>
              <a:solidFill>
                <a:srgbClr val="05CE78"/>
              </a:solidFill>
              <a:effectLst/>
            </c:spPr>
          </c:dPt>
          <c:dPt>
            <c:idx val="14"/>
            <c:invertIfNegative val="0"/>
            <c:bubble3D val="0"/>
            <c:spPr>
              <a:solidFill>
                <a:srgbClr val="05CE78"/>
              </a:solidFill>
              <a:effectLst/>
            </c:spPr>
          </c:dPt>
          <c:cat>
            <c:multiLvlStrRef>
              <c:f>Sheet1!$A$2:$A$16</c:f>
              <c:multiLvlStrCache>
                <c:ptCount val="15"/>
                <c:lvl>
                  <c:pt idx="0">
                    <c:v>Theater</c:v>
                  </c:pt>
                  <c:pt idx="1">
                    <c:v>Design</c:v>
                  </c:pt>
                  <c:pt idx="2">
                    <c:v>Comics</c:v>
                  </c:pt>
                  <c:pt idx="3">
                    <c:v>Journalism</c:v>
                  </c:pt>
                  <c:pt idx="4">
                    <c:v>Art</c:v>
                  </c:pt>
                  <c:pt idx="5">
                    <c:v>Photography</c:v>
                  </c:pt>
                  <c:pt idx="6">
                    <c:v>Dance</c:v>
                  </c:pt>
                  <c:pt idx="7">
                    <c:v>Fashion</c:v>
                  </c:pt>
                  <c:pt idx="8">
                    <c:v>Film &amp; Video</c:v>
                  </c:pt>
                  <c:pt idx="9">
                    <c:v>Publishing</c:v>
                  </c:pt>
                  <c:pt idx="10">
                    <c:v>Food</c:v>
                  </c:pt>
                  <c:pt idx="11">
                    <c:v>Music</c:v>
                  </c:pt>
                  <c:pt idx="12">
                    <c:v>Crafts</c:v>
                  </c:pt>
                  <c:pt idx="13">
                    <c:v>Games</c:v>
                  </c:pt>
                  <c:pt idx="14">
                    <c:v>Technology</c:v>
                  </c:pt>
                </c:lvl>
              </c:multiLvlStrCache>
            </c:multiLvlStrRef>
          </c:cat>
          <c:val>
            <c:numRef>
              <c:f>Sheet1!$B$2:$B$16</c:f>
              <c:numCache>
                <c:formatCode>General</c:formatCode>
                <c:ptCount val="15"/>
                <c:pt idx="0">
                  <c:v>0.685</c:v>
                </c:pt>
                <c:pt idx="1">
                  <c:v>0.688</c:v>
                </c:pt>
                <c:pt idx="2">
                  <c:v>0.695</c:v>
                </c:pt>
                <c:pt idx="3">
                  <c:v>0.695</c:v>
                </c:pt>
                <c:pt idx="4">
                  <c:v>0.697</c:v>
                </c:pt>
                <c:pt idx="5">
                  <c:v>0.701</c:v>
                </c:pt>
                <c:pt idx="6">
                  <c:v>0.709</c:v>
                </c:pt>
                <c:pt idx="7">
                  <c:v>0.71</c:v>
                </c:pt>
                <c:pt idx="8">
                  <c:v>0.712</c:v>
                </c:pt>
                <c:pt idx="9">
                  <c:v>0.716</c:v>
                </c:pt>
                <c:pt idx="10">
                  <c:v>0.718</c:v>
                </c:pt>
                <c:pt idx="11">
                  <c:v>0.728</c:v>
                </c:pt>
                <c:pt idx="12">
                  <c:v>0.733</c:v>
                </c:pt>
                <c:pt idx="13">
                  <c:v>0.789</c:v>
                </c:pt>
                <c:pt idx="14">
                  <c:v>0.804</c:v>
                </c:pt>
              </c:numCache>
            </c:numRef>
          </c:val>
        </c:ser>
        <c:dLbls>
          <c:numFmt formatCode="0.00" sourceLinked="0"/>
          <c:txPr>
            <a:bodyPr/>
            <a:lstStyle/>
            <a:p>
              <a:pPr>
                <a:defRPr b="0" i="0" strike="noStrike" sz="1300" u="none">
                  <a:solidFill>
                    <a:srgbClr val="1F2421"/>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1F2421"/>
                </a:solidFill>
                <a:latin typeface="+mn-lt"/>
              </a:defRPr>
            </a:pPr>
            <a:endParaRPr lang="en-US"/>
          </a:p>
        </c:txPr>
        <c:crossAx val="2094734552"/>
        <c:crosses val="autoZero"/>
        <c:auto val="1"/>
        <c:lblAlgn val="ctr"/>
        <c:noMultiLvlLbl val="1"/>
      </c:catAx>
      <c:valAx>
        <c:axId val="2094734552"/>
        <c:scaling>
          <c:orientation val="minMax"/>
          <c:min val="0.6"/>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D686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Permutation importance</c:v>
                </c:pt>
              </c:strCache>
            </c:strRef>
          </c:tx>
          <c:spPr>
            <a:solidFill>
              <a:srgbClr val="05CE78"/>
            </a:solidFill>
            <a:effectLst/>
          </c:spPr>
          <c:invertIfNegative val="0"/>
          <c:dLbls>
            <c:numFmt formatCode="0.000" sourceLinked="0"/>
            <c:txPr>
              <a:bodyPr/>
              <a:lstStyle/>
              <a:p>
                <a:pPr>
                  <a:defRPr b="0" i="0" strike="noStrike" sz="1300" u="none">
                    <a:solidFill>
                      <a:srgbClr val="1F2421"/>
                    </a:solidFill>
                    <a:latin typeface="+mn-lt"/>
                  </a:defRPr>
                </a:pPr>
              </a:p>
            </c:txPr>
            <c:showLegendKey val="0"/>
            <c:showVal val="1"/>
            <c:showCatName val="0"/>
            <c:showSerName val="0"/>
            <c:showPercent val="0"/>
            <c:showBubbleSize val="0"/>
            <c:showLeaderLines val="0"/>
          </c:dLbls>
          <c:dPt>
            <c:idx val="0"/>
            <c:invertIfNegative val="0"/>
            <c:bubble3D val="0"/>
            <c:spPr>
              <a:solidFill>
                <a:srgbClr val="05CE78"/>
              </a:solidFill>
              <a:effectLst/>
            </c:spPr>
          </c:dPt>
          <c:dPt>
            <c:idx val="1"/>
            <c:invertIfNegative val="0"/>
            <c:bubble3D val="0"/>
            <c:spPr>
              <a:solidFill>
                <a:srgbClr val="05CE78"/>
              </a:solidFill>
              <a:effectLst/>
            </c:spPr>
          </c:dPt>
          <c:dPt>
            <c:idx val="2"/>
            <c:invertIfNegative val="0"/>
            <c:bubble3D val="0"/>
            <c:spPr>
              <a:solidFill>
                <a:srgbClr val="05CE78"/>
              </a:solidFill>
              <a:effectLst/>
            </c:spPr>
          </c:dPt>
          <c:dPt>
            <c:idx val="3"/>
            <c:invertIfNegative val="0"/>
            <c:bubble3D val="0"/>
            <c:spPr>
              <a:solidFill>
                <a:srgbClr val="5D6863"/>
              </a:solidFill>
              <a:effectLst/>
            </c:spPr>
          </c:dPt>
          <c:dPt>
            <c:idx val="4"/>
            <c:invertIfNegative val="0"/>
            <c:bubble3D val="0"/>
            <c:spPr>
              <a:solidFill>
                <a:srgbClr val="5D6863"/>
              </a:solidFill>
              <a:effectLst/>
            </c:spPr>
          </c:dPt>
          <c:dPt>
            <c:idx val="5"/>
            <c:invertIfNegative val="0"/>
            <c:bubble3D val="0"/>
            <c:spPr>
              <a:solidFill>
                <a:srgbClr val="5D6863"/>
              </a:solidFill>
              <a:effectLst/>
            </c:spPr>
          </c:dPt>
          <c:dPt>
            <c:idx val="6"/>
            <c:invertIfNegative val="0"/>
            <c:bubble3D val="0"/>
            <c:spPr>
              <a:solidFill>
                <a:srgbClr val="5D6863"/>
              </a:solidFill>
              <a:effectLst/>
            </c:spPr>
          </c:dPt>
          <c:dPt>
            <c:idx val="7"/>
            <c:invertIfNegative val="0"/>
            <c:bubble3D val="0"/>
            <c:spPr>
              <a:solidFill>
                <a:srgbClr val="5D6863"/>
              </a:solidFill>
              <a:effectLst/>
            </c:spPr>
          </c:dPt>
          <c:cat>
            <c:multiLvlStrRef>
              <c:f>Sheet1!$A$2:$A$9</c:f>
              <c:multiLvlStrCache>
                <c:ptCount val="8"/>
                <c:lvl>
                  <c:pt idx="0">
                    <c:v>Sub-category</c:v>
                  </c:pt>
                  <c:pt idx="1">
                    <c:v>Funding goal</c:v>
                  </c:pt>
                  <c:pt idx="2">
                    <c:v>Campaign length</c:v>
                  </c:pt>
                  <c:pt idx="3">
                    <c:v>Title words</c:v>
                  </c:pt>
                  <c:pt idx="4">
                    <c:v>Country</c:v>
                  </c:pt>
                  <c:pt idx="5">
                    <c:v>Launch weekday</c:v>
                  </c:pt>
                  <c:pt idx="6">
                    <c:v>Title length</c:v>
                  </c:pt>
                  <c:pt idx="7">
                    <c:v>Launch month</c:v>
                  </c:pt>
                </c:lvl>
              </c:multiLvlStrCache>
            </c:multiLvlStrRef>
          </c:cat>
          <c:val>
            <c:numRef>
              <c:f>Sheet1!$B$2:$B$9</c:f>
              <c:numCache>
                <c:formatCode>General</c:formatCode>
                <c:ptCount val="8"/>
                <c:pt idx="0">
                  <c:v>0.1078</c:v>
                </c:pt>
                <c:pt idx="1">
                  <c:v>0.0906</c:v>
                </c:pt>
                <c:pt idx="2">
                  <c:v>0.034</c:v>
                </c:pt>
                <c:pt idx="3">
                  <c:v>0.0079</c:v>
                </c:pt>
                <c:pt idx="4">
                  <c:v>0.0075</c:v>
                </c:pt>
                <c:pt idx="5">
                  <c:v>0.0026</c:v>
                </c:pt>
                <c:pt idx="6">
                  <c:v>0.0022</c:v>
                </c:pt>
                <c:pt idx="7">
                  <c:v>0.0014</c:v>
                </c:pt>
              </c:numCache>
            </c:numRef>
          </c:val>
        </c:ser>
        <c:dLbls>
          <c:numFmt formatCode="0.000" sourceLinked="0"/>
          <c:txPr>
            <a:bodyPr/>
            <a:lstStyle/>
            <a:p>
              <a:pPr>
                <a:defRPr b="0" i="0" strike="noStrike" sz="1300" u="none">
                  <a:solidFill>
                    <a:srgbClr val="1F2421"/>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1F2421"/>
                </a:solidFill>
                <a:latin typeface="+mn-lt"/>
              </a:defRPr>
            </a:pPr>
            <a:endParaRPr lang="en-US"/>
          </a:p>
        </c:txPr>
        <c:crossAx val="2094734552"/>
        <c:crosses val="autoZero"/>
        <c:auto val="1"/>
        <c:lblAlgn val="ctr"/>
        <c:noMultiLvlLbl val="1"/>
      </c:catAx>
      <c:valAx>
        <c:axId val="2094734552"/>
        <c:scaling>
          <c:orientation val="minMax"/>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D686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technical version of the project. It covers how we cleaned 378,661 raw projects, what the exploration showed, how the model was chosen and tuned, how it was evaluated, and where it fails. Every number comes from the notebook or from reports/results.json, which the training script regenerates.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numbers summarise the project. 372,293 projects after cleaning, 36% funded. A tuned gradient boosting model reaches ROC-AUC 0.754 on a held-out test set. As a yes/no label its F1 is 0.619 against 0.524 for the goal-below-median rule. The probabilities are calibrated: Brier 0.189, and within one point per probability bin. The main drivers are category, goal and campaign length; the time-based check shows the ranking holds but the levels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stakeholder is a creator before launch. The target is binary: funded or not funded for any reason. Inputs are restricted to what a creator knows before launch. Because the product is a probability, we compare models on ROC-AUC, log loss and Brier score and check calibration. F1 of the success class is used for the yes/no label and the baseline comparison. Accuracy is unsuitable: always predicting not funded already reaches 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raw file has 378,661 projects and 15 columns, with no duplicates. We dropped 6,361 live or undefined projects whose outcome is unknown, and 7 projects with a 1970 launch date, which is a missing timestamp. We repaired 234 corrupted country codes by inferring the country from the currency, and removed 24,135 status tags hidden in project names. The result is 372,293 projects with 8 model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 column has six values. Successful becomes 1. Failed, canceled and suspended become 0, because from the creator's point of view none of them received the money. Live and undefined projects are dropped because their outcome is unknown. This gives 36% funded and 64% not funded, a moderate imbalance we handle with the threshold, not with class weights, so the probabilities stay calibrated. An alternative notebook drops canceled projects instead; slide 22 compares the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Leakage was the biggest trap. Money pledged and backers are only known after the campaign; on all our projects, the rule pledged at least the goal matches the outcome 99.7 percent of the time, and 99.997 percent among successful and failed ones. We dropped all five outcome columns. There was also a hidden leak: Kickstarter appends Canceled or Suspended to the project name after the fact. 24,135 names had such a tag, and every single one was not funded. We strip these tags before computing name features. A small residue remains, about 120 renamed projects and 4 'Cancelled' spellings, which we accept because the name features carry very little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Success drops steadily from 49% for goals up to one thousand dollars to 6% above one hundred thousand. The bins roughly double, and success falls by a similar amount each time, so the relationship is log-linear and the model uses log of the goal. Tiny goals of ten dollars or less, often tests, do not drive the headline: without goals under 100 dollars, the rate up to 1k is still 49.2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15 main categories are shown, so nothing is cherry-picked. Dance, Theater and Comics are funded most often, Technology, Journalism and Crafts least. Part of this is the goal: the median Technology goal is twenty thousand dollars, against about 3,300 for Dance. But the gap remains within the same goal range: with a goal of one to five thousand dollars, Dance reaches 69 percent and Theater 68, against 26 for Technology and 20 for Crafts. Crafts has the lowest median goal of all and still does badly, so the category has an effect of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 numbers suggest short campaigns do best, but short campaigns also ask for smaller goals: the median goal is 1,200 dollars for 1 to 14 days and 9,750 for 60 days. So we compare lengths within the same goal range. Two patterns hold in every row: exactly 30 days is below both 15 to 29 and 31 to 44 days, and 60 days is the weakest choice. Shorter is not simply better: for goals above 5k, 1 to 14 days does about as badly as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and sixty days stand out, so we checked every round number. Each of 15, 20, 25, 30, 35, 40, 45 and 60 days has a lower success rate than both the day before and the day after; the most common case, 30 days, is funded 32% of the time against 46% for 29 and 50% for 31. One day cannot plausibly change who backs a project, so the round number is a marker of creator behaviour, not a cause. The model learns these dips, which is why we never give what-if advice on length.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Success was stable at 43 to 46 percent from 2009 to 2013, fell to 32% in 2014 and 28% in 2015 while volume jumped from about 45 thousand to 75 thousand projects, then recovered to 37% in 2017. A likely external reason is that Kickstarter dropped its manual project review in mid-2014. Because the level changes over time, launch year is not a model feature, and we test the model on later years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gets eight features, all computed per row from information known before launch. We deliberately left out main category, because the sub-category contains it; currency, which duplicates country; and launch year, because the model scores future campaigns and a tree would treat every future year like 2017. Twenty percent of projects are held out as a stratified test set and not touched until the final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baselines. Always predicting not funded reaches the best accuracy, 64%, but never finds a funded project, so its F1 is zero. That is why accuracy is the wrong metric. The real baseline is the rule: success if the goal is below the median of 5,500 dollars. Its cross-validated F1 is 0.520 plus or minus 0.002. This is the score to beat.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compared three algorithms with five-fold cross-validation on the whole training set, using threshold-free metrics, against the goal rule (smaller goal = more likely, ROC-AUC 0.64). Gradient boosting wins on all three: ROC-AUC 0.752, log loss 0.556, Brier 0.190. The gaps are 6 to 15 times the fold standard deviation of about 0.001, so they are not noise. Logistic regression is a reasonable second, which tells us much of the signal is simple. Random forest gets ordinal category codes, which slightly handicaps it; that does not change the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tuned gradient boosting with a randomized search over 20 combinations, scored by log loss. The best setting reaches 0.5555 against 0.5558 for the defaults, well inside the fold variation, so the settings are kept but the gain is negligible. Larger improvements would have to come from new information, not tuning. For the yes/no label, a cross-validated search picks the threshold that maximises F1: 0.299, with CV F1 0.618. The low threshold makes the label generous, which is why creators see the probability, not the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held-out test set the model beats the rule on every label metric: F1 0.619 against 0.524. But the model labels more projects, 58% against 50%, which inflates recall. So we also compare at the same share: precision 0.530 against 0.451, recall 0.736 against 0.625. The model is clearly better either way. ROC-AUC 0.754 and Brier 0.189 match the cross-validation numbers, so there is no overfitting. Note: the test set was looked at once in an earlier review round; the changes made afterwards were driven by CV, not test 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Calibration is the key property for a product that shows a probability. In every bin with a few hundred projects or more, the mean prediction and the actual rate differ by less than one percentage point; overall both are 36%. Leaving out class weights made this possible. On the right are the three chance bands we show creators: below average, about average and above average, with how often each was really funded. This holds on average over all years; per year it is less exact, see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random split mixes years, but the model is meant for future campaigns. Trained only on projects before 2016 and tested on 2016 onwards, ROC-AUC is 0.757, as good as on the random split, and F1 barely changes. But recall drops to 0.749, and the probabilities are slightly low: 33% predicted against 35% actual. Per launch year the random-split model is off by up to about four points, because without launch year it predicts the average of all years. Conclusion: recalibrate on the newest data before any real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Within every category, the mean predicted probability is within about one and a half points of the actual rate, so the probabilities are calibrated by segment too. Ranking quality within a category ranges from 0.685 in Theater to 0.804 in Technology; most are below the overall score because part of the overall ranking comes from the category itself. The yes/no label is a weak spot: it marks over 90 percent of Theater and Dance projects as promising while about 60 percent are funded, and by goal it behaves almost like a hard goal rule. Hence: show the probability.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Permutation importance shuffles one feature at a time and measures how much ROC-AUC drops. The sub-category matters most, 0.1078, followed by the goal, 0.0906, and campaign length, 0.034. Title words and country add a little; weekday, title length and month add almost nothing. Partial dependence shows the direction: the probability falls steadily with the goal, while for duration it shows sharp dips at round numbers. Importance means the model relies on a feature, not that changing it changes the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what-if feature is tempting: change one input, see the chance move. But look: the same board game moves from 51% to 72% with 29 days, 62% with 31 days, and 38% with a Sunday launch. Those swings follow past creator behaviour, like round numbers and launch habits, not effects a creator could get. So Launch Check shows only the estimate. If a what-if is ever added, it should be limited to the goal, use a monotonic constraint so the curve cannot wiggle, and carry an association-not-effect warning. Cross-check: 1,375 similar past projects were funded 43% of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repository also keeps an alternative notebook built in parallel. It drops canceled projects instead of counting them as not funded, which gives 331,675 projects and a 40 percent success rate, and it uses launch year and hour as features. Its test ROC-AUC is 0.765, but on an easier target, so the numbers are not directly comparable. Two of its ideas are worth adopting: a monotonic constraint on the goal, which cost only about 0.001 ROC-AUC, and a TF-IDF model on the title, which raised 3-fold CV ROC-AUC from 0.765 to 0.782 there. We kept the main analysis because it answers the creator's real question, gets the money or not, and avoids launch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limits: the model finds associations, not causes. It cannot see content, the creator's network or marketing, which explains many errors. The data ends in early 2018, and per-year calibration is off by up to four points. The yes/no label is generous. The next steps follow directly: refresh and recalibrate on recent data, add title text and creator history, offer at most a goal-only what-if with a monotonic constraint, and deploy Launch Check with calibration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in this deck can be reproduced on a laptop. uv sync installs the exact environment. kickstarter-download fetches the Kaggle file. kickstarter-train cleans the data, trains the final model and writes reports/results.json, which both decks read. kickstarter-check scores a planned campaign from the command line. make slides rebuilds both PowerPoint decks from the fresh numbers, and pytest runs the tests on synthetic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Happy to go deeper into any step: the cleaning, the leakage checks, the model choice or the calibration.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417320"/>
            <a:ext cx="8229600" cy="365760"/>
          </a:xfrm>
          <a:prstGeom prst="rect">
            <a:avLst/>
          </a:prstGeom>
          <a:noFill/>
          <a:ln/>
        </p:spPr>
        <p:txBody>
          <a:bodyPr wrap="square" rtlCol="0"/>
          <a:lstStyle>
            <a:lvl1pPr indent="0" marL="0">
              <a:buNone/>
              <a:defRPr lang="en-US" sz="1400" b="1" spc="200" kern="0" dirty="0">
                <a:solidFill>
                  <a:schemeClr val="accent5"/>
                </a:solidFill>
              </a:defRPr>
            </a:lvl1pPr>
          </a:lstStyle>
          <a:p>
            <a:pPr indent="0" marL="0">
              <a:buNone/>
            </a:pPr>
            <a:endParaRPr lang="en-US" sz="1400" dirty="0"/>
          </a:p>
        </p:txBody>
      </p:sp>
      <p:sp>
        <p:nvSpPr>
          <p:cNvPr id="3" name="Text 0"/>
          <p:cNvSpPr/>
          <p:nvPr>
            <p:ph idx="101" type="title" hasCustomPrompt="1"/>
          </p:nvPr>
        </p:nvSpPr>
        <p:spPr>
          <a:xfrm>
            <a:off x="548640" y="1828800"/>
            <a:ext cx="8412480" cy="201168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4" name="Text 0"/>
          <p:cNvSpPr/>
          <p:nvPr>
            <p:ph idx="102" type="body" hasCustomPrompt="1"/>
          </p:nvPr>
        </p:nvSpPr>
        <p:spPr>
          <a:xfrm>
            <a:off x="548640" y="3931920"/>
            <a:ext cx="7863840" cy="914400"/>
          </a:xfrm>
          <a:prstGeom prst="rect">
            <a:avLst/>
          </a:prstGeom>
          <a:noFill/>
          <a:ln/>
        </p:spPr>
        <p:txBody>
          <a:bodyPr wrap="square" rtlCol="0"/>
          <a:lstStyle>
            <a:lvl1pPr indent="0" marL="0">
              <a:buNone/>
              <a:defRPr lang="en-US" sz="2000" dirty="0">
                <a:solidFill>
                  <a:schemeClr val="accent5"/>
                </a:solidFill>
              </a:defRPr>
            </a:lvl1pPr>
          </a:lstStyle>
          <a:p>
            <a:pPr indent="0" marL="0">
              <a:buNone/>
            </a:pPr>
            <a:endParaRPr lang="en-US" sz="2000" dirty="0"/>
          </a:p>
        </p:txBody>
      </p:sp>
      <p:sp>
        <p:nvSpPr>
          <p:cNvPr id="5" name="Text 0"/>
          <p:cNvSpPr/>
          <p:nvPr>
            <p:ph idx="103" type="body" hasCustomPrompt="1"/>
          </p:nvPr>
        </p:nvSpPr>
        <p:spPr>
          <a:xfrm>
            <a:off x="548640" y="5943600"/>
            <a:ext cx="8229600" cy="365760"/>
          </a:xfrm>
          <a:prstGeom prst="rect">
            <a:avLst/>
          </a:prstGeom>
          <a:noFill/>
          <a:ln/>
        </p:spPr>
        <p:txBody>
          <a:bodyPr wrap="square" rtlCol="0"/>
          <a:lstStyle>
            <a:lvl1pPr indent="0" marL="0">
              <a:buNone/>
              <a:defRPr lang="en-US" sz="1200" dirty="0">
                <a:solidFill>
                  <a:schemeClr val="bg1"/>
                </a:solidFill>
              </a:defRPr>
            </a:lvl1pPr>
          </a:lstStyle>
          <a:p>
            <a:pPr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286000"/>
            <a:ext cx="9144000" cy="457200"/>
          </a:xfrm>
          <a:prstGeom prst="rect">
            <a:avLst/>
          </a:prstGeom>
          <a:noFill/>
          <a:ln/>
        </p:spPr>
        <p:txBody>
          <a:bodyPr wrap="square" rtlCol="0"/>
          <a:lstStyle>
            <a:lvl1pPr indent="0" marL="0">
              <a:buNone/>
              <a:defRPr lang="en-US" sz="1600" b="1" spc="200" kern="0" dirty="0">
                <a:solidFill>
                  <a:schemeClr val="accent3"/>
                </a:solidFill>
              </a:defRPr>
            </a:lvl1pPr>
          </a:lstStyle>
          <a:p>
            <a:pPr indent="0" marL="0">
              <a:buNone/>
            </a:pPr>
            <a:endParaRPr lang="en-US" sz="1600" dirty="0"/>
          </a:p>
        </p:txBody>
      </p:sp>
      <p:sp>
        <p:nvSpPr>
          <p:cNvPr id="3" name="Text 0"/>
          <p:cNvSpPr/>
          <p:nvPr>
            <p:ph idx="101" type="title" hasCustomPrompt="1"/>
          </p:nvPr>
        </p:nvSpPr>
        <p:spPr>
          <a:xfrm>
            <a:off x="548640" y="2743200"/>
            <a:ext cx="10058400" cy="12801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548640" y="4023360"/>
            <a:ext cx="9144000" cy="914400"/>
          </a:xfrm>
          <a:prstGeom prst="rect">
            <a:avLst/>
          </a:prstGeom>
          <a:noFill/>
          <a:ln/>
        </p:spPr>
        <p:txBody>
          <a:bodyPr wrap="square" rtlCol="0"/>
          <a:lstStyle>
            <a:lvl1pPr indent="0" marL="0">
              <a:buNone/>
              <a:defRPr lang="en-US" sz="1800" dirty="0">
                <a:solidFill>
                  <a:schemeClr val="accent5"/>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40080"/>
            <a:ext cx="11094415" cy="82296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4" name="Text 0"/>
          <p:cNvSpPr/>
          <p:nvPr>
            <p:ph idx="102" type="body" hasCustomPrompt="1"/>
          </p:nvPr>
        </p:nvSpPr>
        <p:spPr>
          <a:xfrm>
            <a:off x="548640" y="6400800"/>
            <a:ext cx="10362895" cy="274320"/>
          </a:xfrm>
          <a:prstGeom prst="rect">
            <a:avLst/>
          </a:prstGeom>
          <a:noFill/>
          <a:ln/>
        </p:spPr>
        <p:txBody>
          <a:bodyPr wrap="square" rtlCol="0"/>
          <a:lstStyle>
            <a:lvl1pPr indent="0" marL="0">
              <a:buNone/>
              <a:defRPr lang="en-US" sz="1000" dirty="0">
                <a:solidFill>
                  <a:schemeClr val="accent4"/>
                </a:solidFill>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tin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40080"/>
            <a:ext cx="11094415" cy="82296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4" name="Text 0"/>
          <p:cNvSpPr/>
          <p:nvPr>
            <p:ph idx="102" type="body" hasCustomPrompt="1"/>
          </p:nvPr>
        </p:nvSpPr>
        <p:spPr>
          <a:xfrm>
            <a:off x="548640" y="6400800"/>
            <a:ext cx="10362895" cy="274320"/>
          </a:xfrm>
          <a:prstGeom prst="rect">
            <a:avLst/>
          </a:prstGeom>
          <a:noFill/>
          <a:ln/>
        </p:spPr>
        <p:txBody>
          <a:bodyPr wrap="square" rtlCol="0"/>
          <a:lstStyle>
            <a:lvl1pPr indent="0" marL="0">
              <a:buNone/>
              <a:defRPr lang="en-US" sz="1000" dirty="0">
                <a:solidFill>
                  <a:schemeClr val="accent4"/>
                </a:solidFill>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rtlCol="0"/>
          <a:lstStyle>
            <a:lvl1pPr indent="0" marL="0">
              <a:buNone/>
              <a:defRPr lang="en-US" sz="1200" b="1" spc="200" kern="0" dirty="0">
                <a:solidFill>
                  <a:schemeClr val="accent3"/>
                </a:solidFill>
              </a:defRPr>
            </a:lvl1pPr>
          </a:lstStyle>
          <a:p>
            <a:pPr indent="0" marL="0">
              <a:buNone/>
            </a:pPr>
            <a:endParaRPr lang="en-US" sz="1200" dirty="0"/>
          </a:p>
        </p:txBody>
      </p:sp>
      <p:sp>
        <p:nvSpPr>
          <p:cNvPr id="3" name="Text 0"/>
          <p:cNvSpPr/>
          <p:nvPr>
            <p:ph idx="101" type="title" hasCustomPrompt="1"/>
          </p:nvPr>
        </p:nvSpPr>
        <p:spPr>
          <a:xfrm>
            <a:off x="548640" y="640080"/>
            <a:ext cx="11094415" cy="82296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4" name="Text 0"/>
          <p:cNvSpPr/>
          <p:nvPr>
            <p:ph idx="102" type="body" hasCustomPrompt="1"/>
          </p:nvPr>
        </p:nvSpPr>
        <p:spPr>
          <a:xfrm>
            <a:off x="548640" y="6400800"/>
            <a:ext cx="10362895" cy="274320"/>
          </a:xfrm>
          <a:prstGeom prst="rect">
            <a:avLst/>
          </a:prstGeom>
          <a:noFill/>
          <a:ln/>
        </p:spPr>
        <p:txBody>
          <a:bodyPr wrap="square" rtlCol="0"/>
          <a:lstStyle>
            <a:lvl1pPr indent="0" marL="0">
              <a:buNone/>
              <a:defRPr lang="en-US" sz="1000" dirty="0">
                <a:solidFill>
                  <a:schemeClr val="accent5"/>
                </a:solidFill>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4.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5.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image" Target="../media/image-23-9.png"/><Relationship Id="rId10" Type="http://schemas.openxmlformats.org/officeDocument/2006/relationships/slideLayout" Target="../slideLayouts/slideLayout5.xml"/><Relationship Id="rId11"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417320"/>
            <a:ext cx="8229600" cy="365760"/>
          </a:xfrm>
          <a:prstGeom prst="rect">
            <a:avLst/>
          </a:prstGeom>
          <a:noFill/>
          <a:ln/>
        </p:spPr>
        <p:txBody>
          <a:bodyPr wrap="square" lIns="0" tIns="0" rIns="0" bIns="0" rtlCol="0"/>
          <a:lstStyle/>
          <a:p>
            <a:pPr indent="0" marL="0">
              <a:buNone/>
            </a:pPr>
            <a:r>
              <a:rPr lang="en-US" sz="1400" b="1" spc="200" kern="0" dirty="0">
                <a:solidFill>
                  <a:schemeClr val="accent5"/>
                </a:solidFill>
              </a:rPr>
              <a:t>MACHINE LEARNING PROJECT · TECHNICAL REVIEW</a:t>
            </a:r>
            <a:endParaRPr lang="en-US" sz="1400" dirty="0"/>
          </a:p>
        </p:txBody>
      </p:sp>
      <p:sp>
        <p:nvSpPr>
          <p:cNvPr id="3" name="Text 0"/>
          <p:cNvSpPr/>
          <p:nvPr>
            <p:ph idx="101" type="title" hasCustomPrompt="1"/>
          </p:nvPr>
        </p:nvSpPr>
        <p:spPr>
          <a:xfrm>
            <a:off x="548640" y="1828800"/>
            <a:ext cx="8412480" cy="2011680"/>
          </a:xfrm>
          <a:prstGeom prst="rect">
            <a:avLst/>
          </a:prstGeom>
          <a:noFill/>
          <a:ln/>
        </p:spPr>
        <p:txBody>
          <a:bodyPr wrap="square" lIns="0" tIns="0" rIns="0" bIns="0" rtlCol="0" anchor="t"/>
          <a:lstStyle/>
          <a:p>
            <a:pPr algn="l" indent="0" marL="0">
              <a:buNone/>
            </a:pPr>
            <a:r>
              <a:rPr lang="en-US" sz="4800" b="1" dirty="0">
                <a:solidFill>
                  <a:schemeClr val="bg1"/>
                </a:solidFill>
              </a:rPr>
              <a:t>Kickstarter Launch Check</a:t>
            </a:r>
            <a:endParaRPr lang="en-US" sz="4800" dirty="0"/>
          </a:p>
        </p:txBody>
      </p:sp>
      <p:sp>
        <p:nvSpPr>
          <p:cNvPr id="4" name="Text 0"/>
          <p:cNvSpPr/>
          <p:nvPr>
            <p:ph idx="102" type="body" hasCustomPrompt="1"/>
          </p:nvPr>
        </p:nvSpPr>
        <p:spPr>
          <a:xfrm>
            <a:off x="548640" y="3931920"/>
            <a:ext cx="7863840" cy="914400"/>
          </a:xfrm>
          <a:prstGeom prst="rect">
            <a:avLst/>
          </a:prstGeom>
          <a:noFill/>
          <a:ln/>
        </p:spPr>
        <p:txBody>
          <a:bodyPr wrap="square" lIns="0" tIns="0" rIns="0" bIns="0" rtlCol="0" anchor="t"/>
          <a:lstStyle/>
          <a:p>
            <a:pPr indent="0" marL="0">
              <a:buNone/>
            </a:pPr>
            <a:r>
              <a:rPr lang="en-US" sz="2000" dirty="0">
                <a:solidFill>
                  <a:schemeClr val="accent5"/>
                </a:solidFill>
              </a:rPr>
              <a:t>Technical deep dive: data, model, evaluation and limits of a pre-launch funding estimate</a:t>
            </a:r>
            <a:endParaRPr lang="en-US" sz="2000" dirty="0"/>
          </a:p>
        </p:txBody>
      </p:sp>
      <p:sp>
        <p:nvSpPr>
          <p:cNvPr id="5" name="Text 0"/>
          <p:cNvSpPr/>
          <p:nvPr>
            <p:ph idx="103" type="body" hasCustomPrompt="1"/>
          </p:nvPr>
        </p:nvSpPr>
        <p:spPr>
          <a:xfrm>
            <a:off x="548640" y="5943600"/>
            <a:ext cx="8229600" cy="365760"/>
          </a:xfrm>
          <a:prstGeom prst="rect">
            <a:avLst/>
          </a:prstGeom>
          <a:noFill/>
          <a:ln/>
        </p:spPr>
        <p:txBody>
          <a:bodyPr wrap="square" lIns="0" tIns="0" rIns="0" bIns="0" rtlCol="0"/>
          <a:lstStyle/>
          <a:p>
            <a:pPr indent="0" marL="0">
              <a:buNone/>
            </a:pPr>
            <a:r>
              <a:rPr lang="en-US" sz="1200" dirty="0">
                <a:solidFill>
                  <a:schemeClr val="bg1"/>
                </a:solidFill>
              </a:rPr>
              <a:t>Kashif Kazmi · Furkan Yurttepe · Christian Balan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chemeClr val="accent1"/>
                </a:solidFill>
              </a:rPr>
              <a:t>EXECUTIVE SUMMARY</a:t>
            </a:r>
            <a:endParaRPr lang="en-US" sz="1200" dirty="0"/>
          </a:p>
        </p:txBody>
      </p:sp>
      <p:sp>
        <p:nvSpPr>
          <p:cNvPr id="3" name="Text 0"/>
          <p:cNvSpPr/>
          <p:nvPr>
            <p:ph idx="101" type="title" hasCustomPrompt="1"/>
          </p:nvPr>
        </p:nvSpPr>
        <p:spPr>
          <a:xfrm>
            <a:off x="548640" y="640080"/>
            <a:ext cx="11094415" cy="822960"/>
          </a:xfrm>
          <a:prstGeom prst="rect">
            <a:avLst/>
          </a:prstGeom>
          <a:noFill/>
          <a:ln/>
        </p:spPr>
        <p:txBody>
          <a:bodyPr wrap="square" lIns="0" tIns="0" rIns="0" bIns="0" rtlCol="0" anchor="t"/>
          <a:lstStyle/>
          <a:p>
            <a:pPr algn="l" indent="0" marL="0">
              <a:buNone/>
            </a:pPr>
            <a:r>
              <a:rPr lang="en-US" sz="3400" b="1" dirty="0">
                <a:solidFill>
                  <a:schemeClr val="tx2"/>
                </a:solidFill>
              </a:rPr>
              <a:t>Calibrated pre-launch chances that beat the goal rule</a:t>
            </a:r>
            <a:endParaRPr lang="en-US" sz="3400" dirty="0"/>
          </a:p>
        </p:txBody>
      </p:sp>
      <p:sp>
        <p:nvSpPr>
          <p:cNvPr id="4" name="Text 0"/>
          <p:cNvSpPr/>
          <p:nvPr>
            <p:ph idx="102" type="body" hasCustomPrompt="1"/>
          </p:nvPr>
        </p:nvSpPr>
        <p:spPr>
          <a:xfrm>
            <a:off x="548640" y="6400800"/>
            <a:ext cx="10362895" cy="274320"/>
          </a:xfrm>
          <a:prstGeom prst="rect">
            <a:avLst/>
          </a:prstGeom>
          <a:noFill/>
          <a:ln/>
        </p:spPr>
        <p:txBody>
          <a:bodyPr wrap="square" lIns="0" tIns="0" rIns="0" bIns="0" rtlCol="0" anchor="ctr"/>
          <a:lstStyle/>
          <a:p>
            <a:pPr indent="0" marL="0">
              <a:buNone/>
            </a:pPr>
            <a:r>
              <a:rPr lang="en-US" sz="1000" dirty="0">
                <a:solidFill>
                  <a:schemeClr val="accent4"/>
                </a:solidFill>
              </a:rPr>
              <a:t>Held-out test set: 74,459 projects · Notebook: notebooks/01_kickstarter_eda_and_modeling.ipynb</a:t>
            </a:r>
            <a:endParaRPr lang="en-US" sz="1000" dirty="0"/>
          </a:p>
        </p:txBody>
      </p:sp>
      <p:sp>
        <p:nvSpPr>
          <p:cNvPr id="6" name="projects card"/>
          <p:cNvSpPr/>
          <p:nvPr/>
        </p:nvSpPr>
        <p:spPr>
          <a:xfrm>
            <a:off x="548640" y="1691640"/>
            <a:ext cx="2533574" cy="2103120"/>
          </a:xfrm>
          <a:prstGeom prst="roundRect">
            <a:avLst>
              <a:gd name="adj" fmla="val 5217"/>
            </a:avLst>
          </a:prstGeom>
          <a:solidFill>
            <a:schemeClr val="bg1"/>
          </a:solidFill>
          <a:ln w="12700">
            <a:solidFill>
              <a:srgbClr val="F5F7F6"/>
            </a:solidFill>
            <a:prstDash val="solid"/>
          </a:ln>
          <a:effectLst>
            <a:outerShdw sx="100000" sy="100000" kx="0" ky="0" algn="bl" rotWithShape="0" blurRad="101600" dist="25400" dir="5400000">
              <a:srgbClr val="000000">
                <a:alpha val="12000"/>
              </a:srgbClr>
            </a:outerShdw>
          </a:effectLst>
        </p:spPr>
      </p:sp>
      <p:sp>
        <p:nvSpPr>
          <p:cNvPr id="7" name="Text 4"/>
          <p:cNvSpPr txBox="1"/>
          <p:nvPr/>
        </p:nvSpPr>
        <p:spPr>
          <a:xfrm>
            <a:off x="822960" y="1920240"/>
            <a:ext cx="1984934" cy="777240"/>
          </a:xfrm>
          <a:prstGeom prst="rect">
            <a:avLst/>
          </a:prstGeom>
          <a:noFill/>
          <a:ln/>
        </p:spPr>
        <p:txBody>
          <a:bodyPr wrap="square" lIns="0" tIns="0" rIns="0" bIns="0" rtlCol="0" anchor="t"/>
          <a:lstStyle/>
          <a:p>
            <a:pPr indent="0" marL="0">
              <a:buNone/>
            </a:pPr>
            <a:r>
              <a:rPr lang="en-US" sz="4000" b="1" dirty="0">
                <a:solidFill>
                  <a:schemeClr val="accent1"/>
                </a:solidFill>
                <a:latin typeface="Calibri" pitchFamily="34" charset="0"/>
                <a:ea typeface="Calibri" pitchFamily="34" charset="-122"/>
                <a:cs typeface="Calibri" pitchFamily="34" charset="-120"/>
              </a:rPr>
              <a:t>372,293</a:t>
            </a:r>
            <a:endParaRPr lang="en-US" sz="4000" dirty="0"/>
          </a:p>
        </p:txBody>
      </p:sp>
      <p:sp>
        <p:nvSpPr>
          <p:cNvPr id="8" name="Text 5"/>
          <p:cNvSpPr txBox="1"/>
          <p:nvPr/>
        </p:nvSpPr>
        <p:spPr>
          <a:xfrm>
            <a:off x="822960" y="2697480"/>
            <a:ext cx="1984934" cy="365760"/>
          </a:xfrm>
          <a:prstGeom prst="rect">
            <a:avLst/>
          </a:prstGeom>
          <a:noFill/>
          <a:ln/>
        </p:spPr>
        <p:txBody>
          <a:bodyPr wrap="square" lIns="0" tIns="0" rIns="0" bIns="0" rtlCol="0" anchor="t"/>
          <a:lstStyle/>
          <a:p>
            <a:pPr indent="0" marL="0">
              <a:buNone/>
            </a:pPr>
            <a:r>
              <a:rPr lang="en-US" sz="1600" b="1" dirty="0">
                <a:solidFill>
                  <a:schemeClr val="tx2"/>
                </a:solidFill>
              </a:rPr>
              <a:t>projects</a:t>
            </a:r>
            <a:endParaRPr lang="en-US" sz="1600" dirty="0"/>
          </a:p>
        </p:txBody>
      </p:sp>
      <p:sp>
        <p:nvSpPr>
          <p:cNvPr id="9" name="Text 6"/>
          <p:cNvSpPr txBox="1"/>
          <p:nvPr/>
        </p:nvSpPr>
        <p:spPr>
          <a:xfrm>
            <a:off x="822960" y="3063240"/>
            <a:ext cx="1984934" cy="594360"/>
          </a:xfrm>
          <a:prstGeom prst="rect">
            <a:avLst/>
          </a:prstGeom>
          <a:noFill/>
          <a:ln/>
        </p:spPr>
        <p:txBody>
          <a:bodyPr wrap="square" lIns="0" tIns="0" rIns="0" bIns="0" rtlCol="0" anchor="t"/>
          <a:lstStyle/>
          <a:p>
            <a:pPr indent="0" marL="0">
              <a:buNone/>
            </a:pPr>
            <a:r>
              <a:rPr lang="en-US" sz="1300" dirty="0">
                <a:solidFill>
                  <a:schemeClr val="accent4"/>
                </a:solidFill>
              </a:rPr>
              <a:t>2009 to early 2018, 36% funded</a:t>
            </a:r>
            <a:endParaRPr lang="en-US" sz="1300" dirty="0"/>
          </a:p>
        </p:txBody>
      </p:sp>
      <p:sp>
        <p:nvSpPr>
          <p:cNvPr id="10" name="ROC-AUC (test) card"/>
          <p:cNvSpPr/>
          <p:nvPr/>
        </p:nvSpPr>
        <p:spPr>
          <a:xfrm>
            <a:off x="3402254" y="1691640"/>
            <a:ext cx="2533574" cy="2103120"/>
          </a:xfrm>
          <a:prstGeom prst="roundRect">
            <a:avLst>
              <a:gd name="adj" fmla="val 5217"/>
            </a:avLst>
          </a:prstGeom>
          <a:solidFill>
            <a:schemeClr val="bg1"/>
          </a:solidFill>
          <a:ln w="12700">
            <a:solidFill>
              <a:srgbClr val="F5F7F6"/>
            </a:solidFill>
            <a:prstDash val="solid"/>
          </a:ln>
          <a:effectLst>
            <a:outerShdw sx="100000" sy="100000" kx="0" ky="0" algn="bl" rotWithShape="0" blurRad="101600" dist="25400" dir="5400000">
              <a:srgbClr val="000000">
                <a:alpha val="12000"/>
              </a:srgbClr>
            </a:outerShdw>
          </a:effectLst>
        </p:spPr>
      </p:sp>
      <p:sp>
        <p:nvSpPr>
          <p:cNvPr id="11" name="Text 8"/>
          <p:cNvSpPr txBox="1"/>
          <p:nvPr/>
        </p:nvSpPr>
        <p:spPr>
          <a:xfrm>
            <a:off x="3676574" y="1920240"/>
            <a:ext cx="1984934" cy="777240"/>
          </a:xfrm>
          <a:prstGeom prst="rect">
            <a:avLst/>
          </a:prstGeom>
          <a:noFill/>
          <a:ln/>
        </p:spPr>
        <p:txBody>
          <a:bodyPr wrap="square" lIns="0" tIns="0" rIns="0" bIns="0" rtlCol="0" anchor="t"/>
          <a:lstStyle/>
          <a:p>
            <a:pPr indent="0" marL="0">
              <a:buNone/>
            </a:pPr>
            <a:r>
              <a:rPr lang="en-US" sz="4000" b="1" dirty="0">
                <a:solidFill>
                  <a:schemeClr val="accent1"/>
                </a:solidFill>
                <a:latin typeface="Calibri" pitchFamily="34" charset="0"/>
                <a:ea typeface="Calibri" pitchFamily="34" charset="-122"/>
                <a:cs typeface="Calibri" pitchFamily="34" charset="-120"/>
              </a:rPr>
              <a:t>0.754</a:t>
            </a:r>
            <a:endParaRPr lang="en-US" sz="4000" dirty="0"/>
          </a:p>
        </p:txBody>
      </p:sp>
      <p:sp>
        <p:nvSpPr>
          <p:cNvPr id="12" name="Text 9"/>
          <p:cNvSpPr txBox="1"/>
          <p:nvPr/>
        </p:nvSpPr>
        <p:spPr>
          <a:xfrm>
            <a:off x="3676574" y="2697480"/>
            <a:ext cx="1984934" cy="365760"/>
          </a:xfrm>
          <a:prstGeom prst="rect">
            <a:avLst/>
          </a:prstGeom>
          <a:noFill/>
          <a:ln/>
        </p:spPr>
        <p:txBody>
          <a:bodyPr wrap="square" lIns="0" tIns="0" rIns="0" bIns="0" rtlCol="0" anchor="t"/>
          <a:lstStyle/>
          <a:p>
            <a:pPr indent="0" marL="0">
              <a:buNone/>
            </a:pPr>
            <a:r>
              <a:rPr lang="en-US" sz="1600" b="1" dirty="0">
                <a:solidFill>
                  <a:schemeClr val="tx2"/>
                </a:solidFill>
              </a:rPr>
              <a:t>ROC-AUC (test)</a:t>
            </a:r>
            <a:endParaRPr lang="en-US" sz="1600" dirty="0"/>
          </a:p>
        </p:txBody>
      </p:sp>
      <p:sp>
        <p:nvSpPr>
          <p:cNvPr id="13" name="Text 10"/>
          <p:cNvSpPr txBox="1"/>
          <p:nvPr/>
        </p:nvSpPr>
        <p:spPr>
          <a:xfrm>
            <a:off x="3676574" y="3063240"/>
            <a:ext cx="1984934" cy="594360"/>
          </a:xfrm>
          <a:prstGeom prst="rect">
            <a:avLst/>
          </a:prstGeom>
          <a:noFill/>
          <a:ln/>
        </p:spPr>
        <p:txBody>
          <a:bodyPr wrap="square" lIns="0" tIns="0" rIns="0" bIns="0" rtlCol="0" anchor="t"/>
          <a:lstStyle/>
          <a:p>
            <a:pPr indent="0" marL="0">
              <a:buNone/>
            </a:pPr>
            <a:r>
              <a:rPr lang="en-US" sz="1300" dirty="0">
                <a:solidFill>
                  <a:schemeClr val="accent4"/>
                </a:solidFill>
              </a:rPr>
              <a:t>Cross-validation 0.752; ranks 3 in 4 pairs right</a:t>
            </a:r>
            <a:endParaRPr lang="en-US" sz="1300" dirty="0"/>
          </a:p>
        </p:txBody>
      </p:sp>
      <p:sp>
        <p:nvSpPr>
          <p:cNvPr id="14" name="F1 (test) card"/>
          <p:cNvSpPr/>
          <p:nvPr/>
        </p:nvSpPr>
        <p:spPr>
          <a:xfrm>
            <a:off x="6255868" y="1691640"/>
            <a:ext cx="2533574" cy="2103120"/>
          </a:xfrm>
          <a:prstGeom prst="roundRect">
            <a:avLst>
              <a:gd name="adj" fmla="val 5217"/>
            </a:avLst>
          </a:prstGeom>
          <a:solidFill>
            <a:schemeClr val="bg1"/>
          </a:solidFill>
          <a:ln w="12700">
            <a:solidFill>
              <a:srgbClr val="F5F7F6"/>
            </a:solidFill>
            <a:prstDash val="solid"/>
          </a:ln>
          <a:effectLst>
            <a:outerShdw sx="100000" sy="100000" kx="0" ky="0" algn="bl" rotWithShape="0" blurRad="101600" dist="25400" dir="5400000">
              <a:srgbClr val="000000">
                <a:alpha val="12000"/>
              </a:srgbClr>
            </a:outerShdw>
          </a:effectLst>
        </p:spPr>
      </p:sp>
      <p:sp>
        <p:nvSpPr>
          <p:cNvPr id="15" name="Text 12"/>
          <p:cNvSpPr txBox="1"/>
          <p:nvPr/>
        </p:nvSpPr>
        <p:spPr>
          <a:xfrm>
            <a:off x="6530188" y="1920240"/>
            <a:ext cx="1984934" cy="777240"/>
          </a:xfrm>
          <a:prstGeom prst="rect">
            <a:avLst/>
          </a:prstGeom>
          <a:noFill/>
          <a:ln/>
        </p:spPr>
        <p:txBody>
          <a:bodyPr wrap="square" lIns="0" tIns="0" rIns="0" bIns="0" rtlCol="0" anchor="t"/>
          <a:lstStyle/>
          <a:p>
            <a:pPr indent="0" marL="0">
              <a:buNone/>
            </a:pPr>
            <a:r>
              <a:rPr lang="en-US" sz="4000" b="1" dirty="0">
                <a:solidFill>
                  <a:schemeClr val="accent1"/>
                </a:solidFill>
                <a:latin typeface="Calibri" pitchFamily="34" charset="0"/>
                <a:ea typeface="Calibri" pitchFamily="34" charset="-122"/>
                <a:cs typeface="Calibri" pitchFamily="34" charset="-120"/>
              </a:rPr>
              <a:t>0.619</a:t>
            </a:r>
            <a:endParaRPr lang="en-US" sz="4000" dirty="0"/>
          </a:p>
        </p:txBody>
      </p:sp>
      <p:sp>
        <p:nvSpPr>
          <p:cNvPr id="16" name="Text 13"/>
          <p:cNvSpPr txBox="1"/>
          <p:nvPr/>
        </p:nvSpPr>
        <p:spPr>
          <a:xfrm>
            <a:off x="6530188" y="2697480"/>
            <a:ext cx="1984934" cy="365760"/>
          </a:xfrm>
          <a:prstGeom prst="rect">
            <a:avLst/>
          </a:prstGeom>
          <a:noFill/>
          <a:ln/>
        </p:spPr>
        <p:txBody>
          <a:bodyPr wrap="square" lIns="0" tIns="0" rIns="0" bIns="0" rtlCol="0" anchor="t"/>
          <a:lstStyle/>
          <a:p>
            <a:pPr indent="0" marL="0">
              <a:buNone/>
            </a:pPr>
            <a:r>
              <a:rPr lang="en-US" sz="1600" b="1" dirty="0">
                <a:solidFill>
                  <a:schemeClr val="tx2"/>
                </a:solidFill>
              </a:rPr>
              <a:t>F1 (test)</a:t>
            </a:r>
            <a:endParaRPr lang="en-US" sz="1600" dirty="0"/>
          </a:p>
        </p:txBody>
      </p:sp>
      <p:sp>
        <p:nvSpPr>
          <p:cNvPr id="17" name="Text 14"/>
          <p:cNvSpPr txBox="1"/>
          <p:nvPr/>
        </p:nvSpPr>
        <p:spPr>
          <a:xfrm>
            <a:off x="6530188" y="3063240"/>
            <a:ext cx="1984934" cy="594360"/>
          </a:xfrm>
          <a:prstGeom prst="rect">
            <a:avLst/>
          </a:prstGeom>
          <a:noFill/>
          <a:ln/>
        </p:spPr>
        <p:txBody>
          <a:bodyPr wrap="square" lIns="0" tIns="0" rIns="0" bIns="0" rtlCol="0" anchor="t"/>
          <a:lstStyle/>
          <a:p>
            <a:pPr indent="0" marL="0">
              <a:buNone/>
            </a:pPr>
            <a:r>
              <a:rPr lang="en-US" sz="1300" dirty="0">
                <a:solidFill>
                  <a:schemeClr val="accent4"/>
                </a:solidFill>
              </a:rPr>
              <a:t>Goal rule: 0.524; always "not funded": 0</a:t>
            </a:r>
            <a:endParaRPr lang="en-US" sz="1300" dirty="0"/>
          </a:p>
        </p:txBody>
      </p:sp>
      <p:sp>
        <p:nvSpPr>
          <p:cNvPr id="18" name="Brier score card"/>
          <p:cNvSpPr/>
          <p:nvPr/>
        </p:nvSpPr>
        <p:spPr>
          <a:xfrm>
            <a:off x="9109481" y="1691640"/>
            <a:ext cx="2533574" cy="2103120"/>
          </a:xfrm>
          <a:prstGeom prst="roundRect">
            <a:avLst>
              <a:gd name="adj" fmla="val 5217"/>
            </a:avLst>
          </a:prstGeom>
          <a:solidFill>
            <a:schemeClr val="bg1"/>
          </a:solidFill>
          <a:ln w="12700">
            <a:solidFill>
              <a:srgbClr val="F5F7F6"/>
            </a:solidFill>
            <a:prstDash val="solid"/>
          </a:ln>
          <a:effectLst>
            <a:outerShdw sx="100000" sy="100000" kx="0" ky="0" algn="bl" rotWithShape="0" blurRad="101600" dist="25400" dir="5400000">
              <a:srgbClr val="000000">
                <a:alpha val="12000"/>
              </a:srgbClr>
            </a:outerShdw>
          </a:effectLst>
        </p:spPr>
      </p:sp>
      <p:sp>
        <p:nvSpPr>
          <p:cNvPr id="19" name="Text 16"/>
          <p:cNvSpPr txBox="1"/>
          <p:nvPr/>
        </p:nvSpPr>
        <p:spPr>
          <a:xfrm>
            <a:off x="9383801" y="1920240"/>
            <a:ext cx="1984934" cy="777240"/>
          </a:xfrm>
          <a:prstGeom prst="rect">
            <a:avLst/>
          </a:prstGeom>
          <a:noFill/>
          <a:ln/>
        </p:spPr>
        <p:txBody>
          <a:bodyPr wrap="square" lIns="0" tIns="0" rIns="0" bIns="0" rtlCol="0" anchor="t"/>
          <a:lstStyle/>
          <a:p>
            <a:pPr indent="0" marL="0">
              <a:buNone/>
            </a:pPr>
            <a:r>
              <a:rPr lang="en-US" sz="4000" b="1" dirty="0">
                <a:solidFill>
                  <a:schemeClr val="accent1"/>
                </a:solidFill>
                <a:latin typeface="Calibri" pitchFamily="34" charset="0"/>
                <a:ea typeface="Calibri" pitchFamily="34" charset="-122"/>
                <a:cs typeface="Calibri" pitchFamily="34" charset="-120"/>
              </a:rPr>
              <a:t>0.189</a:t>
            </a:r>
            <a:endParaRPr lang="en-US" sz="4000" dirty="0"/>
          </a:p>
        </p:txBody>
      </p:sp>
      <p:sp>
        <p:nvSpPr>
          <p:cNvPr id="20" name="Text 17"/>
          <p:cNvSpPr txBox="1"/>
          <p:nvPr/>
        </p:nvSpPr>
        <p:spPr>
          <a:xfrm>
            <a:off x="9383801" y="2697480"/>
            <a:ext cx="1984934" cy="365760"/>
          </a:xfrm>
          <a:prstGeom prst="rect">
            <a:avLst/>
          </a:prstGeom>
          <a:noFill/>
          <a:ln/>
        </p:spPr>
        <p:txBody>
          <a:bodyPr wrap="square" lIns="0" tIns="0" rIns="0" bIns="0" rtlCol="0" anchor="t"/>
          <a:lstStyle/>
          <a:p>
            <a:pPr indent="0" marL="0">
              <a:buNone/>
            </a:pPr>
            <a:r>
              <a:rPr lang="en-US" sz="1600" b="1" dirty="0">
                <a:solidFill>
                  <a:schemeClr val="tx2"/>
                </a:solidFill>
              </a:rPr>
              <a:t>Brier score</a:t>
            </a:r>
            <a:endParaRPr lang="en-US" sz="1600" dirty="0"/>
          </a:p>
        </p:txBody>
      </p:sp>
      <p:sp>
        <p:nvSpPr>
          <p:cNvPr id="21" name="Text 18"/>
          <p:cNvSpPr txBox="1"/>
          <p:nvPr/>
        </p:nvSpPr>
        <p:spPr>
          <a:xfrm>
            <a:off x="9383801" y="3063240"/>
            <a:ext cx="1984934" cy="594360"/>
          </a:xfrm>
          <a:prstGeom prst="rect">
            <a:avLst/>
          </a:prstGeom>
          <a:noFill/>
          <a:ln/>
        </p:spPr>
        <p:txBody>
          <a:bodyPr wrap="square" lIns="0" tIns="0" rIns="0" bIns="0" rtlCol="0" anchor="t"/>
          <a:lstStyle/>
          <a:p>
            <a:pPr indent="0" marL="0">
              <a:buNone/>
            </a:pPr>
            <a:r>
              <a:rPr lang="en-US" sz="1300" dirty="0">
                <a:solidFill>
                  <a:schemeClr val="accent4"/>
                </a:solidFill>
              </a:rPr>
              <a:t>Calibrated: predicted and actual within 1 point per bin</a:t>
            </a:r>
            <a:endParaRPr lang="en-US" sz="1300" dirty="0"/>
          </a:p>
        </p:txBody>
      </p:sp>
      <p:sp>
        <p:nvSpPr>
          <p:cNvPr id="22" name="Text 19"/>
          <p:cNvSpPr txBox="1"/>
          <p:nvPr/>
        </p:nvSpPr>
        <p:spPr>
          <a:xfrm>
            <a:off x="548640" y="4114800"/>
            <a:ext cx="5303520" cy="365760"/>
          </a:xfrm>
          <a:prstGeom prst="rect">
            <a:avLst/>
          </a:prstGeom>
          <a:noFill/>
          <a:ln/>
        </p:spPr>
        <p:txBody>
          <a:bodyPr wrap="square" lIns="0" tIns="0" rIns="0" bIns="0" rtlCol="0" anchor="t"/>
          <a:lstStyle/>
          <a:p>
            <a:pPr indent="0" marL="0">
              <a:buNone/>
            </a:pPr>
            <a:r>
              <a:rPr lang="en-US" sz="1800" b="1" dirty="0">
                <a:solidFill>
                  <a:schemeClr val="tx2"/>
                </a:solidFill>
              </a:rPr>
              <a:t>What drives success</a:t>
            </a:r>
            <a:endParaRPr lang="en-US" sz="1800" dirty="0"/>
          </a:p>
        </p:txBody>
      </p:sp>
      <p:sp>
        <p:nvSpPr>
          <p:cNvPr id="23" name="Text 20"/>
          <p:cNvSpPr txBox="1"/>
          <p:nvPr/>
        </p:nvSpPr>
        <p:spPr>
          <a:xfrm>
            <a:off x="548640" y="4526280"/>
            <a:ext cx="5303520" cy="146304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Category: Dance 62% vs Technology 20%, also within the same goal range</a:t>
            </a:r>
            <a:endParaRPr lang="en-US" sz="1500" dirty="0"/>
          </a:p>
          <a:p>
            <a:pPr marL="228600" indent="-228600">
              <a:spcAft>
                <a:spcPts val="800"/>
              </a:spcAft>
              <a:buSzPct val="100000"/>
              <a:buChar char="•"/>
            </a:pPr>
            <a:r>
              <a:rPr lang="en-US" sz="1500" dirty="0">
                <a:solidFill>
                  <a:schemeClr val="tx1"/>
                </a:solidFill>
              </a:rPr>
              <a:t>Goal: 49% funded up to $1k, 6% over $100k (log-linear)</a:t>
            </a:r>
            <a:endParaRPr lang="en-US" sz="1500" dirty="0"/>
          </a:p>
          <a:p>
            <a:pPr marL="228600" indent="-228600">
              <a:spcAft>
                <a:spcPts val="800"/>
              </a:spcAft>
              <a:buSzPct val="100000"/>
              <a:buChar char="•"/>
            </a:pPr>
            <a:r>
              <a:rPr lang="en-US" sz="1500" dirty="0">
                <a:solidFill>
                  <a:schemeClr val="tx1"/>
                </a:solidFill>
              </a:rPr>
              <a:t>Length: round numbers (30, 60 days) trail their neighbours</a:t>
            </a:r>
            <a:endParaRPr lang="en-US" sz="1500" dirty="0"/>
          </a:p>
        </p:txBody>
      </p:sp>
      <p:sp>
        <p:nvSpPr>
          <p:cNvPr id="24" name="Text 21"/>
          <p:cNvSpPr txBox="1"/>
          <p:nvPr/>
        </p:nvSpPr>
        <p:spPr>
          <a:xfrm>
            <a:off x="6336792" y="4114800"/>
            <a:ext cx="5303520" cy="365760"/>
          </a:xfrm>
          <a:prstGeom prst="rect">
            <a:avLst/>
          </a:prstGeom>
          <a:noFill/>
          <a:ln/>
        </p:spPr>
        <p:txBody>
          <a:bodyPr wrap="square" lIns="0" tIns="0" rIns="0" bIns="0" rtlCol="0" anchor="t"/>
          <a:lstStyle/>
          <a:p>
            <a:pPr indent="0" marL="0">
              <a:buNone/>
            </a:pPr>
            <a:r>
              <a:rPr lang="en-US" sz="1800" b="1" dirty="0">
                <a:solidFill>
                  <a:schemeClr val="tx2"/>
                </a:solidFill>
              </a:rPr>
              <a:t>What to watch</a:t>
            </a:r>
            <a:endParaRPr lang="en-US" sz="1800" dirty="0"/>
          </a:p>
        </p:txBody>
      </p:sp>
      <p:sp>
        <p:nvSpPr>
          <p:cNvPr id="25" name="Text 22"/>
          <p:cNvSpPr txBox="1"/>
          <p:nvPr/>
        </p:nvSpPr>
        <p:spPr>
          <a:xfrm>
            <a:off x="6336792" y="4526280"/>
            <a:ext cx="5303520" cy="146304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Time split (train &lt;2016, test 2016+): ROC-AUC 0.757, rates drift</a:t>
            </a:r>
            <a:endParaRPr lang="en-US" sz="1500" dirty="0"/>
          </a:p>
          <a:p>
            <a:pPr marL="228600" indent="-228600">
              <a:spcAft>
                <a:spcPts val="800"/>
              </a:spcAft>
              <a:buSzPct val="100000"/>
              <a:buChar char="•"/>
            </a:pPr>
            <a:r>
              <a:rPr lang="en-US" sz="1500" dirty="0">
                <a:solidFill>
                  <a:schemeClr val="tx1"/>
                </a:solidFill>
              </a:rPr>
              <a:t>Associations, not causes: no what-if advice</a:t>
            </a:r>
            <a:endParaRPr lang="en-US" sz="1500" dirty="0"/>
          </a:p>
          <a:p>
            <a:pPr marL="228600" indent="-228600">
              <a:spcAft>
                <a:spcPts val="800"/>
              </a:spcAft>
              <a:buSzPct val="100000"/>
              <a:buChar char="•"/>
            </a:pPr>
            <a:r>
              <a:rPr lang="en-US" sz="1500" dirty="0">
                <a:solidFill>
                  <a:schemeClr val="tx1"/>
                </a:solidFill>
              </a:rPr>
              <a:t>No content, creator or marketing data</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chemeClr val="accent1"/>
                </a:solidFill>
              </a:rPr>
              <a:t>PROBLEM FRAMING</a:t>
            </a:r>
            <a:endParaRPr lang="en-US" sz="1200" dirty="0"/>
          </a:p>
        </p:txBody>
      </p:sp>
      <p:sp>
        <p:nvSpPr>
          <p:cNvPr id="3" name="Text 0"/>
          <p:cNvSpPr/>
          <p:nvPr>
            <p:ph idx="101" type="title" hasCustomPrompt="1"/>
          </p:nvPr>
        </p:nvSpPr>
        <p:spPr>
          <a:xfrm>
            <a:off x="548640" y="640080"/>
            <a:ext cx="11094415" cy="822960"/>
          </a:xfrm>
          <a:prstGeom prst="rect">
            <a:avLst/>
          </a:prstGeom>
          <a:noFill/>
          <a:ln/>
        </p:spPr>
        <p:txBody>
          <a:bodyPr wrap="square" lIns="0" tIns="0" rIns="0" bIns="0" rtlCol="0" anchor="t"/>
          <a:lstStyle/>
          <a:p>
            <a:pPr algn="l" indent="0" marL="0">
              <a:buNone/>
            </a:pPr>
            <a:r>
              <a:rPr lang="en-US" sz="3400" b="1" dirty="0">
                <a:solidFill>
                  <a:schemeClr val="tx2"/>
                </a:solidFill>
              </a:rPr>
              <a:t>One question, pre-launch inputs, probability metrics</a:t>
            </a:r>
            <a:endParaRPr lang="en-US" sz="3400" dirty="0"/>
          </a:p>
        </p:txBody>
      </p:sp>
      <p:sp>
        <p:nvSpPr>
          <p:cNvPr id="4" name="Text 0"/>
          <p:cNvSpPr/>
          <p:nvPr>
            <p:ph idx="102" type="body" hasCustomPrompt="1"/>
          </p:nvPr>
        </p:nvSpPr>
        <p:spPr>
          <a:xfrm>
            <a:off x="548640" y="6400800"/>
            <a:ext cx="10362895" cy="274320"/>
          </a:xfrm>
          <a:prstGeom prst="rect">
            <a:avLst/>
          </a:prstGeom>
          <a:noFill/>
          <a:ln/>
        </p:spPr>
        <p:txBody>
          <a:bodyPr wrap="square" lIns="0" tIns="0" rIns="0" bIns="0" rtlCol="0" anchor="ctr"/>
          <a:lstStyle/>
          <a:p>
            <a:pPr indent="0" marL="0">
              <a:buNone/>
            </a:pPr>
            <a:r>
              <a:rPr lang="en-US" sz="1000" dirty="0">
                <a:solidFill>
                  <a:schemeClr val="accent4"/>
                </a:solidFill>
              </a:rPr>
              <a:t>Notebook: notebooks/01_kickstarter_eda_and_modeling.ipynb</a:t>
            </a:r>
            <a:endParaRPr lang="en-US" sz="1000" dirty="0"/>
          </a:p>
        </p:txBody>
      </p:sp>
      <p:sp>
        <p:nvSpPr>
          <p:cNvPr id="6" name="Target card"/>
          <p:cNvSpPr/>
          <p:nvPr/>
        </p:nvSpPr>
        <p:spPr>
          <a:xfrm>
            <a:off x="548640" y="1828800"/>
            <a:ext cx="3246120" cy="3566160"/>
          </a:xfrm>
          <a:prstGeom prst="roundRect">
            <a:avLst>
              <a:gd name="adj" fmla="val 3380"/>
            </a:avLst>
          </a:prstGeom>
          <a:solidFill>
            <a:schemeClr val="bg1"/>
          </a:solidFill>
          <a:ln w="12700">
            <a:solidFill>
              <a:srgbClr val="F5F7F6"/>
            </a:solidFill>
            <a:prstDash val="solid"/>
          </a:ln>
          <a:effectLst>
            <a:outerShdw sx="100000" sy="100000" kx="0" ky="0" algn="bl" rotWithShape="0" blurRad="101600" dist="25400" dir="5400000">
              <a:srgbClr val="000000">
                <a:alpha val="12000"/>
              </a:srgbClr>
            </a:outerShdw>
          </a:effectLst>
        </p:spPr>
      </p:sp>
      <p:sp>
        <p:nvSpPr>
          <p:cNvPr id="7" name="Text 4"/>
          <p:cNvSpPr txBox="1"/>
          <p:nvPr/>
        </p:nvSpPr>
        <p:spPr>
          <a:xfrm>
            <a:off x="914400" y="2103120"/>
            <a:ext cx="914400" cy="731520"/>
          </a:xfrm>
          <a:prstGeom prst="rect">
            <a:avLst/>
          </a:prstGeom>
          <a:noFill/>
          <a:ln/>
        </p:spPr>
        <p:txBody>
          <a:bodyPr wrap="square" lIns="0" tIns="0" rIns="0" bIns="0" rtlCol="0" anchor="t"/>
          <a:lstStyle/>
          <a:p>
            <a:pPr indent="0" marL="0">
              <a:buNone/>
            </a:pPr>
            <a:r>
              <a:rPr lang="en-US" sz="4000" b="1" dirty="0">
                <a:solidFill>
                  <a:schemeClr val="accent1"/>
                </a:solidFill>
                <a:latin typeface="Calibri" pitchFamily="34" charset="0"/>
                <a:ea typeface="Calibri" pitchFamily="34" charset="-122"/>
                <a:cs typeface="Calibri" pitchFamily="34" charset="-120"/>
              </a:rPr>
              <a:t>1</a:t>
            </a:r>
            <a:endParaRPr lang="en-US" sz="4000" dirty="0"/>
          </a:p>
        </p:txBody>
      </p:sp>
      <p:sp>
        <p:nvSpPr>
          <p:cNvPr id="8" name="Text 5"/>
          <p:cNvSpPr txBox="1"/>
          <p:nvPr/>
        </p:nvSpPr>
        <p:spPr>
          <a:xfrm>
            <a:off x="914400" y="2880360"/>
            <a:ext cx="2514600" cy="457200"/>
          </a:xfrm>
          <a:prstGeom prst="rect">
            <a:avLst/>
          </a:prstGeom>
          <a:noFill/>
          <a:ln/>
        </p:spPr>
        <p:txBody>
          <a:bodyPr wrap="square" lIns="0" tIns="0" rIns="0" bIns="0" rtlCol="0" anchor="t"/>
          <a:lstStyle/>
          <a:p>
            <a:pPr indent="0" marL="0">
              <a:buNone/>
            </a:pPr>
            <a:r>
              <a:rPr lang="en-US" sz="2200" b="1" dirty="0">
                <a:solidFill>
                  <a:schemeClr val="tx2"/>
                </a:solidFill>
              </a:rPr>
              <a:t>Target</a:t>
            </a:r>
            <a:endParaRPr lang="en-US" sz="2200" dirty="0"/>
          </a:p>
        </p:txBody>
      </p:sp>
      <p:sp>
        <p:nvSpPr>
          <p:cNvPr id="9" name="Text 6"/>
          <p:cNvSpPr txBox="1"/>
          <p:nvPr/>
        </p:nvSpPr>
        <p:spPr>
          <a:xfrm>
            <a:off x="914400" y="3429000"/>
            <a:ext cx="2514600" cy="1828800"/>
          </a:xfrm>
          <a:prstGeom prst="rect">
            <a:avLst/>
          </a:prstGeom>
          <a:noFill/>
          <a:ln/>
        </p:spPr>
        <p:txBody>
          <a:bodyPr wrap="square" lIns="0" tIns="0" rIns="0" bIns="0" rtlCol="0" anchor="t"/>
          <a:lstStyle/>
          <a:p>
            <a:pPr indent="0" marL="0">
              <a:buNone/>
            </a:pPr>
            <a:r>
              <a:rPr lang="en-US" sz="1500" dirty="0">
                <a:solidFill>
                  <a:schemeClr val="tx1"/>
                </a:solidFill>
              </a:rPr>
              <a:t>success = 1 if funded; 0 if failed, canceled or suspended. Live and undefined dropped.</a:t>
            </a:r>
            <a:endParaRPr lang="en-US" sz="1500" dirty="0"/>
          </a:p>
        </p:txBody>
      </p:sp>
      <p:sp>
        <p:nvSpPr>
          <p:cNvPr id="10" name="Inputs card"/>
          <p:cNvSpPr/>
          <p:nvPr/>
        </p:nvSpPr>
        <p:spPr>
          <a:xfrm>
            <a:off x="4472788" y="1828800"/>
            <a:ext cx="3246120" cy="3566160"/>
          </a:xfrm>
          <a:prstGeom prst="roundRect">
            <a:avLst>
              <a:gd name="adj" fmla="val 3380"/>
            </a:avLst>
          </a:prstGeom>
          <a:solidFill>
            <a:schemeClr val="bg1"/>
          </a:solidFill>
          <a:ln w="12700">
            <a:solidFill>
              <a:srgbClr val="F5F7F6"/>
            </a:solidFill>
            <a:prstDash val="solid"/>
          </a:ln>
          <a:effectLst>
            <a:outerShdw sx="100000" sy="100000" kx="0" ky="0" algn="bl" rotWithShape="0" blurRad="101600" dist="25400" dir="5400000">
              <a:srgbClr val="000000">
                <a:alpha val="12000"/>
              </a:srgbClr>
            </a:outerShdw>
          </a:effectLst>
        </p:spPr>
      </p:sp>
      <p:sp>
        <p:nvSpPr>
          <p:cNvPr id="11" name="Text 8"/>
          <p:cNvSpPr txBox="1"/>
          <p:nvPr/>
        </p:nvSpPr>
        <p:spPr>
          <a:xfrm>
            <a:off x="4838548" y="2103120"/>
            <a:ext cx="914400" cy="731520"/>
          </a:xfrm>
          <a:prstGeom prst="rect">
            <a:avLst/>
          </a:prstGeom>
          <a:noFill/>
          <a:ln/>
        </p:spPr>
        <p:txBody>
          <a:bodyPr wrap="square" lIns="0" tIns="0" rIns="0" bIns="0" rtlCol="0" anchor="t"/>
          <a:lstStyle/>
          <a:p>
            <a:pPr indent="0" marL="0">
              <a:buNone/>
            </a:pPr>
            <a:r>
              <a:rPr lang="en-US" sz="4000" b="1" dirty="0">
                <a:solidFill>
                  <a:schemeClr val="accent1"/>
                </a:solidFill>
                <a:latin typeface="Calibri" pitchFamily="34" charset="0"/>
                <a:ea typeface="Calibri" pitchFamily="34" charset="-122"/>
                <a:cs typeface="Calibri" pitchFamily="34" charset="-120"/>
              </a:rPr>
              <a:t>2</a:t>
            </a:r>
            <a:endParaRPr lang="en-US" sz="4000" dirty="0"/>
          </a:p>
        </p:txBody>
      </p:sp>
      <p:sp>
        <p:nvSpPr>
          <p:cNvPr id="12" name="Text 9"/>
          <p:cNvSpPr txBox="1"/>
          <p:nvPr/>
        </p:nvSpPr>
        <p:spPr>
          <a:xfrm>
            <a:off x="4838548" y="2880360"/>
            <a:ext cx="2514600" cy="457200"/>
          </a:xfrm>
          <a:prstGeom prst="rect">
            <a:avLst/>
          </a:prstGeom>
          <a:noFill/>
          <a:ln/>
        </p:spPr>
        <p:txBody>
          <a:bodyPr wrap="square" lIns="0" tIns="0" rIns="0" bIns="0" rtlCol="0" anchor="t"/>
          <a:lstStyle/>
          <a:p>
            <a:pPr indent="0" marL="0">
              <a:buNone/>
            </a:pPr>
            <a:r>
              <a:rPr lang="en-US" sz="2200" b="1" dirty="0">
                <a:solidFill>
                  <a:schemeClr val="tx2"/>
                </a:solidFill>
              </a:rPr>
              <a:t>Inputs</a:t>
            </a:r>
            <a:endParaRPr lang="en-US" sz="2200" dirty="0"/>
          </a:p>
        </p:txBody>
      </p:sp>
      <p:sp>
        <p:nvSpPr>
          <p:cNvPr id="13" name="Text 10"/>
          <p:cNvSpPr txBox="1"/>
          <p:nvPr/>
        </p:nvSpPr>
        <p:spPr>
          <a:xfrm>
            <a:off x="4838548" y="3429000"/>
            <a:ext cx="2514600" cy="1828800"/>
          </a:xfrm>
          <a:prstGeom prst="rect">
            <a:avLst/>
          </a:prstGeom>
          <a:noFill/>
          <a:ln/>
        </p:spPr>
        <p:txBody>
          <a:bodyPr wrap="square" lIns="0" tIns="0" rIns="0" bIns="0" rtlCol="0" anchor="t"/>
          <a:lstStyle/>
          <a:p>
            <a:pPr indent="0" marL="0">
              <a:buNone/>
            </a:pPr>
            <a:r>
              <a:rPr lang="en-US" sz="1500" dirty="0">
                <a:solidFill>
                  <a:schemeClr val="tx1"/>
                </a:solidFill>
              </a:rPr>
              <a:t>Only what a creator knows before launch: category, country, goal, length, launch month and weekday, title length.</a:t>
            </a:r>
            <a:endParaRPr lang="en-US" sz="1500" dirty="0"/>
          </a:p>
        </p:txBody>
      </p:sp>
      <p:sp>
        <p:nvSpPr>
          <p:cNvPr id="14" name="Metrics card"/>
          <p:cNvSpPr/>
          <p:nvPr/>
        </p:nvSpPr>
        <p:spPr>
          <a:xfrm>
            <a:off x="8396935" y="1828800"/>
            <a:ext cx="3246120" cy="3566160"/>
          </a:xfrm>
          <a:prstGeom prst="roundRect">
            <a:avLst>
              <a:gd name="adj" fmla="val 3380"/>
            </a:avLst>
          </a:prstGeom>
          <a:solidFill>
            <a:schemeClr val="bg1"/>
          </a:solidFill>
          <a:ln w="12700">
            <a:solidFill>
              <a:srgbClr val="F5F7F6"/>
            </a:solidFill>
            <a:prstDash val="solid"/>
          </a:ln>
          <a:effectLst>
            <a:outerShdw sx="100000" sy="100000" kx="0" ky="0" algn="bl" rotWithShape="0" blurRad="101600" dist="25400" dir="5400000">
              <a:srgbClr val="000000">
                <a:alpha val="12000"/>
              </a:srgbClr>
            </a:outerShdw>
          </a:effectLst>
        </p:spPr>
      </p:sp>
      <p:sp>
        <p:nvSpPr>
          <p:cNvPr id="15" name="Text 12"/>
          <p:cNvSpPr txBox="1"/>
          <p:nvPr/>
        </p:nvSpPr>
        <p:spPr>
          <a:xfrm>
            <a:off x="8762695" y="2103120"/>
            <a:ext cx="914400" cy="731520"/>
          </a:xfrm>
          <a:prstGeom prst="rect">
            <a:avLst/>
          </a:prstGeom>
          <a:noFill/>
          <a:ln/>
        </p:spPr>
        <p:txBody>
          <a:bodyPr wrap="square" lIns="0" tIns="0" rIns="0" bIns="0" rtlCol="0" anchor="t"/>
          <a:lstStyle/>
          <a:p>
            <a:pPr indent="0" marL="0">
              <a:buNone/>
            </a:pPr>
            <a:r>
              <a:rPr lang="en-US" sz="4000" b="1" dirty="0">
                <a:solidFill>
                  <a:schemeClr val="accent1"/>
                </a:solidFill>
                <a:latin typeface="Calibri" pitchFamily="34" charset="0"/>
                <a:ea typeface="Calibri" pitchFamily="34" charset="-122"/>
                <a:cs typeface="Calibri" pitchFamily="34" charset="-120"/>
              </a:rPr>
              <a:t>3</a:t>
            </a:r>
            <a:endParaRPr lang="en-US" sz="4000" dirty="0"/>
          </a:p>
        </p:txBody>
      </p:sp>
      <p:sp>
        <p:nvSpPr>
          <p:cNvPr id="16" name="Text 13"/>
          <p:cNvSpPr txBox="1"/>
          <p:nvPr/>
        </p:nvSpPr>
        <p:spPr>
          <a:xfrm>
            <a:off x="8762695" y="2880360"/>
            <a:ext cx="2514600" cy="457200"/>
          </a:xfrm>
          <a:prstGeom prst="rect">
            <a:avLst/>
          </a:prstGeom>
          <a:noFill/>
          <a:ln/>
        </p:spPr>
        <p:txBody>
          <a:bodyPr wrap="square" lIns="0" tIns="0" rIns="0" bIns="0" rtlCol="0" anchor="t"/>
          <a:lstStyle/>
          <a:p>
            <a:pPr indent="0" marL="0">
              <a:buNone/>
            </a:pPr>
            <a:r>
              <a:rPr lang="en-US" sz="2200" b="1" dirty="0">
                <a:solidFill>
                  <a:schemeClr val="tx2"/>
                </a:solidFill>
              </a:rPr>
              <a:t>Metrics</a:t>
            </a:r>
            <a:endParaRPr lang="en-US" sz="2200" dirty="0"/>
          </a:p>
        </p:txBody>
      </p:sp>
      <p:sp>
        <p:nvSpPr>
          <p:cNvPr id="17" name="Text 14"/>
          <p:cNvSpPr txBox="1"/>
          <p:nvPr/>
        </p:nvSpPr>
        <p:spPr>
          <a:xfrm>
            <a:off x="8762695" y="3429000"/>
            <a:ext cx="2514600" cy="1828800"/>
          </a:xfrm>
          <a:prstGeom prst="rect">
            <a:avLst/>
          </a:prstGeom>
          <a:noFill/>
          <a:ln/>
        </p:spPr>
        <p:txBody>
          <a:bodyPr wrap="square" lIns="0" tIns="0" rIns="0" bIns="0" rtlCol="0" anchor="t"/>
          <a:lstStyle/>
          <a:p>
            <a:pPr indent="0" marL="0">
              <a:buNone/>
            </a:pPr>
            <a:r>
              <a:rPr lang="en-US" sz="1500" dirty="0">
                <a:solidFill>
                  <a:schemeClr val="tx1"/>
                </a:solidFill>
              </a:rPr>
              <a:t>ROC-AUC, log loss, Brier and calibration for the probability. F1 for the yes/no label. Not accuracy: "always no" scores 64%.</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chemeClr val="accent1"/>
                </a:solidFill>
              </a:rPr>
              <a:t>DATA CLEANING</a:t>
            </a:r>
            <a:endParaRPr lang="en-US" sz="1200" dirty="0"/>
          </a:p>
        </p:txBody>
      </p:sp>
      <p:sp>
        <p:nvSpPr>
          <p:cNvPr id="3" name="Text 0"/>
          <p:cNvSpPr/>
          <p:nvPr>
            <p:ph idx="101" type="title" hasCustomPrompt="1"/>
          </p:nvPr>
        </p:nvSpPr>
        <p:spPr>
          <a:xfrm>
            <a:off x="548640" y="640080"/>
            <a:ext cx="11094415" cy="822960"/>
          </a:xfrm>
          <a:prstGeom prst="rect">
            <a:avLst/>
          </a:prstGeom>
          <a:noFill/>
          <a:ln/>
        </p:spPr>
        <p:txBody>
          <a:bodyPr wrap="square" lIns="0" tIns="0" rIns="0" bIns="0" rtlCol="0" anchor="t"/>
          <a:lstStyle/>
          <a:p>
            <a:pPr algn="l" indent="0" marL="0">
              <a:buNone/>
            </a:pPr>
            <a:r>
              <a:rPr lang="en-US" sz="3400" b="1" dirty="0">
                <a:solidFill>
                  <a:schemeClr val="tx2"/>
                </a:solidFill>
              </a:rPr>
              <a:t>From 378,661 rows to 372,293 clean projects</a:t>
            </a:r>
            <a:endParaRPr lang="en-US" sz="3400" dirty="0"/>
          </a:p>
        </p:txBody>
      </p:sp>
      <p:sp>
        <p:nvSpPr>
          <p:cNvPr id="4" name="Text 0"/>
          <p:cNvSpPr/>
          <p:nvPr>
            <p:ph idx="102" type="body" hasCustomPrompt="1"/>
          </p:nvPr>
        </p:nvSpPr>
        <p:spPr>
          <a:xfrm>
            <a:off x="548640" y="6400800"/>
            <a:ext cx="10362895" cy="274320"/>
          </a:xfrm>
          <a:prstGeom prst="rect">
            <a:avLst/>
          </a:prstGeom>
          <a:noFill/>
          <a:ln/>
        </p:spPr>
        <p:txBody>
          <a:bodyPr wrap="square" lIns="0" tIns="0" rIns="0" bIns="0" rtlCol="0" anchor="ctr"/>
          <a:lstStyle/>
          <a:p>
            <a:pPr indent="0" marL="0">
              <a:buNone/>
            </a:pPr>
            <a:r>
              <a:rPr lang="en-US" sz="1000" dirty="0">
                <a:solidFill>
                  <a:schemeClr val="accent4"/>
                </a:solidFill>
              </a:rPr>
              <a:t>Kaggle dataset kemical/kickstarter-projects, file ks-projects-201801.csv (15 columns, no duplicate rows or IDs)</a:t>
            </a:r>
            <a:endParaRPr lang="en-US" sz="1000" dirty="0"/>
          </a:p>
        </p:txBody>
      </p:sp>
      <p:sp>
        <p:nvSpPr>
          <p:cNvPr id="6" name="flow raw projects"/>
          <p:cNvSpPr/>
          <p:nvPr/>
        </p:nvSpPr>
        <p:spPr>
          <a:xfrm>
            <a:off x="548640" y="1783080"/>
            <a:ext cx="2377440" cy="1737360"/>
          </a:xfrm>
          <a:prstGeom prst="roundRect">
            <a:avLst>
              <a:gd name="adj" fmla="val 6316"/>
            </a:avLst>
          </a:prstGeom>
          <a:solidFill>
            <a:schemeClr val="tx2"/>
          </a:solidFill>
          <a:ln/>
        </p:spPr>
      </p:sp>
      <p:sp>
        <p:nvSpPr>
          <p:cNvPr id="7" name="Text 4"/>
          <p:cNvSpPr txBox="1"/>
          <p:nvPr/>
        </p:nvSpPr>
        <p:spPr>
          <a:xfrm>
            <a:off x="777240" y="1965960"/>
            <a:ext cx="1920240" cy="685800"/>
          </a:xfrm>
          <a:prstGeom prst="rect">
            <a:avLst/>
          </a:prstGeom>
          <a:noFill/>
          <a:ln/>
        </p:spPr>
        <p:txBody>
          <a:bodyPr wrap="square" lIns="0" tIns="0" rIns="0" bIns="0" rtlCol="0" anchor="t"/>
          <a:lstStyle/>
          <a:p>
            <a:pPr indent="0" marL="0">
              <a:buNone/>
            </a:pPr>
            <a:r>
              <a:rPr lang="en-US" sz="3000" b="1" dirty="0">
                <a:solidFill>
                  <a:schemeClr val="bg1"/>
                </a:solidFill>
                <a:latin typeface="Calibri" pitchFamily="34" charset="0"/>
                <a:ea typeface="Calibri" pitchFamily="34" charset="-122"/>
                <a:cs typeface="Calibri" pitchFamily="34" charset="-120"/>
              </a:rPr>
              <a:t>378,661</a:t>
            </a:r>
            <a:endParaRPr lang="en-US" sz="3000" dirty="0"/>
          </a:p>
        </p:txBody>
      </p:sp>
      <p:sp>
        <p:nvSpPr>
          <p:cNvPr id="8" name="Text 5"/>
          <p:cNvSpPr txBox="1"/>
          <p:nvPr/>
        </p:nvSpPr>
        <p:spPr>
          <a:xfrm>
            <a:off x="777240" y="2651760"/>
            <a:ext cx="1920240" cy="365760"/>
          </a:xfrm>
          <a:prstGeom prst="rect">
            <a:avLst/>
          </a:prstGeom>
          <a:noFill/>
          <a:ln/>
        </p:spPr>
        <p:txBody>
          <a:bodyPr wrap="square" lIns="0" tIns="0" rIns="0" bIns="0" rtlCol="0" anchor="t"/>
          <a:lstStyle/>
          <a:p>
            <a:pPr indent="0" marL="0">
              <a:buNone/>
            </a:pPr>
            <a:r>
              <a:rPr lang="en-US" sz="1600" b="1" dirty="0">
                <a:solidFill>
                  <a:schemeClr val="bg1"/>
                </a:solidFill>
              </a:rPr>
              <a:t>raw projects</a:t>
            </a:r>
            <a:endParaRPr lang="en-US" sz="1600" dirty="0"/>
          </a:p>
        </p:txBody>
      </p:sp>
      <p:sp>
        <p:nvSpPr>
          <p:cNvPr id="9" name="Text 6"/>
          <p:cNvSpPr txBox="1"/>
          <p:nvPr/>
        </p:nvSpPr>
        <p:spPr>
          <a:xfrm>
            <a:off x="777240" y="3017520"/>
            <a:ext cx="1920240" cy="365760"/>
          </a:xfrm>
          <a:prstGeom prst="rect">
            <a:avLst/>
          </a:prstGeom>
          <a:noFill/>
          <a:ln/>
        </p:spPr>
        <p:txBody>
          <a:bodyPr wrap="square" lIns="0" tIns="0" rIns="0" bIns="0" rtlCol="0" anchor="t"/>
          <a:lstStyle/>
          <a:p>
            <a:pPr indent="0" marL="0">
              <a:buNone/>
            </a:pPr>
            <a:r>
              <a:rPr lang="en-US" sz="1300" dirty="0">
                <a:solidFill>
                  <a:schemeClr val="accent5"/>
                </a:solidFill>
              </a:rPr>
              <a:t>15 columns</a:t>
            </a:r>
            <a:endParaRPr lang="en-US" sz="1300" dirty="0"/>
          </a:p>
        </p:txBody>
      </p:sp>
      <p:pic>
        <p:nvPicPr>
          <p:cNvPr id="10" name="flow arrow 0" descr="then">    </p:cNvPr>
          <p:cNvPicPr>
            <a:picLocks noChangeAspect="1"/>
          </p:cNvPicPr>
          <p:nvPr/>
        </p:nvPicPr>
        <p:blipFill>
          <a:blip r:embed="rId1"/>
          <a:stretch>
            <a:fillRect/>
          </a:stretch>
        </p:blipFill>
        <p:spPr>
          <a:xfrm>
            <a:off x="3053029" y="2514600"/>
            <a:ext cx="274320" cy="274320"/>
          </a:xfrm>
          <a:prstGeom prst="rect">
            <a:avLst/>
          </a:prstGeom>
        </p:spPr>
      </p:pic>
      <p:sp>
        <p:nvSpPr>
          <p:cNvPr id="11" name="flow known outcome"/>
          <p:cNvSpPr/>
          <p:nvPr/>
        </p:nvSpPr>
        <p:spPr>
          <a:xfrm>
            <a:off x="3454298" y="1783080"/>
            <a:ext cx="2377440" cy="1737360"/>
          </a:xfrm>
          <a:prstGeom prst="roundRect">
            <a:avLst>
              <a:gd name="adj" fmla="val 6316"/>
            </a:avLst>
          </a:prstGeom>
          <a:solidFill>
            <a:schemeClr val="tx2"/>
          </a:solidFill>
          <a:ln/>
        </p:spPr>
      </p:sp>
      <p:sp>
        <p:nvSpPr>
          <p:cNvPr id="12" name="Text 8"/>
          <p:cNvSpPr txBox="1"/>
          <p:nvPr/>
        </p:nvSpPr>
        <p:spPr>
          <a:xfrm>
            <a:off x="3682898" y="1965960"/>
            <a:ext cx="1920240" cy="685800"/>
          </a:xfrm>
          <a:prstGeom prst="rect">
            <a:avLst/>
          </a:prstGeom>
          <a:noFill/>
          <a:ln/>
        </p:spPr>
        <p:txBody>
          <a:bodyPr wrap="square" lIns="0" tIns="0" rIns="0" bIns="0" rtlCol="0" anchor="t"/>
          <a:lstStyle/>
          <a:p>
            <a:pPr indent="0" marL="0">
              <a:buNone/>
            </a:pPr>
            <a:r>
              <a:rPr lang="en-US" sz="3000" b="1" dirty="0">
                <a:solidFill>
                  <a:schemeClr val="bg1"/>
                </a:solidFill>
                <a:latin typeface="Calibri" pitchFamily="34" charset="0"/>
                <a:ea typeface="Calibri" pitchFamily="34" charset="-122"/>
                <a:cs typeface="Calibri" pitchFamily="34" charset="-120"/>
              </a:rPr>
              <a:t>372,300</a:t>
            </a:r>
            <a:endParaRPr lang="en-US" sz="3000" dirty="0"/>
          </a:p>
        </p:txBody>
      </p:sp>
      <p:sp>
        <p:nvSpPr>
          <p:cNvPr id="13" name="Text 9"/>
          <p:cNvSpPr txBox="1"/>
          <p:nvPr/>
        </p:nvSpPr>
        <p:spPr>
          <a:xfrm>
            <a:off x="3682898" y="2651760"/>
            <a:ext cx="1920240" cy="365760"/>
          </a:xfrm>
          <a:prstGeom prst="rect">
            <a:avLst/>
          </a:prstGeom>
          <a:noFill/>
          <a:ln/>
        </p:spPr>
        <p:txBody>
          <a:bodyPr wrap="square" lIns="0" tIns="0" rIns="0" bIns="0" rtlCol="0" anchor="t"/>
          <a:lstStyle/>
          <a:p>
            <a:pPr indent="0" marL="0">
              <a:buNone/>
            </a:pPr>
            <a:r>
              <a:rPr lang="en-US" sz="1600" b="1" dirty="0">
                <a:solidFill>
                  <a:schemeClr val="bg1"/>
                </a:solidFill>
              </a:rPr>
              <a:t>known outcome</a:t>
            </a:r>
            <a:endParaRPr lang="en-US" sz="1600" dirty="0"/>
          </a:p>
        </p:txBody>
      </p:sp>
      <p:sp>
        <p:nvSpPr>
          <p:cNvPr id="14" name="Text 10"/>
          <p:cNvSpPr txBox="1"/>
          <p:nvPr/>
        </p:nvSpPr>
        <p:spPr>
          <a:xfrm>
            <a:off x="3682898" y="3017520"/>
            <a:ext cx="1920240" cy="365760"/>
          </a:xfrm>
          <a:prstGeom prst="rect">
            <a:avLst/>
          </a:prstGeom>
          <a:noFill/>
          <a:ln/>
        </p:spPr>
        <p:txBody>
          <a:bodyPr wrap="square" lIns="0" tIns="0" rIns="0" bIns="0" rtlCol="0" anchor="t"/>
          <a:lstStyle/>
          <a:p>
            <a:pPr indent="0" marL="0">
              <a:buNone/>
            </a:pPr>
            <a:r>
              <a:rPr lang="en-US" sz="1300" dirty="0">
                <a:solidFill>
                  <a:schemeClr val="accent5"/>
                </a:solidFill>
              </a:rPr>
              <a:t>−6,361 live or undefined</a:t>
            </a:r>
            <a:endParaRPr lang="en-US" sz="1300" dirty="0"/>
          </a:p>
        </p:txBody>
      </p:sp>
      <p:pic>
        <p:nvPicPr>
          <p:cNvPr id="15" name="flow arrow 1" descr="then">    </p:cNvPr>
          <p:cNvPicPr>
            <a:picLocks noChangeAspect="1"/>
          </p:cNvPicPr>
          <p:nvPr/>
        </p:nvPicPr>
        <p:blipFill>
          <a:blip r:embed="rId2"/>
          <a:stretch>
            <a:fillRect/>
          </a:stretch>
        </p:blipFill>
        <p:spPr>
          <a:xfrm>
            <a:off x="5958688" y="2514600"/>
            <a:ext cx="274320" cy="274320"/>
          </a:xfrm>
          <a:prstGeom prst="rect">
            <a:avLst/>
          </a:prstGeom>
        </p:spPr>
      </p:pic>
      <p:sp>
        <p:nvSpPr>
          <p:cNvPr id="16" name="flow valid launch date"/>
          <p:cNvSpPr/>
          <p:nvPr/>
        </p:nvSpPr>
        <p:spPr>
          <a:xfrm>
            <a:off x="6359957" y="1783080"/>
            <a:ext cx="2377440" cy="1737360"/>
          </a:xfrm>
          <a:prstGeom prst="roundRect">
            <a:avLst>
              <a:gd name="adj" fmla="val 6316"/>
            </a:avLst>
          </a:prstGeom>
          <a:solidFill>
            <a:schemeClr val="tx2"/>
          </a:solidFill>
          <a:ln/>
        </p:spPr>
      </p:sp>
      <p:sp>
        <p:nvSpPr>
          <p:cNvPr id="17" name="Text 12"/>
          <p:cNvSpPr txBox="1"/>
          <p:nvPr/>
        </p:nvSpPr>
        <p:spPr>
          <a:xfrm>
            <a:off x="6588557" y="1965960"/>
            <a:ext cx="1920240" cy="685800"/>
          </a:xfrm>
          <a:prstGeom prst="rect">
            <a:avLst/>
          </a:prstGeom>
          <a:noFill/>
          <a:ln/>
        </p:spPr>
        <p:txBody>
          <a:bodyPr wrap="square" lIns="0" tIns="0" rIns="0" bIns="0" rtlCol="0" anchor="t"/>
          <a:lstStyle/>
          <a:p>
            <a:pPr indent="0" marL="0">
              <a:buNone/>
            </a:pPr>
            <a:r>
              <a:rPr lang="en-US" sz="3000" b="1" dirty="0">
                <a:solidFill>
                  <a:schemeClr val="bg1"/>
                </a:solidFill>
                <a:latin typeface="Calibri" pitchFamily="34" charset="0"/>
                <a:ea typeface="Calibri" pitchFamily="34" charset="-122"/>
                <a:cs typeface="Calibri" pitchFamily="34" charset="-120"/>
              </a:rPr>
              <a:t>372,293</a:t>
            </a:r>
            <a:endParaRPr lang="en-US" sz="3000" dirty="0"/>
          </a:p>
        </p:txBody>
      </p:sp>
      <p:sp>
        <p:nvSpPr>
          <p:cNvPr id="18" name="Text 13"/>
          <p:cNvSpPr txBox="1"/>
          <p:nvPr/>
        </p:nvSpPr>
        <p:spPr>
          <a:xfrm>
            <a:off x="6588557" y="2651760"/>
            <a:ext cx="1920240" cy="365760"/>
          </a:xfrm>
          <a:prstGeom prst="rect">
            <a:avLst/>
          </a:prstGeom>
          <a:noFill/>
          <a:ln/>
        </p:spPr>
        <p:txBody>
          <a:bodyPr wrap="square" lIns="0" tIns="0" rIns="0" bIns="0" rtlCol="0" anchor="t"/>
          <a:lstStyle/>
          <a:p>
            <a:pPr indent="0" marL="0">
              <a:buNone/>
            </a:pPr>
            <a:r>
              <a:rPr lang="en-US" sz="1600" b="1" dirty="0">
                <a:solidFill>
                  <a:schemeClr val="bg1"/>
                </a:solidFill>
              </a:rPr>
              <a:t>valid launch date</a:t>
            </a:r>
            <a:endParaRPr lang="en-US" sz="1600" dirty="0"/>
          </a:p>
        </p:txBody>
      </p:sp>
      <p:sp>
        <p:nvSpPr>
          <p:cNvPr id="19" name="Text 14"/>
          <p:cNvSpPr txBox="1"/>
          <p:nvPr/>
        </p:nvSpPr>
        <p:spPr>
          <a:xfrm>
            <a:off x="6588557" y="3017520"/>
            <a:ext cx="1920240" cy="365760"/>
          </a:xfrm>
          <a:prstGeom prst="rect">
            <a:avLst/>
          </a:prstGeom>
          <a:noFill/>
          <a:ln/>
        </p:spPr>
        <p:txBody>
          <a:bodyPr wrap="square" lIns="0" tIns="0" rIns="0" bIns="0" rtlCol="0" anchor="t"/>
          <a:lstStyle/>
          <a:p>
            <a:pPr indent="0" marL="0">
              <a:buNone/>
            </a:pPr>
            <a:r>
              <a:rPr lang="en-US" sz="1300" dirty="0">
                <a:solidFill>
                  <a:schemeClr val="accent5"/>
                </a:solidFill>
              </a:rPr>
              <a:t>−7 dated 1970</a:t>
            </a:r>
            <a:endParaRPr lang="en-US" sz="1300" dirty="0"/>
          </a:p>
        </p:txBody>
      </p:sp>
      <p:pic>
        <p:nvPicPr>
          <p:cNvPr id="20" name="flow arrow 2" descr="then">    </p:cNvPr>
          <p:cNvPicPr>
            <a:picLocks noChangeAspect="1"/>
          </p:cNvPicPr>
          <p:nvPr/>
        </p:nvPicPr>
        <p:blipFill>
          <a:blip r:embed="rId3"/>
          <a:stretch>
            <a:fillRect/>
          </a:stretch>
        </p:blipFill>
        <p:spPr>
          <a:xfrm>
            <a:off x="8864346" y="2514600"/>
            <a:ext cx="274320" cy="274320"/>
          </a:xfrm>
          <a:prstGeom prst="rect">
            <a:avLst/>
          </a:prstGeom>
        </p:spPr>
      </p:pic>
      <p:sp>
        <p:nvSpPr>
          <p:cNvPr id="21" name="flow model features"/>
          <p:cNvSpPr/>
          <p:nvPr/>
        </p:nvSpPr>
        <p:spPr>
          <a:xfrm>
            <a:off x="9265615" y="1783080"/>
            <a:ext cx="2377440" cy="1737360"/>
          </a:xfrm>
          <a:prstGeom prst="roundRect">
            <a:avLst>
              <a:gd name="adj" fmla="val 6316"/>
            </a:avLst>
          </a:prstGeom>
          <a:solidFill>
            <a:schemeClr val="accent6"/>
          </a:solidFill>
          <a:ln/>
        </p:spPr>
      </p:sp>
      <p:sp>
        <p:nvSpPr>
          <p:cNvPr id="22" name="Text 16"/>
          <p:cNvSpPr txBox="1"/>
          <p:nvPr/>
        </p:nvSpPr>
        <p:spPr>
          <a:xfrm>
            <a:off x="9494215" y="1965960"/>
            <a:ext cx="1920240" cy="685800"/>
          </a:xfrm>
          <a:prstGeom prst="rect">
            <a:avLst/>
          </a:prstGeom>
          <a:noFill/>
          <a:ln/>
        </p:spPr>
        <p:txBody>
          <a:bodyPr wrap="square" lIns="0" tIns="0" rIns="0" bIns="0" rtlCol="0" anchor="t"/>
          <a:lstStyle/>
          <a:p>
            <a:pPr indent="0" marL="0">
              <a:buNone/>
            </a:pPr>
            <a:r>
              <a:rPr lang="en-US" sz="3000" b="1" dirty="0">
                <a:solidFill>
                  <a:schemeClr val="bg1"/>
                </a:solidFill>
                <a:latin typeface="Calibri" pitchFamily="34" charset="0"/>
                <a:ea typeface="Calibri" pitchFamily="34" charset="-122"/>
                <a:cs typeface="Calibri" pitchFamily="34" charset="-120"/>
              </a:rPr>
              <a:t>8</a:t>
            </a:r>
            <a:endParaRPr lang="en-US" sz="3000" dirty="0"/>
          </a:p>
        </p:txBody>
      </p:sp>
      <p:sp>
        <p:nvSpPr>
          <p:cNvPr id="23" name="Text 17"/>
          <p:cNvSpPr txBox="1"/>
          <p:nvPr/>
        </p:nvSpPr>
        <p:spPr>
          <a:xfrm>
            <a:off x="9494215" y="2651760"/>
            <a:ext cx="1920240" cy="365760"/>
          </a:xfrm>
          <a:prstGeom prst="rect">
            <a:avLst/>
          </a:prstGeom>
          <a:noFill/>
          <a:ln/>
        </p:spPr>
        <p:txBody>
          <a:bodyPr wrap="square" lIns="0" tIns="0" rIns="0" bIns="0" rtlCol="0" anchor="t"/>
          <a:lstStyle/>
          <a:p>
            <a:pPr indent="0" marL="0">
              <a:buNone/>
            </a:pPr>
            <a:r>
              <a:rPr lang="en-US" sz="1600" b="1" dirty="0">
                <a:solidFill>
                  <a:schemeClr val="bg1"/>
                </a:solidFill>
              </a:rPr>
              <a:t>model features</a:t>
            </a:r>
            <a:endParaRPr lang="en-US" sz="1600" dirty="0"/>
          </a:p>
        </p:txBody>
      </p:sp>
      <p:sp>
        <p:nvSpPr>
          <p:cNvPr id="24" name="Text 18"/>
          <p:cNvSpPr txBox="1"/>
          <p:nvPr/>
        </p:nvSpPr>
        <p:spPr>
          <a:xfrm>
            <a:off x="9494215" y="3017520"/>
            <a:ext cx="1920240" cy="365760"/>
          </a:xfrm>
          <a:prstGeom prst="rect">
            <a:avLst/>
          </a:prstGeom>
          <a:noFill/>
          <a:ln/>
        </p:spPr>
        <p:txBody>
          <a:bodyPr wrap="square" lIns="0" tIns="0" rIns="0" bIns="0" rtlCol="0" anchor="t"/>
          <a:lstStyle/>
          <a:p>
            <a:pPr indent="0" marL="0">
              <a:buNone/>
            </a:pPr>
            <a:r>
              <a:rPr lang="en-US" sz="1300" dirty="0">
                <a:solidFill>
                  <a:schemeClr val="accent5"/>
                </a:solidFill>
              </a:rPr>
              <a:t>pre-launch only</a:t>
            </a:r>
            <a:endParaRPr lang="en-US" sz="1300" dirty="0"/>
          </a:p>
        </p:txBody>
      </p:sp>
      <p:sp>
        <p:nvSpPr>
          <p:cNvPr id="25" name="234 country codes card"/>
          <p:cNvSpPr/>
          <p:nvPr/>
        </p:nvSpPr>
        <p:spPr>
          <a:xfrm>
            <a:off x="548640" y="3886200"/>
            <a:ext cx="3246120" cy="2011680"/>
          </a:xfrm>
          <a:prstGeom prst="roundRect">
            <a:avLst>
              <a:gd name="adj" fmla="val 5455"/>
            </a:avLst>
          </a:prstGeom>
          <a:solidFill>
            <a:schemeClr val="bg2"/>
          </a:solidFill>
          <a:ln w="12700">
            <a:solidFill>
              <a:srgbClr val="F5F7F6"/>
            </a:solidFill>
            <a:prstDash val="solid"/>
          </a:ln>
        </p:spPr>
      </p:sp>
      <p:sp>
        <p:nvSpPr>
          <p:cNvPr id="26" name="234 country codes circle"/>
          <p:cNvSpPr/>
          <p:nvPr/>
        </p:nvSpPr>
        <p:spPr>
          <a:xfrm>
            <a:off x="822960" y="4114800"/>
            <a:ext cx="640080" cy="640080"/>
          </a:xfrm>
          <a:prstGeom prst="ellipse">
            <a:avLst/>
          </a:prstGeom>
          <a:solidFill>
            <a:schemeClr val="bg1"/>
          </a:solidFill>
          <a:ln/>
        </p:spPr>
      </p:sp>
      <p:pic>
        <p:nvPicPr>
          <p:cNvPr id="27" name="234 country codes icon" descr="234 country codes">    </p:cNvPr>
          <p:cNvPicPr>
            <a:picLocks noChangeAspect="1"/>
          </p:cNvPicPr>
          <p:nvPr/>
        </p:nvPicPr>
        <p:blipFill>
          <a:blip r:embed="rId4"/>
          <a:stretch>
            <a:fillRect/>
          </a:stretch>
        </p:blipFill>
        <p:spPr>
          <a:xfrm>
            <a:off x="976579" y="4268419"/>
            <a:ext cx="332842" cy="332842"/>
          </a:xfrm>
          <a:prstGeom prst="rect">
            <a:avLst/>
          </a:prstGeom>
        </p:spPr>
      </p:pic>
      <p:sp>
        <p:nvSpPr>
          <p:cNvPr id="28" name="Text 21"/>
          <p:cNvSpPr txBox="1"/>
          <p:nvPr/>
        </p:nvSpPr>
        <p:spPr>
          <a:xfrm>
            <a:off x="1645920" y="4160520"/>
            <a:ext cx="1874520" cy="548640"/>
          </a:xfrm>
          <a:prstGeom prst="rect">
            <a:avLst/>
          </a:prstGeom>
          <a:noFill/>
          <a:ln/>
        </p:spPr>
        <p:txBody>
          <a:bodyPr wrap="square" lIns="0" tIns="0" rIns="0" bIns="0" rtlCol="0" anchor="ctr"/>
          <a:lstStyle/>
          <a:p>
            <a:pPr indent="0" marL="0">
              <a:buNone/>
            </a:pPr>
            <a:r>
              <a:rPr lang="en-US" sz="1700" b="1" dirty="0">
                <a:solidFill>
                  <a:schemeClr val="tx2"/>
                </a:solidFill>
              </a:rPr>
              <a:t>234 country codes</a:t>
            </a:r>
            <a:endParaRPr lang="en-US" sz="1700" dirty="0"/>
          </a:p>
        </p:txBody>
      </p:sp>
      <p:sp>
        <p:nvSpPr>
          <p:cNvPr id="29" name="Text 22"/>
          <p:cNvSpPr txBox="1"/>
          <p:nvPr/>
        </p:nvSpPr>
        <p:spPr>
          <a:xfrm>
            <a:off x="822960" y="4892040"/>
            <a:ext cx="2697480" cy="914400"/>
          </a:xfrm>
          <a:prstGeom prst="rect">
            <a:avLst/>
          </a:prstGeom>
          <a:noFill/>
          <a:ln/>
        </p:spPr>
        <p:txBody>
          <a:bodyPr wrap="square" lIns="0" tIns="0" rIns="0" bIns="0" rtlCol="0" anchor="t"/>
          <a:lstStyle/>
          <a:p>
            <a:pPr indent="0" marL="0">
              <a:buNone/>
            </a:pPr>
            <a:r>
              <a:rPr lang="en-US" sz="1300" dirty="0">
                <a:solidFill>
                  <a:schemeClr val="tx1"/>
                </a:solidFill>
              </a:rPr>
              <a:t>'N,0"' rows: country inferred from currency (EUR → "EU"). They were corrupted records.</a:t>
            </a:r>
            <a:endParaRPr lang="en-US" sz="1300" dirty="0"/>
          </a:p>
        </p:txBody>
      </p:sp>
      <p:sp>
        <p:nvSpPr>
          <p:cNvPr id="30" name="24,135 name tags card"/>
          <p:cNvSpPr/>
          <p:nvPr/>
        </p:nvSpPr>
        <p:spPr>
          <a:xfrm>
            <a:off x="4472788" y="3886200"/>
            <a:ext cx="3246120" cy="2011680"/>
          </a:xfrm>
          <a:prstGeom prst="roundRect">
            <a:avLst>
              <a:gd name="adj" fmla="val 5455"/>
            </a:avLst>
          </a:prstGeom>
          <a:solidFill>
            <a:schemeClr val="bg2"/>
          </a:solidFill>
          <a:ln w="12700">
            <a:solidFill>
              <a:srgbClr val="F5F7F6"/>
            </a:solidFill>
            <a:prstDash val="solid"/>
          </a:ln>
        </p:spPr>
      </p:sp>
      <p:sp>
        <p:nvSpPr>
          <p:cNvPr id="31" name="24,135 name tags circle"/>
          <p:cNvSpPr/>
          <p:nvPr/>
        </p:nvSpPr>
        <p:spPr>
          <a:xfrm>
            <a:off x="4747108" y="4114800"/>
            <a:ext cx="640080" cy="640080"/>
          </a:xfrm>
          <a:prstGeom prst="ellipse">
            <a:avLst/>
          </a:prstGeom>
          <a:solidFill>
            <a:schemeClr val="bg1"/>
          </a:solidFill>
          <a:ln/>
        </p:spPr>
      </p:sp>
      <p:pic>
        <p:nvPicPr>
          <p:cNvPr id="32" name="24,135 name tags icon" descr="24,135 name tags">    </p:cNvPr>
          <p:cNvPicPr>
            <a:picLocks noChangeAspect="1"/>
          </p:cNvPicPr>
          <p:nvPr/>
        </p:nvPicPr>
        <p:blipFill>
          <a:blip r:embed="rId5"/>
          <a:stretch>
            <a:fillRect/>
          </a:stretch>
        </p:blipFill>
        <p:spPr>
          <a:xfrm>
            <a:off x="4900727" y="4268419"/>
            <a:ext cx="332842" cy="332842"/>
          </a:xfrm>
          <a:prstGeom prst="rect">
            <a:avLst/>
          </a:prstGeom>
        </p:spPr>
      </p:pic>
      <p:sp>
        <p:nvSpPr>
          <p:cNvPr id="33" name="Text 25"/>
          <p:cNvSpPr txBox="1"/>
          <p:nvPr/>
        </p:nvSpPr>
        <p:spPr>
          <a:xfrm>
            <a:off x="5570068" y="4160520"/>
            <a:ext cx="1874520" cy="548640"/>
          </a:xfrm>
          <a:prstGeom prst="rect">
            <a:avLst/>
          </a:prstGeom>
          <a:noFill/>
          <a:ln/>
        </p:spPr>
        <p:txBody>
          <a:bodyPr wrap="square" lIns="0" tIns="0" rIns="0" bIns="0" rtlCol="0" anchor="ctr"/>
          <a:lstStyle/>
          <a:p>
            <a:pPr indent="0" marL="0">
              <a:buNone/>
            </a:pPr>
            <a:r>
              <a:rPr lang="en-US" sz="1700" b="1" dirty="0">
                <a:solidFill>
                  <a:schemeClr val="tx2"/>
                </a:solidFill>
              </a:rPr>
              <a:t>24,135 name tags</a:t>
            </a:r>
            <a:endParaRPr lang="en-US" sz="1700" dirty="0"/>
          </a:p>
        </p:txBody>
      </p:sp>
      <p:sp>
        <p:nvSpPr>
          <p:cNvPr id="34" name="Text 26"/>
          <p:cNvSpPr txBox="1"/>
          <p:nvPr/>
        </p:nvSpPr>
        <p:spPr>
          <a:xfrm>
            <a:off x="4747108" y="4892040"/>
            <a:ext cx="2697480" cy="914400"/>
          </a:xfrm>
          <a:prstGeom prst="rect">
            <a:avLst/>
          </a:prstGeom>
          <a:noFill/>
          <a:ln/>
        </p:spPr>
        <p:txBody>
          <a:bodyPr wrap="square" lIns="0" tIns="0" rIns="0" bIns="0" rtlCol="0" anchor="t"/>
          <a:lstStyle/>
          <a:p>
            <a:pPr indent="0" marL="0">
              <a:buNone/>
            </a:pPr>
            <a:r>
              <a:rPr lang="en-US" sz="1300" dirty="0">
                <a:solidFill>
                  <a:schemeClr val="tx1"/>
                </a:solidFill>
              </a:rPr>
              <a:t>"(Canceled)" and "(Suspended)" added after the outcome: stripped as leakage.</a:t>
            </a:r>
            <a:endParaRPr lang="en-US" sz="1300" dirty="0"/>
          </a:p>
        </p:txBody>
      </p:sp>
      <p:sp>
        <p:nvSpPr>
          <p:cNvPr id="35" name="698 edge cases card"/>
          <p:cNvSpPr/>
          <p:nvPr/>
        </p:nvSpPr>
        <p:spPr>
          <a:xfrm>
            <a:off x="8396935" y="3886200"/>
            <a:ext cx="3246120" cy="2011680"/>
          </a:xfrm>
          <a:prstGeom prst="roundRect">
            <a:avLst>
              <a:gd name="adj" fmla="val 5455"/>
            </a:avLst>
          </a:prstGeom>
          <a:solidFill>
            <a:schemeClr val="bg2"/>
          </a:solidFill>
          <a:ln w="12700">
            <a:solidFill>
              <a:srgbClr val="F5F7F6"/>
            </a:solidFill>
            <a:prstDash val="solid"/>
          </a:ln>
        </p:spPr>
      </p:sp>
      <p:sp>
        <p:nvSpPr>
          <p:cNvPr id="36" name="698 edge cases circle"/>
          <p:cNvSpPr/>
          <p:nvPr/>
        </p:nvSpPr>
        <p:spPr>
          <a:xfrm>
            <a:off x="8671255" y="4114800"/>
            <a:ext cx="640080" cy="640080"/>
          </a:xfrm>
          <a:prstGeom prst="ellipse">
            <a:avLst/>
          </a:prstGeom>
          <a:solidFill>
            <a:schemeClr val="bg1"/>
          </a:solidFill>
          <a:ln/>
        </p:spPr>
      </p:sp>
      <p:pic>
        <p:nvPicPr>
          <p:cNvPr id="37" name="698 edge cases icon" descr="698 edge cases">    </p:cNvPr>
          <p:cNvPicPr>
            <a:picLocks noChangeAspect="1"/>
          </p:cNvPicPr>
          <p:nvPr/>
        </p:nvPicPr>
        <p:blipFill>
          <a:blip r:embed="rId6"/>
          <a:stretch>
            <a:fillRect/>
          </a:stretch>
        </p:blipFill>
        <p:spPr>
          <a:xfrm>
            <a:off x="8824874" y="4268419"/>
            <a:ext cx="332842" cy="332842"/>
          </a:xfrm>
          <a:prstGeom prst="rect">
            <a:avLst/>
          </a:prstGeom>
        </p:spPr>
      </p:pic>
      <p:sp>
        <p:nvSpPr>
          <p:cNvPr id="38" name="Text 29"/>
          <p:cNvSpPr txBox="1"/>
          <p:nvPr/>
        </p:nvSpPr>
        <p:spPr>
          <a:xfrm>
            <a:off x="9494215" y="4160520"/>
            <a:ext cx="1874520" cy="548640"/>
          </a:xfrm>
          <a:prstGeom prst="rect">
            <a:avLst/>
          </a:prstGeom>
          <a:noFill/>
          <a:ln/>
        </p:spPr>
        <p:txBody>
          <a:bodyPr wrap="square" lIns="0" tIns="0" rIns="0" bIns="0" rtlCol="0" anchor="ctr"/>
          <a:lstStyle/>
          <a:p>
            <a:pPr indent="0" marL="0">
              <a:buNone/>
            </a:pPr>
            <a:r>
              <a:rPr lang="en-US" sz="1700" b="1" dirty="0">
                <a:solidFill>
                  <a:schemeClr val="tx2"/>
                </a:solidFill>
              </a:rPr>
              <a:t>698 edge cases</a:t>
            </a:r>
            <a:endParaRPr lang="en-US" sz="1700" dirty="0"/>
          </a:p>
        </p:txBody>
      </p:sp>
      <p:sp>
        <p:nvSpPr>
          <p:cNvPr id="39" name="Text 30"/>
          <p:cNvSpPr txBox="1"/>
          <p:nvPr/>
        </p:nvSpPr>
        <p:spPr>
          <a:xfrm>
            <a:off x="8671255" y="4892040"/>
            <a:ext cx="2697480" cy="914400"/>
          </a:xfrm>
          <a:prstGeom prst="rect">
            <a:avLst/>
          </a:prstGeom>
          <a:noFill/>
          <a:ln/>
        </p:spPr>
        <p:txBody>
          <a:bodyPr wrap="square" lIns="0" tIns="0" rIns="0" bIns="0" rtlCol="0" anchor="t"/>
          <a:lstStyle/>
          <a:p>
            <a:pPr indent="0" marL="0">
              <a:buNone/>
            </a:pPr>
            <a:r>
              <a:rPr lang="en-US" sz="1300" dirty="0">
                <a:solidFill>
                  <a:schemeClr val="tx1"/>
                </a:solidFill>
              </a:rPr>
              <a:t>Canceled projects that had reached the goal: kept as not funded (no money paid).</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chemeClr val="accent1"/>
                </a:solidFill>
              </a:rPr>
              <a:t>TARGET DEFINITION</a:t>
            </a:r>
            <a:endParaRPr lang="en-US" sz="1200" dirty="0"/>
          </a:p>
        </p:txBody>
      </p:sp>
      <p:sp>
        <p:nvSpPr>
          <p:cNvPr id="3" name="Text 0"/>
          <p:cNvSpPr/>
          <p:nvPr>
            <p:ph idx="101" type="title" hasCustomPrompt="1"/>
          </p:nvPr>
        </p:nvSpPr>
        <p:spPr>
          <a:xfrm>
            <a:off x="548640" y="640080"/>
            <a:ext cx="11094415" cy="822960"/>
          </a:xfrm>
          <a:prstGeom prst="rect">
            <a:avLst/>
          </a:prstGeom>
          <a:noFill/>
          <a:ln/>
        </p:spPr>
        <p:txBody>
          <a:bodyPr wrap="square" lIns="0" tIns="0" rIns="0" bIns="0" rtlCol="0" anchor="t"/>
          <a:lstStyle/>
          <a:p>
            <a:pPr algn="l" indent="0" marL="0">
              <a:buNone/>
            </a:pPr>
            <a:r>
              <a:rPr lang="en-US" sz="3400" b="1" dirty="0">
                <a:solidFill>
                  <a:schemeClr val="tx2"/>
                </a:solidFill>
              </a:rPr>
              <a:t>Funded, or not funded for any reason</a:t>
            </a:r>
            <a:endParaRPr lang="en-US" sz="3400" dirty="0"/>
          </a:p>
        </p:txBody>
      </p:sp>
      <p:sp>
        <p:nvSpPr>
          <p:cNvPr id="4" name="Text 0"/>
          <p:cNvSpPr/>
          <p:nvPr>
            <p:ph idx="102" type="body" hasCustomPrompt="1"/>
          </p:nvPr>
        </p:nvSpPr>
        <p:spPr>
          <a:xfrm>
            <a:off x="548640" y="6400800"/>
            <a:ext cx="10362895" cy="274320"/>
          </a:xfrm>
          <a:prstGeom prst="rect">
            <a:avLst/>
          </a:prstGeom>
          <a:noFill/>
          <a:ln/>
        </p:spPr>
        <p:txBody>
          <a:bodyPr wrap="square" lIns="0" tIns="0" rIns="0" bIns="0" rtlCol="0" anchor="ctr"/>
          <a:lstStyle/>
          <a:p>
            <a:pPr indent="0" marL="0">
              <a:buNone/>
            </a:pPr>
            <a:r>
              <a:rPr lang="en-US" sz="1000" dirty="0">
                <a:solidFill>
                  <a:schemeClr val="accent4"/>
                </a:solidFill>
              </a:rPr>
              <a:t>Notebook: notebooks/01_kickstarter_eda_and_modeling.ipynb</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6035040" cy="914400"/>
        </p:xfrm>
        <a:graphic>
          <a:graphicData uri="http://schemas.openxmlformats.org/drawingml/2006/table">
            <a:tbl>
              <a:tblPr/>
              <a:tblGrid>
                <a:gridCol w="2011680"/>
                <a:gridCol w="1737360"/>
                <a:gridCol w="2286000"/>
              </a:tblGrid>
              <a:tr h="502920">
                <a:tc>
                  <a:txBody>
                    <a:bodyPr/>
                    <a:lstStyle/>
                    <a:p>
                      <a:pPr algn="l" indent="0" marL="0">
                        <a:buNone/>
                      </a:pPr>
                      <a:r>
                        <a:rPr lang="en-US" sz="1400" b="1" dirty="0">
                          <a:solidFill>
                            <a:schemeClr val="bg1"/>
                          </a:solidFill>
                          <a:latin typeface="Calibri" pitchFamily="34" charset="0"/>
                          <a:ea typeface="Calibri" pitchFamily="34" charset="-122"/>
                          <a:cs typeface="Calibri" pitchFamily="34" charset="-120"/>
                        </a:rPr>
                        <a:t>state</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projects</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target</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tx2"/>
                    </a:solidFill>
                  </a:tcPr>
                </a:tc>
              </a:tr>
              <a:tr h="502920">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successful</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133,956</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1"/>
                          </a:solidFill>
                          <a:latin typeface="Calibri" pitchFamily="34" charset="0"/>
                          <a:ea typeface="Calibri" pitchFamily="34" charset="-122"/>
                          <a:cs typeface="Calibri" pitchFamily="34" charset="-120"/>
                        </a:rPr>
                        <a:t>1 · funded</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r>
              <a:tr h="502920">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failed</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197,719</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 · not funded</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r>
              <a:tr h="502920">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canceled</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38,779</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 · not funded</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r>
              <a:tr h="502920">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suspended</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1,846</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 · not funded</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r>
              <a:tr h="502920">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live</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2,799</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accent4"/>
                          </a:solidFill>
                          <a:latin typeface="Calibri" pitchFamily="34" charset="0"/>
                          <a:ea typeface="Calibri" pitchFamily="34" charset="-122"/>
                          <a:cs typeface="Calibri" pitchFamily="34" charset="-120"/>
                        </a:rPr>
                        <a:t>dropped (unknown)</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r>
              <a:tr h="502920">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undefined</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3,562</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accent4"/>
                          </a:solidFill>
                          <a:latin typeface="Calibri" pitchFamily="34" charset="0"/>
                          <a:ea typeface="Calibri" pitchFamily="34" charset="-122"/>
                          <a:cs typeface="Calibri" pitchFamily="34" charset="-120"/>
                        </a:rPr>
                        <a:t>dropped (unknown)</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r>
            </a:tbl>
          </a:graphicData>
        </a:graphic>
      </p:graphicFrame>
      <p:sp>
        <p:nvSpPr>
          <p:cNvPr id="7" name="balance card"/>
          <p:cNvSpPr/>
          <p:nvPr/>
        </p:nvSpPr>
        <p:spPr>
          <a:xfrm>
            <a:off x="7068312" y="1737360"/>
            <a:ext cx="4572000" cy="3520440"/>
          </a:xfrm>
          <a:prstGeom prst="roundRect">
            <a:avLst>
              <a:gd name="adj" fmla="val 3117"/>
            </a:avLst>
          </a:prstGeom>
          <a:solidFill>
            <a:schemeClr val="bg2"/>
          </a:solidFill>
          <a:ln w="12700">
            <a:solidFill>
              <a:srgbClr val="F5F7F6"/>
            </a:solidFill>
            <a:prstDash val="solid"/>
          </a:ln>
        </p:spPr>
      </p:sp>
      <p:sp>
        <p:nvSpPr>
          <p:cNvPr id="8" name="Text 4"/>
          <p:cNvSpPr txBox="1"/>
          <p:nvPr/>
        </p:nvSpPr>
        <p:spPr>
          <a:xfrm>
            <a:off x="7360920" y="1965960"/>
            <a:ext cx="4023360" cy="365760"/>
          </a:xfrm>
          <a:prstGeom prst="rect">
            <a:avLst/>
          </a:prstGeom>
          <a:noFill/>
          <a:ln/>
        </p:spPr>
        <p:txBody>
          <a:bodyPr wrap="square" lIns="0" tIns="0" rIns="0" bIns="0" rtlCol="0" anchor="t"/>
          <a:lstStyle/>
          <a:p>
            <a:pPr indent="0" marL="0">
              <a:buNone/>
            </a:pPr>
            <a:r>
              <a:rPr lang="en-US" sz="1700" b="1" dirty="0">
                <a:solidFill>
                  <a:schemeClr val="tx2"/>
                </a:solidFill>
              </a:rPr>
              <a:t>Class balance after cleaning</a:t>
            </a:r>
            <a:endParaRPr lang="en-US" sz="1700" dirty="0"/>
          </a:p>
        </p:txBody>
      </p:sp>
      <p:sp>
        <p:nvSpPr>
          <p:cNvPr id="9" name="Text 5"/>
          <p:cNvSpPr txBox="1"/>
          <p:nvPr/>
        </p:nvSpPr>
        <p:spPr>
          <a:xfrm>
            <a:off x="7360920" y="2423160"/>
            <a:ext cx="1828800" cy="731520"/>
          </a:xfrm>
          <a:prstGeom prst="rect">
            <a:avLst/>
          </a:prstGeom>
          <a:noFill/>
          <a:ln/>
        </p:spPr>
        <p:txBody>
          <a:bodyPr wrap="square" lIns="0" tIns="0" rIns="0" bIns="0" rtlCol="0" anchor="t"/>
          <a:lstStyle/>
          <a:p>
            <a:pPr indent="0" marL="0">
              <a:buNone/>
            </a:pPr>
            <a:r>
              <a:rPr lang="en-US" sz="4000" b="1" dirty="0">
                <a:solidFill>
                  <a:schemeClr val="accent1"/>
                </a:solidFill>
                <a:latin typeface="Calibri" pitchFamily="34" charset="0"/>
                <a:ea typeface="Calibri" pitchFamily="34" charset="-122"/>
                <a:cs typeface="Calibri" pitchFamily="34" charset="-120"/>
              </a:rPr>
              <a:t>36%</a:t>
            </a:r>
            <a:endParaRPr lang="en-US" sz="4000" dirty="0"/>
          </a:p>
        </p:txBody>
      </p:sp>
      <p:sp>
        <p:nvSpPr>
          <p:cNvPr id="10" name="Text 6"/>
          <p:cNvSpPr txBox="1"/>
          <p:nvPr/>
        </p:nvSpPr>
        <p:spPr>
          <a:xfrm>
            <a:off x="8915400" y="2468880"/>
            <a:ext cx="2377440" cy="685800"/>
          </a:xfrm>
          <a:prstGeom prst="rect">
            <a:avLst/>
          </a:prstGeom>
          <a:noFill/>
          <a:ln/>
        </p:spPr>
        <p:txBody>
          <a:bodyPr wrap="square" lIns="0" tIns="0" rIns="0" bIns="0" rtlCol="0" anchor="t"/>
          <a:lstStyle/>
          <a:p>
            <a:pPr indent="0" marL="0">
              <a:buNone/>
            </a:pPr>
            <a:r>
              <a:rPr lang="en-US" sz="1400" dirty="0">
                <a:solidFill>
                  <a:schemeClr val="tx1"/>
                </a:solidFill>
              </a:rPr>
              <a:t>funded</a:t>
            </a:r>
            <a:endParaRPr lang="en-US" sz="1400" dirty="0"/>
          </a:p>
          <a:p>
            <a:pPr indent="0" marL="0">
              <a:buNone/>
            </a:pPr>
            <a:r>
              <a:rPr lang="en-US" sz="1400" dirty="0">
                <a:solidFill>
                  <a:schemeClr val="tx1"/>
                </a:solidFill>
              </a:rPr>
              <a:t>133,956</a:t>
            </a:r>
            <a:endParaRPr lang="en-US" sz="1400" dirty="0"/>
          </a:p>
        </p:txBody>
      </p:sp>
      <p:sp>
        <p:nvSpPr>
          <p:cNvPr id="11" name="class balance track"/>
          <p:cNvSpPr/>
          <p:nvPr/>
        </p:nvSpPr>
        <p:spPr>
          <a:xfrm>
            <a:off x="7360920" y="3291840"/>
            <a:ext cx="3977640" cy="201168"/>
          </a:xfrm>
          <a:prstGeom prst="roundRect">
            <a:avLst>
              <a:gd name="adj" fmla="val 50000"/>
            </a:avLst>
          </a:prstGeom>
          <a:solidFill>
            <a:schemeClr val="bg1"/>
          </a:solidFill>
          <a:ln/>
        </p:spPr>
      </p:sp>
      <p:sp>
        <p:nvSpPr>
          <p:cNvPr id="12" name="class balance fill"/>
          <p:cNvSpPr/>
          <p:nvPr/>
        </p:nvSpPr>
        <p:spPr>
          <a:xfrm>
            <a:off x="7360920" y="3291840"/>
            <a:ext cx="1431950" cy="201168"/>
          </a:xfrm>
          <a:prstGeom prst="roundRect">
            <a:avLst>
              <a:gd name="adj" fmla="val 50000"/>
            </a:avLst>
          </a:prstGeom>
          <a:solidFill>
            <a:schemeClr val="accent1"/>
          </a:solidFill>
          <a:ln/>
        </p:spPr>
      </p:sp>
      <p:sp>
        <p:nvSpPr>
          <p:cNvPr id="13" name="Text 9"/>
          <p:cNvSpPr txBox="1"/>
          <p:nvPr/>
        </p:nvSpPr>
        <p:spPr>
          <a:xfrm>
            <a:off x="7360920" y="3703320"/>
            <a:ext cx="4023360" cy="1371600"/>
          </a:xfrm>
          <a:prstGeom prst="rect">
            <a:avLst/>
          </a:prstGeom>
          <a:noFill/>
          <a:ln/>
        </p:spPr>
        <p:txBody>
          <a:bodyPr wrap="square" lIns="0" tIns="0" rIns="0" bIns="0" rtlCol="0" anchor="t"/>
          <a:lstStyle/>
          <a:p>
            <a:pPr indent="0" marL="0">
              <a:buNone/>
            </a:pPr>
            <a:r>
              <a:rPr lang="en-US" sz="1400" dirty="0">
                <a:solidFill>
                  <a:schemeClr val="tx1"/>
                </a:solidFill>
              </a:rPr>
              <a:t>Accuracy is misleading: "always not funded" scores 64%. No resampling and no class weights; the yes/no threshold handles the imbalance.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chemeClr val="accent1"/>
                </a:solidFill>
              </a:rPr>
              <a:t>TARGET LEAKAGE</a:t>
            </a:r>
            <a:endParaRPr lang="en-US" sz="1200" dirty="0"/>
          </a:p>
        </p:txBody>
      </p:sp>
      <p:sp>
        <p:nvSpPr>
          <p:cNvPr id="3" name="Text 0"/>
          <p:cNvSpPr/>
          <p:nvPr>
            <p:ph idx="101" type="title" hasCustomPrompt="1"/>
          </p:nvPr>
        </p:nvSpPr>
        <p:spPr>
          <a:xfrm>
            <a:off x="548640" y="640080"/>
            <a:ext cx="11094415" cy="822960"/>
          </a:xfrm>
          <a:prstGeom prst="rect">
            <a:avLst/>
          </a:prstGeom>
          <a:noFill/>
          <a:ln/>
        </p:spPr>
        <p:txBody>
          <a:bodyPr wrap="square" lIns="0" tIns="0" rIns="0" bIns="0" rtlCol="0" anchor="t"/>
          <a:lstStyle/>
          <a:p>
            <a:pPr algn="l" indent="0" marL="0">
              <a:buNone/>
            </a:pPr>
            <a:r>
              <a:rPr lang="en-US" sz="3400" b="1" dirty="0">
                <a:solidFill>
                  <a:schemeClr val="tx2"/>
                </a:solidFill>
              </a:rPr>
              <a:t>Remove the future data: everything known only after launch</a:t>
            </a:r>
            <a:endParaRPr lang="en-US" sz="3400" dirty="0"/>
          </a:p>
        </p:txBody>
      </p:sp>
      <p:sp>
        <p:nvSpPr>
          <p:cNvPr id="4" name="Text 0"/>
          <p:cNvSpPr/>
          <p:nvPr>
            <p:ph idx="102" type="body" hasCustomPrompt="1"/>
          </p:nvPr>
        </p:nvSpPr>
        <p:spPr>
          <a:xfrm>
            <a:off x="548640" y="6400800"/>
            <a:ext cx="10362895" cy="274320"/>
          </a:xfrm>
          <a:prstGeom prst="rect">
            <a:avLst/>
          </a:prstGeom>
          <a:noFill/>
          <a:ln/>
        </p:spPr>
        <p:txBody>
          <a:bodyPr wrap="square" lIns="0" tIns="0" rIns="0" bIns="0" rtlCol="0" anchor="ctr"/>
          <a:lstStyle/>
          <a:p>
            <a:pPr indent="0" marL="0">
              <a:buNone/>
            </a:pPr>
            <a:r>
              <a:rPr lang="en-US" sz="1000" dirty="0">
                <a:solidFill>
                  <a:schemeClr val="accent4"/>
                </a:solidFill>
              </a:rPr>
              <a:t>99.7% on all 372,293 projects (canceled count as not funded); 99.997% among successful and failed only (alternative notebook, notebooks/reference)</a:t>
            </a:r>
            <a:endParaRPr lang="en-US" sz="1000" dirty="0"/>
          </a:p>
        </p:txBody>
      </p:sp>
      <p:sp>
        <p:nvSpPr>
          <p:cNvPr id="6" name="obvious leak card"/>
          <p:cNvSpPr/>
          <p:nvPr/>
        </p:nvSpPr>
        <p:spPr>
          <a:xfrm>
            <a:off x="548640" y="1783080"/>
            <a:ext cx="5394960" cy="4114800"/>
          </a:xfrm>
          <a:prstGeom prst="roundRect">
            <a:avLst>
              <a:gd name="adj" fmla="val 2667"/>
            </a:avLst>
          </a:prstGeom>
          <a:solidFill>
            <a:schemeClr val="bg1"/>
          </a:solidFill>
          <a:ln w="12700">
            <a:solidFill>
              <a:srgbClr val="F5F7F6"/>
            </a:solidFill>
            <a:prstDash val="solid"/>
          </a:ln>
          <a:effectLst>
            <a:outerShdw sx="100000" sy="100000" kx="0" ky="0" algn="bl" rotWithShape="0" blurRad="101600" dist="25400" dir="5400000">
              <a:srgbClr val="000000">
                <a:alpha val="12000"/>
              </a:srgbClr>
            </a:outerShdw>
          </a:effectLst>
        </p:spPr>
      </p:sp>
      <p:sp>
        <p:nvSpPr>
          <p:cNvPr id="7" name="Text 4"/>
          <p:cNvSpPr txBox="1"/>
          <p:nvPr/>
        </p:nvSpPr>
        <p:spPr>
          <a:xfrm>
            <a:off x="914400" y="2011680"/>
            <a:ext cx="4663440" cy="411480"/>
          </a:xfrm>
          <a:prstGeom prst="rect">
            <a:avLst/>
          </a:prstGeom>
          <a:noFill/>
          <a:ln/>
        </p:spPr>
        <p:txBody>
          <a:bodyPr wrap="square" lIns="0" tIns="0" rIns="0" bIns="0" rtlCol="0" anchor="t"/>
          <a:lstStyle/>
          <a:p>
            <a:pPr indent="0" marL="0">
              <a:buNone/>
            </a:pPr>
            <a:r>
              <a:rPr lang="en-US" sz="2000" b="1" dirty="0">
                <a:solidFill>
                  <a:schemeClr val="tx2"/>
                </a:solidFill>
              </a:rPr>
              <a:t>Obvious: outcome columns</a:t>
            </a:r>
            <a:endParaRPr lang="en-US" sz="2000" dirty="0"/>
          </a:p>
        </p:txBody>
      </p:sp>
      <p:sp>
        <p:nvSpPr>
          <p:cNvPr id="8" name="Text 5"/>
          <p:cNvSpPr txBox="1"/>
          <p:nvPr/>
        </p:nvSpPr>
        <p:spPr>
          <a:xfrm>
            <a:off x="914400" y="2514600"/>
            <a:ext cx="4663440" cy="822960"/>
          </a:xfrm>
          <a:prstGeom prst="rect">
            <a:avLst/>
          </a:prstGeom>
          <a:noFill/>
          <a:ln/>
        </p:spPr>
        <p:txBody>
          <a:bodyPr wrap="square" lIns="0" tIns="0" rIns="0" bIns="0" rtlCol="0" anchor="t"/>
          <a:lstStyle/>
          <a:p>
            <a:pPr indent="0" marL="0">
              <a:buNone/>
            </a:pPr>
            <a:r>
              <a:rPr lang="en-US" sz="4400" b="1" dirty="0">
                <a:solidFill>
                  <a:schemeClr val="accent2"/>
                </a:solidFill>
                <a:latin typeface="Calibri" pitchFamily="34" charset="0"/>
                <a:ea typeface="Calibri" pitchFamily="34" charset="-122"/>
                <a:cs typeface="Calibri" pitchFamily="34" charset="-120"/>
              </a:rPr>
              <a:t>99.7%</a:t>
            </a:r>
            <a:endParaRPr lang="en-US" sz="4400" dirty="0"/>
          </a:p>
        </p:txBody>
      </p:sp>
      <p:sp>
        <p:nvSpPr>
          <p:cNvPr id="9" name="Text 6"/>
          <p:cNvSpPr txBox="1"/>
          <p:nvPr/>
        </p:nvSpPr>
        <p:spPr>
          <a:xfrm>
            <a:off x="914400" y="3291840"/>
            <a:ext cx="4663440" cy="365760"/>
          </a:xfrm>
          <a:prstGeom prst="rect">
            <a:avLst/>
          </a:prstGeom>
          <a:noFill/>
          <a:ln/>
        </p:spPr>
        <p:txBody>
          <a:bodyPr wrap="square" lIns="0" tIns="0" rIns="0" bIns="0" rtlCol="0" anchor="t"/>
          <a:lstStyle/>
          <a:p>
            <a:pPr indent="0" marL="0">
              <a:buNone/>
            </a:pPr>
            <a:r>
              <a:rPr lang="en-US" sz="1500" dirty="0">
                <a:solidFill>
                  <a:schemeClr val="tx1"/>
                </a:solidFill>
              </a:rPr>
              <a:t>of outcomes follow from "pledged ≥ goal"</a:t>
            </a:r>
            <a:endParaRPr lang="en-US" sz="1500" dirty="0"/>
          </a:p>
        </p:txBody>
      </p:sp>
      <p:sp>
        <p:nvSpPr>
          <p:cNvPr id="10" name="Text 7"/>
          <p:cNvSpPr txBox="1"/>
          <p:nvPr/>
        </p:nvSpPr>
        <p:spPr>
          <a:xfrm>
            <a:off x="914400" y="3886200"/>
            <a:ext cx="4663440" cy="164592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pledged, usd pledged, usd_pledged_real</a:t>
            </a:r>
            <a:endParaRPr lang="en-US" sz="1500" dirty="0"/>
          </a:p>
          <a:p>
            <a:pPr marL="228600" indent="-228600">
              <a:spcAft>
                <a:spcPts val="800"/>
              </a:spcAft>
              <a:buSzPct val="100000"/>
              <a:buChar char="•"/>
            </a:pPr>
            <a:r>
              <a:rPr lang="en-US" sz="1500" dirty="0">
                <a:solidFill>
                  <a:schemeClr val="tx1"/>
                </a:solidFill>
              </a:rPr>
              <a:t>backers</a:t>
            </a:r>
            <a:endParaRPr lang="en-US" sz="1500" dirty="0"/>
          </a:p>
          <a:p>
            <a:pPr marL="228600" indent="-228600">
              <a:spcAft>
                <a:spcPts val="800"/>
              </a:spcAft>
              <a:buSzPct val="100000"/>
              <a:buChar char="•"/>
            </a:pPr>
            <a:r>
              <a:rPr lang="en-US" sz="1500" dirty="0">
                <a:solidFill>
                  <a:schemeClr val="tx1"/>
                </a:solidFill>
              </a:rPr>
              <a:t>state (the raw label)</a:t>
            </a:r>
            <a:endParaRPr lang="en-US" sz="1500" dirty="0"/>
          </a:p>
        </p:txBody>
      </p:sp>
      <p:sp>
        <p:nvSpPr>
          <p:cNvPr id="11" name="hidden leak card"/>
          <p:cNvSpPr/>
          <p:nvPr/>
        </p:nvSpPr>
        <p:spPr>
          <a:xfrm>
            <a:off x="6245352" y="1783080"/>
            <a:ext cx="5394960" cy="4114800"/>
          </a:xfrm>
          <a:prstGeom prst="roundRect">
            <a:avLst>
              <a:gd name="adj" fmla="val 2667"/>
            </a:avLst>
          </a:prstGeom>
          <a:solidFill>
            <a:schemeClr val="bg1"/>
          </a:solidFill>
          <a:ln w="12700">
            <a:solidFill>
              <a:srgbClr val="F5F7F6"/>
            </a:solidFill>
            <a:prstDash val="solid"/>
          </a:ln>
          <a:effectLst>
            <a:outerShdw sx="100000" sy="100000" kx="0" ky="0" algn="bl" rotWithShape="0" blurRad="101600" dist="25400" dir="5400000">
              <a:srgbClr val="000000">
                <a:alpha val="12000"/>
              </a:srgbClr>
            </a:outerShdw>
          </a:effectLst>
        </p:spPr>
      </p:sp>
      <p:sp>
        <p:nvSpPr>
          <p:cNvPr id="12" name="Text 9"/>
          <p:cNvSpPr txBox="1"/>
          <p:nvPr/>
        </p:nvSpPr>
        <p:spPr>
          <a:xfrm>
            <a:off x="6611112" y="2011680"/>
            <a:ext cx="4663440" cy="411480"/>
          </a:xfrm>
          <a:prstGeom prst="rect">
            <a:avLst/>
          </a:prstGeom>
          <a:noFill/>
          <a:ln/>
        </p:spPr>
        <p:txBody>
          <a:bodyPr wrap="square" lIns="0" tIns="0" rIns="0" bIns="0" rtlCol="0" anchor="t"/>
          <a:lstStyle/>
          <a:p>
            <a:pPr indent="0" marL="0">
              <a:buNone/>
            </a:pPr>
            <a:r>
              <a:rPr lang="en-US" sz="2000" b="1" dirty="0">
                <a:solidFill>
                  <a:schemeClr val="tx2"/>
                </a:solidFill>
              </a:rPr>
              <a:t>Hidden: tags in the name</a:t>
            </a:r>
            <a:endParaRPr lang="en-US" sz="2000" dirty="0"/>
          </a:p>
        </p:txBody>
      </p:sp>
      <p:sp>
        <p:nvSpPr>
          <p:cNvPr id="13" name="Text 10"/>
          <p:cNvSpPr txBox="1"/>
          <p:nvPr/>
        </p:nvSpPr>
        <p:spPr>
          <a:xfrm>
            <a:off x="6611112" y="2514600"/>
            <a:ext cx="4663440" cy="822960"/>
          </a:xfrm>
          <a:prstGeom prst="rect">
            <a:avLst/>
          </a:prstGeom>
          <a:noFill/>
          <a:ln/>
        </p:spPr>
        <p:txBody>
          <a:bodyPr wrap="square" lIns="0" tIns="0" rIns="0" bIns="0" rtlCol="0" anchor="t"/>
          <a:lstStyle/>
          <a:p>
            <a:pPr indent="0" marL="0">
              <a:buNone/>
            </a:pPr>
            <a:r>
              <a:rPr lang="en-US" sz="4400" b="1" dirty="0">
                <a:solidFill>
                  <a:schemeClr val="accent2"/>
                </a:solidFill>
                <a:latin typeface="Calibri" pitchFamily="34" charset="0"/>
                <a:ea typeface="Calibri" pitchFamily="34" charset="-122"/>
                <a:cs typeface="Calibri" pitchFamily="34" charset="-120"/>
              </a:rPr>
              <a:t>24,135</a:t>
            </a:r>
            <a:endParaRPr lang="en-US" sz="4400" dirty="0"/>
          </a:p>
        </p:txBody>
      </p:sp>
      <p:sp>
        <p:nvSpPr>
          <p:cNvPr id="14" name="Text 11"/>
          <p:cNvSpPr txBox="1"/>
          <p:nvPr/>
        </p:nvSpPr>
        <p:spPr>
          <a:xfrm>
            <a:off x="6611112" y="3291840"/>
            <a:ext cx="4663440" cy="548640"/>
          </a:xfrm>
          <a:prstGeom prst="rect">
            <a:avLst/>
          </a:prstGeom>
          <a:noFill/>
          <a:ln/>
        </p:spPr>
        <p:txBody>
          <a:bodyPr wrap="square" lIns="0" tIns="0" rIns="0" bIns="0" rtlCol="0" anchor="t"/>
          <a:lstStyle/>
          <a:p>
            <a:pPr indent="0" marL="0">
              <a:buNone/>
            </a:pPr>
            <a:r>
              <a:rPr lang="en-US" sz="1500" dirty="0">
                <a:solidFill>
                  <a:schemeClr val="tx1"/>
                </a:solidFill>
              </a:rPr>
              <a:t>names ended in "(Canceled)" or "(Suspended)": 100% not funded</a:t>
            </a:r>
            <a:endParaRPr lang="en-US" sz="1500" dirty="0"/>
          </a:p>
        </p:txBody>
      </p:sp>
      <p:sp>
        <p:nvSpPr>
          <p:cNvPr id="15" name="Text 12"/>
          <p:cNvSpPr txBox="1"/>
          <p:nvPr/>
        </p:nvSpPr>
        <p:spPr>
          <a:xfrm>
            <a:off x="6611112" y="4023360"/>
            <a:ext cx="4663440" cy="164592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Stripped with a case-insensitive regex before name features</a:t>
            </a:r>
            <a:endParaRPr lang="en-US" sz="1500" dirty="0"/>
          </a:p>
          <a:p>
            <a:pPr marL="228600" indent="-228600">
              <a:spcAft>
                <a:spcPts val="800"/>
              </a:spcAft>
              <a:buSzPct val="100000"/>
              <a:buChar char="•"/>
            </a:pPr>
            <a:r>
              <a:rPr lang="en-US" sz="1500" dirty="0">
                <a:solidFill>
                  <a:schemeClr val="tx1"/>
                </a:solidFill>
              </a:rPr>
              <a:t>Residue accepted: ~120 renamed projects, 4 "(Cancelled)"</a:t>
            </a:r>
            <a:endParaRPr lang="en-US" sz="1500" dirty="0"/>
          </a:p>
          <a:p>
            <a:pPr marL="228600" indent="-228600">
              <a:spcAft>
                <a:spcPts val="800"/>
              </a:spcAft>
              <a:buSzPct val="100000"/>
              <a:buChar char="•"/>
            </a:pPr>
            <a:r>
              <a:rPr lang="en-US" sz="1500" dirty="0">
                <a:solidFill>
                  <a:schemeClr val="tx1"/>
                </a:solidFill>
              </a:rPr>
              <a:t>Name features weigh little (importance ≤ 0.008)</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chemeClr val="accent1"/>
                </a:solidFill>
              </a:rPr>
              <a:t>EDA · FUNDING GOAL</a:t>
            </a:r>
            <a:endParaRPr lang="en-US" sz="1200" dirty="0"/>
          </a:p>
        </p:txBody>
      </p:sp>
      <p:sp>
        <p:nvSpPr>
          <p:cNvPr id="3" name="Text 0"/>
          <p:cNvSpPr/>
          <p:nvPr>
            <p:ph idx="101" type="title" hasCustomPrompt="1"/>
          </p:nvPr>
        </p:nvSpPr>
        <p:spPr>
          <a:xfrm>
            <a:off x="548640" y="640080"/>
            <a:ext cx="11094415" cy="822960"/>
          </a:xfrm>
          <a:prstGeom prst="rect">
            <a:avLst/>
          </a:prstGeom>
          <a:noFill/>
          <a:ln/>
        </p:spPr>
        <p:txBody>
          <a:bodyPr wrap="square" lIns="0" tIns="0" rIns="0" bIns="0" rtlCol="0" anchor="t"/>
          <a:lstStyle/>
          <a:p>
            <a:pPr algn="l" indent="0" marL="0">
              <a:buNone/>
            </a:pPr>
            <a:r>
              <a:rPr lang="en-US" sz="3400" b="1" dirty="0">
                <a:solidFill>
                  <a:schemeClr val="tx2"/>
                </a:solidFill>
              </a:rPr>
              <a:t>Success falls by a similar step each time the goal doubles</a:t>
            </a:r>
            <a:endParaRPr lang="en-US" sz="3400" dirty="0"/>
          </a:p>
        </p:txBody>
      </p:sp>
      <p:sp>
        <p:nvSpPr>
          <p:cNvPr id="4" name="Text 0"/>
          <p:cNvSpPr/>
          <p:nvPr>
            <p:ph idx="102" type="body" hasCustomPrompt="1"/>
          </p:nvPr>
        </p:nvSpPr>
        <p:spPr>
          <a:xfrm>
            <a:off x="548640" y="6400800"/>
            <a:ext cx="10362895" cy="274320"/>
          </a:xfrm>
          <a:prstGeom prst="rect">
            <a:avLst/>
          </a:prstGeom>
          <a:noFill/>
          <a:ln/>
        </p:spPr>
        <p:txBody>
          <a:bodyPr wrap="square" lIns="0" tIns="0" rIns="0" bIns="0" rtlCol="0" anchor="ctr"/>
          <a:lstStyle/>
          <a:p>
            <a:pPr indent="0" marL="0">
              <a:buNone/>
            </a:pPr>
            <a:r>
              <a:rPr lang="en-US" sz="1000" dirty="0">
                <a:solidFill>
                  <a:schemeClr val="accent4"/>
                </a:solidFill>
              </a:rPr>
              <a:t>Success rate by goal in USD · all 372,293 projects · green: above the 36% average</a:t>
            </a:r>
            <a:endParaRPr lang="en-US" sz="1000" dirty="0"/>
          </a:p>
        </p:txBody>
      </p:sp>
      <p:graphicFrame>
        <p:nvGraphicFramePr>
          <p:cNvPr id="6" name="Success rate by funding goal" descr=""/>
          <p:cNvGraphicFramePr/>
          <p:nvPr/>
        </p:nvGraphicFramePr>
        <p:xfrm>
          <a:off x="548640" y="1645920"/>
          <a:ext cx="7498080" cy="4480560"/>
        </p:xfrm>
        <a:graphic xmlns:a="http://schemas.openxmlformats.org/drawingml/2006/main">
          <a:graphicData uri="http://schemas.openxmlformats.org/drawingml/2006/chart">
            <c:chart xmlns:c="http://schemas.openxmlformats.org/drawingml/2006/chart" r:id="rId1"/>
          </a:graphicData>
        </a:graphic>
      </p:graphicFrame>
      <p:sp>
        <p:nvSpPr>
          <p:cNvPr id="7" name="goal notes"/>
          <p:cNvSpPr/>
          <p:nvPr/>
        </p:nvSpPr>
        <p:spPr>
          <a:xfrm>
            <a:off x="8412480" y="1783080"/>
            <a:ext cx="3227832" cy="4206240"/>
          </a:xfrm>
          <a:prstGeom prst="roundRect">
            <a:avLst>
              <a:gd name="adj" fmla="val 3399"/>
            </a:avLst>
          </a:prstGeom>
          <a:solidFill>
            <a:schemeClr val="bg2"/>
          </a:solidFill>
          <a:ln w="12700">
            <a:solidFill>
              <a:srgbClr val="F5F7F6"/>
            </a:solidFill>
            <a:prstDash val="solid"/>
          </a:ln>
        </p:spPr>
      </p:sp>
      <p:sp>
        <p:nvSpPr>
          <p:cNvPr id="8" name="Text 4"/>
          <p:cNvSpPr txBox="1"/>
          <p:nvPr/>
        </p:nvSpPr>
        <p:spPr>
          <a:xfrm>
            <a:off x="8686800" y="2011680"/>
            <a:ext cx="2743200" cy="365760"/>
          </a:xfrm>
          <a:prstGeom prst="rect">
            <a:avLst/>
          </a:prstGeom>
          <a:noFill/>
          <a:ln/>
        </p:spPr>
        <p:txBody>
          <a:bodyPr wrap="square" lIns="0" tIns="0" rIns="0" bIns="0" rtlCol="0" anchor="t"/>
          <a:lstStyle/>
          <a:p>
            <a:pPr indent="0" marL="0">
              <a:buNone/>
            </a:pPr>
            <a:r>
              <a:rPr lang="en-US" sz="1700" b="1" dirty="0">
                <a:solidFill>
                  <a:schemeClr val="tx2"/>
                </a:solidFill>
              </a:rPr>
              <a:t>Feature choice</a:t>
            </a:r>
            <a:endParaRPr lang="en-US" sz="1700" dirty="0"/>
          </a:p>
        </p:txBody>
      </p:sp>
      <p:sp>
        <p:nvSpPr>
          <p:cNvPr id="9" name="Text 5"/>
          <p:cNvSpPr txBox="1"/>
          <p:nvPr/>
        </p:nvSpPr>
        <p:spPr>
          <a:xfrm>
            <a:off x="8686800" y="2423160"/>
            <a:ext cx="2743200" cy="1005840"/>
          </a:xfrm>
          <a:prstGeom prst="rect">
            <a:avLst/>
          </a:prstGeom>
          <a:noFill/>
          <a:ln/>
        </p:spPr>
        <p:txBody>
          <a:bodyPr wrap="square" lIns="0" tIns="0" rIns="0" bIns="0" rtlCol="0" anchor="t"/>
          <a:lstStyle/>
          <a:p>
            <a:pPr indent="0" marL="0">
              <a:buNone/>
            </a:pPr>
            <a:r>
              <a:rPr lang="en-US" sz="1400" dirty="0">
                <a:solidFill>
                  <a:schemeClr val="tx1"/>
                </a:solidFill>
              </a:rPr>
              <a:t>log_goal = log(1 + goal in USD). Goals run from $0.01 to $166M.</a:t>
            </a:r>
            <a:endParaRPr lang="en-US" sz="1400" dirty="0"/>
          </a:p>
        </p:txBody>
      </p:sp>
      <p:sp>
        <p:nvSpPr>
          <p:cNvPr id="10" name="Text 6"/>
          <p:cNvSpPr txBox="1"/>
          <p:nvPr/>
        </p:nvSpPr>
        <p:spPr>
          <a:xfrm>
            <a:off x="8686800" y="3520440"/>
            <a:ext cx="2743200" cy="365760"/>
          </a:xfrm>
          <a:prstGeom prst="rect">
            <a:avLst/>
          </a:prstGeom>
          <a:noFill/>
          <a:ln/>
        </p:spPr>
        <p:txBody>
          <a:bodyPr wrap="square" lIns="0" tIns="0" rIns="0" bIns="0" rtlCol="0" anchor="t"/>
          <a:lstStyle/>
          <a:p>
            <a:pPr indent="0" marL="0">
              <a:buNone/>
            </a:pPr>
            <a:r>
              <a:rPr lang="en-US" sz="1700" b="1" dirty="0">
                <a:solidFill>
                  <a:schemeClr val="tx2"/>
                </a:solidFill>
              </a:rPr>
              <a:t>Robustness</a:t>
            </a:r>
            <a:endParaRPr lang="en-US" sz="1700" dirty="0"/>
          </a:p>
        </p:txBody>
      </p:sp>
      <p:sp>
        <p:nvSpPr>
          <p:cNvPr id="11" name="Text 7"/>
          <p:cNvSpPr txBox="1"/>
          <p:nvPr/>
        </p:nvSpPr>
        <p:spPr>
          <a:xfrm>
            <a:off x="8686800" y="3931920"/>
            <a:ext cx="2743200" cy="1280160"/>
          </a:xfrm>
          <a:prstGeom prst="rect">
            <a:avLst/>
          </a:prstGeom>
          <a:noFill/>
          <a:ln/>
        </p:spPr>
        <p:txBody>
          <a:bodyPr wrap="square" lIns="0" tIns="0" rIns="0" bIns="0" rtlCol="0" anchor="t"/>
          <a:lstStyle/>
          <a:p>
            <a:pPr indent="0" marL="0">
              <a:buNone/>
            </a:pPr>
            <a:r>
              <a:rPr lang="en-US" sz="1400" dirty="0">
                <a:solidFill>
                  <a:schemeClr val="tx1"/>
                </a:solidFill>
              </a:rPr>
              <a:t>1,143 goals ≤ $10 (63% funded). Without goals under $100, up to $1k is still 49.2%.</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chemeClr val="accent1"/>
                </a:solidFill>
              </a:rPr>
              <a:t>EDA · CATEGORY</a:t>
            </a:r>
            <a:endParaRPr lang="en-US" sz="1200" dirty="0"/>
          </a:p>
        </p:txBody>
      </p:sp>
      <p:sp>
        <p:nvSpPr>
          <p:cNvPr id="3" name="Text 0"/>
          <p:cNvSpPr/>
          <p:nvPr>
            <p:ph idx="101" type="title" hasCustomPrompt="1"/>
          </p:nvPr>
        </p:nvSpPr>
        <p:spPr>
          <a:xfrm>
            <a:off x="548640" y="640080"/>
            <a:ext cx="11094415" cy="822960"/>
          </a:xfrm>
          <a:prstGeom prst="rect">
            <a:avLst/>
          </a:prstGeom>
          <a:noFill/>
          <a:ln/>
        </p:spPr>
        <p:txBody>
          <a:bodyPr wrap="square" lIns="0" tIns="0" rIns="0" bIns="0" rtlCol="0" anchor="t"/>
          <a:lstStyle/>
          <a:p>
            <a:pPr algn="l" indent="0" marL="0">
              <a:buNone/>
            </a:pPr>
            <a:r>
              <a:rPr lang="en-US" sz="3400" b="1" dirty="0">
                <a:solidFill>
                  <a:schemeClr val="tx2"/>
                </a:solidFill>
              </a:rPr>
              <a:t>Category matters, and not only through the goal</a:t>
            </a:r>
            <a:endParaRPr lang="en-US" sz="3400" dirty="0"/>
          </a:p>
        </p:txBody>
      </p:sp>
      <p:sp>
        <p:nvSpPr>
          <p:cNvPr id="4" name="Text 0"/>
          <p:cNvSpPr/>
          <p:nvPr>
            <p:ph idx="102" type="body" hasCustomPrompt="1"/>
          </p:nvPr>
        </p:nvSpPr>
        <p:spPr>
          <a:xfrm>
            <a:off x="548640" y="6400800"/>
            <a:ext cx="10362895" cy="274320"/>
          </a:xfrm>
          <a:prstGeom prst="rect">
            <a:avLst/>
          </a:prstGeom>
          <a:noFill/>
          <a:ln/>
        </p:spPr>
        <p:txBody>
          <a:bodyPr wrap="square" lIns="0" tIns="0" rIns="0" bIns="0" rtlCol="0" anchor="ctr"/>
          <a:lstStyle/>
          <a:p>
            <a:pPr indent="0" marL="0">
              <a:buNone/>
            </a:pPr>
            <a:r>
              <a:rPr lang="en-US" sz="1000" dirty="0">
                <a:solidFill>
                  <a:schemeClr val="accent4"/>
                </a:solidFill>
              </a:rPr>
              <a:t>All 15 main categories · the model uses the 159 sub-categories · green: above the 36% average</a:t>
            </a:r>
            <a:endParaRPr lang="en-US" sz="1000" dirty="0"/>
          </a:p>
        </p:txBody>
      </p:sp>
      <p:graphicFrame>
        <p:nvGraphicFramePr>
          <p:cNvPr id="6" name="Success rate by main category" descr=""/>
          <p:cNvGraphicFramePr/>
          <p:nvPr/>
        </p:nvGraphicFramePr>
        <p:xfrm>
          <a:off x="548640" y="1600200"/>
          <a:ext cx="6766560" cy="4617720"/>
        </p:xfrm>
        <a:graphic xmlns:a="http://schemas.openxmlformats.org/drawingml/2006/main">
          <a:graphicData uri="http://schemas.openxmlformats.org/drawingml/2006/chart">
            <c:chart xmlns:c="http://schemas.openxmlformats.org/drawingml/2006/chart" r:id="rId1"/>
          </a:graphicData>
        </a:graphic>
      </p:graphicFrame>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680960" y="1783080"/>
          <a:ext cx="3959352" cy="914400"/>
        </p:xfrm>
        <a:graphic>
          <a:graphicData uri="http://schemas.openxmlformats.org/drawingml/2006/table">
            <a:tbl>
              <a:tblPr/>
              <a:tblGrid>
                <a:gridCol w="2587752"/>
                <a:gridCol w="1371600"/>
              </a:tblGrid>
              <a:tr h="438912">
                <a:tc>
                  <a:txBody>
                    <a:bodyPr/>
                    <a:lstStyle/>
                    <a:p>
                      <a:pPr algn="l" indent="0" marL="0">
                        <a:buNone/>
                      </a:pPr>
                      <a:r>
                        <a:rPr lang="en-US" sz="1400" b="1" dirty="0">
                          <a:solidFill>
                            <a:schemeClr val="bg1"/>
                          </a:solidFill>
                          <a:latin typeface="Calibri" pitchFamily="34" charset="0"/>
                          <a:ea typeface="Calibri" pitchFamily="34" charset="-122"/>
                          <a:cs typeface="Calibri" pitchFamily="34" charset="-120"/>
                        </a:rPr>
                        <a:t>Goal $1k to $5k</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funded</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tx2"/>
                    </a:solidFill>
                  </a:tcPr>
                </a:tc>
              </a:tr>
              <a:tr h="438912">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Dance</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69%</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r>
              <a:tr h="438912">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Theater</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68%</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r>
              <a:tr h="438912">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Technology</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26%</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r>
              <a:tr h="438912">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Crafts</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r>
            </a:tbl>
          </a:graphicData>
        </a:graphic>
      </p:graphicFrame>
      <p:sp>
        <p:nvSpPr>
          <p:cNvPr id="8" name="Text 3"/>
          <p:cNvSpPr txBox="1"/>
          <p:nvPr/>
        </p:nvSpPr>
        <p:spPr>
          <a:xfrm>
            <a:off x="7680960" y="4206240"/>
            <a:ext cx="3959352" cy="1097280"/>
          </a:xfrm>
          <a:prstGeom prst="rect">
            <a:avLst/>
          </a:prstGeom>
          <a:noFill/>
          <a:ln/>
        </p:spPr>
        <p:txBody>
          <a:bodyPr wrap="square" lIns="0" tIns="0" rIns="0" bIns="0" rtlCol="0" anchor="t"/>
          <a:lstStyle/>
          <a:p>
            <a:pPr indent="0" marL="0">
              <a:buNone/>
            </a:pPr>
            <a:r>
              <a:rPr lang="en-US" sz="1400" dirty="0">
                <a:solidFill>
                  <a:schemeClr val="tx1"/>
                </a:solidFill>
              </a:rPr>
              <a:t>Median goal: Technology $20,000, Dance $3,300, Crafts $2,328: low goal, still low success.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chemeClr val="accent1"/>
                </a:solidFill>
              </a:rPr>
              <a:t>EDA · CAMPAIGN LENGTH WITHIN GOAL RANGE</a:t>
            </a:r>
            <a:endParaRPr lang="en-US" sz="1200" dirty="0"/>
          </a:p>
        </p:txBody>
      </p:sp>
      <p:sp>
        <p:nvSpPr>
          <p:cNvPr id="3" name="Text 0"/>
          <p:cNvSpPr/>
          <p:nvPr>
            <p:ph idx="101" type="title" hasCustomPrompt="1"/>
          </p:nvPr>
        </p:nvSpPr>
        <p:spPr>
          <a:xfrm>
            <a:off x="548640" y="640080"/>
            <a:ext cx="11094415" cy="822960"/>
          </a:xfrm>
          <a:prstGeom prst="rect">
            <a:avLst/>
          </a:prstGeom>
          <a:noFill/>
          <a:ln/>
        </p:spPr>
        <p:txBody>
          <a:bodyPr wrap="square" lIns="0" tIns="0" rIns="0" bIns="0" rtlCol="0" anchor="t"/>
          <a:lstStyle/>
          <a:p>
            <a:pPr algn="l" indent="0" marL="0">
              <a:buNone/>
            </a:pPr>
            <a:r>
              <a:rPr lang="en-US" sz="3400" b="1" dirty="0">
                <a:solidFill>
                  <a:schemeClr val="tx2"/>
                </a:solidFill>
              </a:rPr>
              <a:t>Compare lengths at the same goal size</a:t>
            </a:r>
            <a:endParaRPr lang="en-US" sz="3400" dirty="0"/>
          </a:p>
        </p:txBody>
      </p:sp>
      <p:sp>
        <p:nvSpPr>
          <p:cNvPr id="4" name="Text 0"/>
          <p:cNvSpPr/>
          <p:nvPr>
            <p:ph idx="102" type="body" hasCustomPrompt="1"/>
          </p:nvPr>
        </p:nvSpPr>
        <p:spPr>
          <a:xfrm>
            <a:off x="548640" y="6400800"/>
            <a:ext cx="10362895" cy="274320"/>
          </a:xfrm>
          <a:prstGeom prst="rect">
            <a:avLst/>
          </a:prstGeom>
          <a:noFill/>
          <a:ln/>
        </p:spPr>
        <p:txBody>
          <a:bodyPr wrap="square" lIns="0" tIns="0" rIns="0" bIns="0" rtlCol="0" anchor="ctr"/>
          <a:lstStyle/>
          <a:p>
            <a:pPr indent="0" marL="0">
              <a:buNone/>
            </a:pPr>
            <a:r>
              <a:rPr lang="en-US" sz="1000" dirty="0">
                <a:solidFill>
                  <a:schemeClr val="accent4"/>
                </a:solidFill>
              </a:rPr>
              <a:t>Success rate by goal range (rows) and campaign length in days (columns) · colour: coral below, green above the average</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2130552"/>
                <a:gridCol w="1280160"/>
                <a:gridCol w="1280160"/>
                <a:gridCol w="1280160"/>
                <a:gridCol w="1280160"/>
                <a:gridCol w="1280160"/>
                <a:gridCol w="1280160"/>
                <a:gridCol w="1280160"/>
              </a:tblGrid>
              <a:tr h="640080">
                <a:tc>
                  <a:txBody>
                    <a:bodyPr/>
                    <a:lstStyle/>
                    <a:p>
                      <a:pPr algn="l" indent="0" marL="0">
                        <a:buNone/>
                      </a:pPr>
                      <a:r>
                        <a:rPr lang="en-US" sz="1600" b="1" dirty="0">
                          <a:solidFill>
                            <a:schemeClr val="bg1"/>
                          </a:solidFill>
                          <a:latin typeface="Calibri" pitchFamily="34" charset="0"/>
                          <a:ea typeface="Calibri" pitchFamily="34" charset="-122"/>
                          <a:cs typeface="Calibri" pitchFamily="34" charset="-120"/>
                        </a:rPr>
                        <a:t>Goal \ days</a:t>
                      </a:r>
                      <a:endParaRPr lang="en-US" sz="16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tx2"/>
                    </a:solidFill>
                  </a:tcPr>
                </a:tc>
                <a:tc>
                  <a:txBody>
                    <a:bodyPr/>
                    <a:lstStyle/>
                    <a:p>
                      <a:pPr algn="ctr" indent="0" marL="0">
                        <a:buNone/>
                      </a:pPr>
                      <a:r>
                        <a:rPr lang="en-US" sz="1600" b="1" dirty="0">
                          <a:solidFill>
                            <a:schemeClr val="bg1"/>
                          </a:solidFill>
                          <a:latin typeface="Calibri" pitchFamily="34" charset="0"/>
                          <a:ea typeface="Calibri" pitchFamily="34" charset="-122"/>
                          <a:cs typeface="Calibri" pitchFamily="34" charset="-120"/>
                        </a:rPr>
                        <a:t>1-14</a:t>
                      </a:r>
                      <a:endParaRPr lang="en-US" sz="16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tx2"/>
                    </a:solidFill>
                  </a:tcPr>
                </a:tc>
                <a:tc>
                  <a:txBody>
                    <a:bodyPr/>
                    <a:lstStyle/>
                    <a:p>
                      <a:pPr algn="ctr" indent="0" marL="0">
                        <a:buNone/>
                      </a:pPr>
                      <a:r>
                        <a:rPr lang="en-US" sz="1600" b="1" dirty="0">
                          <a:solidFill>
                            <a:schemeClr val="bg1"/>
                          </a:solidFill>
                          <a:latin typeface="Calibri" pitchFamily="34" charset="0"/>
                          <a:ea typeface="Calibri" pitchFamily="34" charset="-122"/>
                          <a:cs typeface="Calibri" pitchFamily="34" charset="-120"/>
                        </a:rPr>
                        <a:t>15-29</a:t>
                      </a:r>
                      <a:endParaRPr lang="en-US" sz="16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tx2"/>
                    </a:solidFill>
                  </a:tcPr>
                </a:tc>
                <a:tc>
                  <a:txBody>
                    <a:bodyPr/>
                    <a:lstStyle/>
                    <a:p>
                      <a:pPr algn="ctr" indent="0" marL="0">
                        <a:buNone/>
                      </a:pPr>
                      <a:r>
                        <a:rPr lang="en-US" sz="1600" b="1" dirty="0">
                          <a:solidFill>
                            <a:schemeClr val="bg1"/>
                          </a:solidFill>
                          <a:latin typeface="Calibri" pitchFamily="34" charset="0"/>
                          <a:ea typeface="Calibri" pitchFamily="34" charset="-122"/>
                          <a:cs typeface="Calibri" pitchFamily="34" charset="-120"/>
                        </a:rPr>
                        <a:t>30</a:t>
                      </a:r>
                      <a:endParaRPr lang="en-US" sz="16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tx2"/>
                    </a:solidFill>
                  </a:tcPr>
                </a:tc>
                <a:tc>
                  <a:txBody>
                    <a:bodyPr/>
                    <a:lstStyle/>
                    <a:p>
                      <a:pPr algn="ctr" indent="0" marL="0">
                        <a:buNone/>
                      </a:pPr>
                      <a:r>
                        <a:rPr lang="en-US" sz="1600" b="1" dirty="0">
                          <a:solidFill>
                            <a:schemeClr val="bg1"/>
                          </a:solidFill>
                          <a:latin typeface="Calibri" pitchFamily="34" charset="0"/>
                          <a:ea typeface="Calibri" pitchFamily="34" charset="-122"/>
                          <a:cs typeface="Calibri" pitchFamily="34" charset="-120"/>
                        </a:rPr>
                        <a:t>31-44</a:t>
                      </a:r>
                      <a:endParaRPr lang="en-US" sz="16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tx2"/>
                    </a:solidFill>
                  </a:tcPr>
                </a:tc>
                <a:tc>
                  <a:txBody>
                    <a:bodyPr/>
                    <a:lstStyle/>
                    <a:p>
                      <a:pPr algn="ctr" indent="0" marL="0">
                        <a:buNone/>
                      </a:pPr>
                      <a:r>
                        <a:rPr lang="en-US" sz="1600" b="1" dirty="0">
                          <a:solidFill>
                            <a:schemeClr val="bg1"/>
                          </a:solidFill>
                          <a:latin typeface="Calibri" pitchFamily="34" charset="0"/>
                          <a:ea typeface="Calibri" pitchFamily="34" charset="-122"/>
                          <a:cs typeface="Calibri" pitchFamily="34" charset="-120"/>
                        </a:rPr>
                        <a:t>45-59</a:t>
                      </a:r>
                      <a:endParaRPr lang="en-US" sz="16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tx2"/>
                    </a:solidFill>
                  </a:tcPr>
                </a:tc>
                <a:tc>
                  <a:txBody>
                    <a:bodyPr/>
                    <a:lstStyle/>
                    <a:p>
                      <a:pPr algn="ctr" indent="0" marL="0">
                        <a:buNone/>
                      </a:pPr>
                      <a:r>
                        <a:rPr lang="en-US" sz="1600" b="1" dirty="0">
                          <a:solidFill>
                            <a:schemeClr val="bg1"/>
                          </a:solidFill>
                          <a:latin typeface="Calibri" pitchFamily="34" charset="0"/>
                          <a:ea typeface="Calibri" pitchFamily="34" charset="-122"/>
                          <a:cs typeface="Calibri" pitchFamily="34" charset="-120"/>
                        </a:rPr>
                        <a:t>60</a:t>
                      </a:r>
                      <a:endParaRPr lang="en-US" sz="16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tx2"/>
                    </a:solidFill>
                  </a:tcPr>
                </a:tc>
                <a:tc>
                  <a:txBody>
                    <a:bodyPr/>
                    <a:lstStyle/>
                    <a:p>
                      <a:pPr algn="ctr" indent="0" marL="0">
                        <a:buNone/>
                      </a:pPr>
                      <a:r>
                        <a:rPr lang="en-US" sz="1600" b="1" dirty="0">
                          <a:solidFill>
                            <a:schemeClr val="bg1"/>
                          </a:solidFill>
                          <a:latin typeface="Calibri" pitchFamily="34" charset="0"/>
                          <a:ea typeface="Calibri" pitchFamily="34" charset="-122"/>
                          <a:cs typeface="Calibri" pitchFamily="34" charset="-120"/>
                        </a:rPr>
                        <a:t>61-92</a:t>
                      </a:r>
                      <a:endParaRPr lang="en-US" sz="16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tx2"/>
                    </a:solidFill>
                  </a:tcPr>
                </a:tc>
              </a:tr>
              <a:tr h="640080">
                <a:tc>
                  <a:txBody>
                    <a:bodyPr/>
                    <a:lstStyle/>
                    <a:p>
                      <a:pPr algn="l" indent="0" marL="0">
                        <a:buNone/>
                      </a:pPr>
                      <a:r>
                        <a:rPr lang="en-US" sz="1600" b="1" dirty="0">
                          <a:solidFill>
                            <a:schemeClr val="tx1"/>
                          </a:solidFill>
                          <a:latin typeface="Calibri" pitchFamily="34" charset="0"/>
                          <a:ea typeface="Calibri" pitchFamily="34" charset="-122"/>
                          <a:cs typeface="Calibri" pitchFamily="34" charset="-120"/>
                        </a:rPr>
                        <a:t>up to 1k</a:t>
                      </a:r>
                      <a:endParaRPr lang="en-US" sz="16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latin typeface="Calibri" pitchFamily="34" charset="0"/>
                          <a:ea typeface="Calibri" pitchFamily="34" charset="-122"/>
                          <a:cs typeface="Calibri" pitchFamily="34" charset="-120"/>
                        </a:rPr>
                        <a:t>59%</a:t>
                      </a:r>
                      <a:endParaRPr lang="en-US" sz="16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rgbClr val="92D7B4"/>
                    </a:solidFill>
                  </a:tcPr>
                </a:tc>
                <a:tc>
                  <a:txBody>
                    <a:bodyPr/>
                    <a:lstStyle/>
                    <a:p>
                      <a:pPr algn="ctr" indent="0" marL="0">
                        <a:buNone/>
                      </a:pPr>
                      <a:r>
                        <a:rPr lang="en-US" sz="1600" dirty="0">
                          <a:solidFill>
                            <a:schemeClr val="tx1"/>
                          </a:solidFill>
                          <a:latin typeface="Calibri" pitchFamily="34" charset="0"/>
                          <a:ea typeface="Calibri" pitchFamily="34" charset="-122"/>
                          <a:cs typeface="Calibri" pitchFamily="34" charset="-120"/>
                        </a:rPr>
                        <a:t>59%</a:t>
                      </a:r>
                      <a:endParaRPr lang="en-US" sz="16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rgbClr val="94D8B5"/>
                    </a:solidFill>
                  </a:tcPr>
                </a:tc>
                <a:tc>
                  <a:txBody>
                    <a:bodyPr/>
                    <a:lstStyle/>
                    <a:p>
                      <a:pPr algn="ctr" indent="0" marL="0">
                        <a:buNone/>
                      </a:pPr>
                      <a:r>
                        <a:rPr lang="en-US" sz="1600" b="1" dirty="0">
                          <a:solidFill>
                            <a:schemeClr val="tx1"/>
                          </a:solidFill>
                          <a:latin typeface="Calibri" pitchFamily="34" charset="0"/>
                          <a:ea typeface="Calibri" pitchFamily="34" charset="-122"/>
                          <a:cs typeface="Calibri" pitchFamily="34" charset="-120"/>
                        </a:rPr>
                        <a:t>43%</a:t>
                      </a:r>
                      <a:endParaRPr lang="en-US" sz="16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rgbClr val="DFF3E9"/>
                    </a:solidFill>
                  </a:tcPr>
                </a:tc>
                <a:tc>
                  <a:txBody>
                    <a:bodyPr/>
                    <a:lstStyle/>
                    <a:p>
                      <a:pPr algn="ctr" indent="0" marL="0">
                        <a:buNone/>
                      </a:pPr>
                      <a:r>
                        <a:rPr lang="en-US" sz="1600" dirty="0">
                          <a:solidFill>
                            <a:schemeClr val="tx1"/>
                          </a:solidFill>
                          <a:latin typeface="Calibri" pitchFamily="34" charset="0"/>
                          <a:ea typeface="Calibri" pitchFamily="34" charset="-122"/>
                          <a:cs typeface="Calibri" pitchFamily="34" charset="-120"/>
                        </a:rPr>
                        <a:t>57%</a:t>
                      </a:r>
                      <a:endParaRPr lang="en-US" sz="16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rgbClr val="9DDBBC"/>
                    </a:solidFill>
                  </a:tcPr>
                </a:tc>
                <a:tc>
                  <a:txBody>
                    <a:bodyPr/>
                    <a:lstStyle/>
                    <a:p>
                      <a:pPr algn="ctr" indent="0" marL="0">
                        <a:buNone/>
                      </a:pPr>
                      <a:r>
                        <a:rPr lang="en-US" sz="1600" dirty="0">
                          <a:solidFill>
                            <a:schemeClr val="tx1"/>
                          </a:solidFill>
                          <a:latin typeface="Calibri" pitchFamily="34" charset="0"/>
                          <a:ea typeface="Calibri" pitchFamily="34" charset="-122"/>
                          <a:cs typeface="Calibri" pitchFamily="34" charset="-120"/>
                        </a:rPr>
                        <a:t>46%</a:t>
                      </a:r>
                      <a:endParaRPr lang="en-US" sz="16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rgbClr val="CFEDDE"/>
                    </a:solidFill>
                  </a:tcPr>
                </a:tc>
                <a:tc>
                  <a:txBody>
                    <a:bodyPr/>
                    <a:lstStyle/>
                    <a:p>
                      <a:pPr algn="ctr" indent="0" marL="0">
                        <a:buNone/>
                      </a:pPr>
                      <a:r>
                        <a:rPr lang="en-US" sz="1600" b="1" dirty="0">
                          <a:solidFill>
                            <a:schemeClr val="tx1"/>
                          </a:solidFill>
                          <a:latin typeface="Calibri" pitchFamily="34" charset="0"/>
                          <a:ea typeface="Calibri" pitchFamily="34" charset="-122"/>
                          <a:cs typeface="Calibri" pitchFamily="34" charset="-120"/>
                        </a:rPr>
                        <a:t>35%</a:t>
                      </a:r>
                      <a:endParaRPr lang="en-US" sz="16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rgbClr val="FFFDFC"/>
                    </a:solidFill>
                  </a:tcPr>
                </a:tc>
                <a:tc>
                  <a:txBody>
                    <a:bodyPr/>
                    <a:lstStyle/>
                    <a:p>
                      <a:pPr algn="ctr" indent="0" marL="0">
                        <a:buNone/>
                      </a:pPr>
                      <a:r>
                        <a:rPr lang="en-US" sz="1600" dirty="0">
                          <a:solidFill>
                            <a:schemeClr val="tx1"/>
                          </a:solidFill>
                          <a:latin typeface="Calibri" pitchFamily="34" charset="0"/>
                          <a:ea typeface="Calibri" pitchFamily="34" charset="-122"/>
                          <a:cs typeface="Calibri" pitchFamily="34" charset="-120"/>
                        </a:rPr>
                        <a:t>49%</a:t>
                      </a:r>
                      <a:endParaRPr lang="en-US" sz="16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rgbClr val="C5EAD7"/>
                    </a:solidFill>
                  </a:tcPr>
                </a:tc>
              </a:tr>
              <a:tr h="640080">
                <a:tc>
                  <a:txBody>
                    <a:bodyPr/>
                    <a:lstStyle/>
                    <a:p>
                      <a:pPr algn="l" indent="0" marL="0">
                        <a:buNone/>
                      </a:pPr>
                      <a:r>
                        <a:rPr lang="en-US" sz="1600" b="1" dirty="0">
                          <a:solidFill>
                            <a:schemeClr val="tx1"/>
                          </a:solidFill>
                          <a:latin typeface="Calibri" pitchFamily="34" charset="0"/>
                          <a:ea typeface="Calibri" pitchFamily="34" charset="-122"/>
                          <a:cs typeface="Calibri" pitchFamily="34" charset="-120"/>
                        </a:rPr>
                        <a:t>1k-5k</a:t>
                      </a:r>
                      <a:endParaRPr lang="en-US" sz="16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latin typeface="Calibri" pitchFamily="34" charset="0"/>
                          <a:ea typeface="Calibri" pitchFamily="34" charset="-122"/>
                          <a:cs typeface="Calibri" pitchFamily="34" charset="-120"/>
                        </a:rPr>
                        <a:t>46%</a:t>
                      </a:r>
                      <a:endParaRPr lang="en-US" sz="16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rgbClr val="D2EEE0"/>
                    </a:solidFill>
                  </a:tcPr>
                </a:tc>
                <a:tc>
                  <a:txBody>
                    <a:bodyPr/>
                    <a:lstStyle/>
                    <a:p>
                      <a:pPr algn="ctr" indent="0" marL="0">
                        <a:buNone/>
                      </a:pPr>
                      <a:r>
                        <a:rPr lang="en-US" sz="1600" dirty="0">
                          <a:solidFill>
                            <a:schemeClr val="tx1"/>
                          </a:solidFill>
                          <a:latin typeface="Calibri" pitchFamily="34" charset="0"/>
                          <a:ea typeface="Calibri" pitchFamily="34" charset="-122"/>
                          <a:cs typeface="Calibri" pitchFamily="34" charset="-120"/>
                        </a:rPr>
                        <a:t>54%</a:t>
                      </a:r>
                      <a:endParaRPr lang="en-US" sz="16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rgbClr val="ACE1C6"/>
                    </a:solidFill>
                  </a:tcPr>
                </a:tc>
                <a:tc>
                  <a:txBody>
                    <a:bodyPr/>
                    <a:lstStyle/>
                    <a:p>
                      <a:pPr algn="ctr" indent="0" marL="0">
                        <a:buNone/>
                      </a:pPr>
                      <a:r>
                        <a:rPr lang="en-US" sz="1600" b="1" dirty="0">
                          <a:solidFill>
                            <a:schemeClr val="tx1"/>
                          </a:solidFill>
                          <a:latin typeface="Calibri" pitchFamily="34" charset="0"/>
                          <a:ea typeface="Calibri" pitchFamily="34" charset="-122"/>
                          <a:cs typeface="Calibri" pitchFamily="34" charset="-120"/>
                        </a:rPr>
                        <a:t>38%</a:t>
                      </a:r>
                      <a:endParaRPr lang="en-US" sz="16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rgbClr val="F6FCF9"/>
                    </a:solidFill>
                  </a:tcPr>
                </a:tc>
                <a:tc>
                  <a:txBody>
                    <a:bodyPr/>
                    <a:lstStyle/>
                    <a:p>
                      <a:pPr algn="ctr" indent="0" marL="0">
                        <a:buNone/>
                      </a:pPr>
                      <a:r>
                        <a:rPr lang="en-US" sz="1600" dirty="0">
                          <a:solidFill>
                            <a:schemeClr val="tx1"/>
                          </a:solidFill>
                          <a:latin typeface="Calibri" pitchFamily="34" charset="0"/>
                          <a:ea typeface="Calibri" pitchFamily="34" charset="-122"/>
                          <a:cs typeface="Calibri" pitchFamily="34" charset="-120"/>
                        </a:rPr>
                        <a:t>54%</a:t>
                      </a:r>
                      <a:endParaRPr lang="en-US" sz="16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rgbClr val="ACE1C6"/>
                    </a:solidFill>
                  </a:tcPr>
                </a:tc>
                <a:tc>
                  <a:txBody>
                    <a:bodyPr/>
                    <a:lstStyle/>
                    <a:p>
                      <a:pPr algn="ctr" indent="0" marL="0">
                        <a:buNone/>
                      </a:pPr>
                      <a:r>
                        <a:rPr lang="en-US" sz="1600" dirty="0">
                          <a:solidFill>
                            <a:schemeClr val="tx1"/>
                          </a:solidFill>
                          <a:latin typeface="Calibri" pitchFamily="34" charset="0"/>
                          <a:ea typeface="Calibri" pitchFamily="34" charset="-122"/>
                          <a:cs typeface="Calibri" pitchFamily="34" charset="-120"/>
                        </a:rPr>
                        <a:t>39%</a:t>
                      </a:r>
                      <a:endParaRPr lang="en-US" sz="16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rgbClr val="F1FAF6"/>
                    </a:solidFill>
                  </a:tcPr>
                </a:tc>
                <a:tc>
                  <a:txBody>
                    <a:bodyPr/>
                    <a:lstStyle/>
                    <a:p>
                      <a:pPr algn="ctr" indent="0" marL="0">
                        <a:buNone/>
                      </a:pPr>
                      <a:r>
                        <a:rPr lang="en-US" sz="1600" b="1" dirty="0">
                          <a:solidFill>
                            <a:schemeClr val="tx1"/>
                          </a:solidFill>
                          <a:latin typeface="Calibri" pitchFamily="34" charset="0"/>
                          <a:ea typeface="Calibri" pitchFamily="34" charset="-122"/>
                          <a:cs typeface="Calibri" pitchFamily="34" charset="-120"/>
                        </a:rPr>
                        <a:t>26%</a:t>
                      </a:r>
                      <a:endParaRPr lang="en-US" sz="16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rgbClr val="FCEBE6"/>
                    </a:solidFill>
                  </a:tcPr>
                </a:tc>
                <a:tc>
                  <a:txBody>
                    <a:bodyPr/>
                    <a:lstStyle/>
                    <a:p>
                      <a:pPr algn="ctr" indent="0" marL="0">
                        <a:buNone/>
                      </a:pPr>
                      <a:r>
                        <a:rPr lang="en-US" sz="1600" dirty="0">
                          <a:solidFill>
                            <a:schemeClr val="tx1"/>
                          </a:solidFill>
                          <a:latin typeface="Calibri" pitchFamily="34" charset="0"/>
                          <a:ea typeface="Calibri" pitchFamily="34" charset="-122"/>
                          <a:cs typeface="Calibri" pitchFamily="34" charset="-120"/>
                        </a:rPr>
                        <a:t>40%</a:t>
                      </a:r>
                      <a:endParaRPr lang="en-US" sz="16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rgbClr val="EAF7F1"/>
                    </a:solidFill>
                  </a:tcPr>
                </a:tc>
              </a:tr>
              <a:tr h="640080">
                <a:tc>
                  <a:txBody>
                    <a:bodyPr/>
                    <a:lstStyle/>
                    <a:p>
                      <a:pPr algn="l" indent="0" marL="0">
                        <a:buNone/>
                      </a:pPr>
                      <a:r>
                        <a:rPr lang="en-US" sz="1600" b="1" dirty="0">
                          <a:solidFill>
                            <a:schemeClr val="tx1"/>
                          </a:solidFill>
                          <a:latin typeface="Calibri" pitchFamily="34" charset="0"/>
                          <a:ea typeface="Calibri" pitchFamily="34" charset="-122"/>
                          <a:cs typeface="Calibri" pitchFamily="34" charset="-120"/>
                        </a:rPr>
                        <a:t>5k-25k</a:t>
                      </a:r>
                      <a:endParaRPr lang="en-US" sz="16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latin typeface="Calibri" pitchFamily="34" charset="0"/>
                          <a:ea typeface="Calibri" pitchFamily="34" charset="-122"/>
                          <a:cs typeface="Calibri" pitchFamily="34" charset="-120"/>
                        </a:rPr>
                        <a:t>28%</a:t>
                      </a:r>
                      <a:endParaRPr lang="en-US" sz="16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rgbClr val="FDEFEB"/>
                    </a:solidFill>
                  </a:tcPr>
                </a:tc>
                <a:tc>
                  <a:txBody>
                    <a:bodyPr/>
                    <a:lstStyle/>
                    <a:p>
                      <a:pPr algn="ctr" indent="0" marL="0">
                        <a:buNone/>
                      </a:pPr>
                      <a:r>
                        <a:rPr lang="en-US" sz="1600" dirty="0">
                          <a:solidFill>
                            <a:schemeClr val="tx1"/>
                          </a:solidFill>
                          <a:latin typeface="Calibri" pitchFamily="34" charset="0"/>
                          <a:ea typeface="Calibri" pitchFamily="34" charset="-122"/>
                          <a:cs typeface="Calibri" pitchFamily="34" charset="-120"/>
                        </a:rPr>
                        <a:t>42%</a:t>
                      </a:r>
                      <a:endParaRPr lang="en-US" sz="16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rgbClr val="E4F5ED"/>
                    </a:solidFill>
                  </a:tcPr>
                </a:tc>
                <a:tc>
                  <a:txBody>
                    <a:bodyPr/>
                    <a:lstStyle/>
                    <a:p>
                      <a:pPr algn="ctr" indent="0" marL="0">
                        <a:buNone/>
                      </a:pPr>
                      <a:r>
                        <a:rPr lang="en-US" sz="1600" b="1" dirty="0">
                          <a:solidFill>
                            <a:schemeClr val="tx1"/>
                          </a:solidFill>
                          <a:latin typeface="Calibri" pitchFamily="34" charset="0"/>
                          <a:ea typeface="Calibri" pitchFamily="34" charset="-122"/>
                          <a:cs typeface="Calibri" pitchFamily="34" charset="-120"/>
                        </a:rPr>
                        <a:t>29%</a:t>
                      </a:r>
                      <a:endParaRPr lang="en-US" sz="16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rgbClr val="FDF2EE"/>
                    </a:solidFill>
                  </a:tcPr>
                </a:tc>
                <a:tc>
                  <a:txBody>
                    <a:bodyPr/>
                    <a:lstStyle/>
                    <a:p>
                      <a:pPr algn="ctr" indent="0" marL="0">
                        <a:buNone/>
                      </a:pPr>
                      <a:r>
                        <a:rPr lang="en-US" sz="1600" dirty="0">
                          <a:solidFill>
                            <a:schemeClr val="tx1"/>
                          </a:solidFill>
                          <a:latin typeface="Calibri" pitchFamily="34" charset="0"/>
                          <a:ea typeface="Calibri" pitchFamily="34" charset="-122"/>
                          <a:cs typeface="Calibri" pitchFamily="34" charset="-120"/>
                        </a:rPr>
                        <a:t>43%</a:t>
                      </a:r>
                      <a:endParaRPr lang="en-US" sz="16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rgbClr val="DEF3E8"/>
                    </a:solidFill>
                  </a:tcPr>
                </a:tc>
                <a:tc>
                  <a:txBody>
                    <a:bodyPr/>
                    <a:lstStyle/>
                    <a:p>
                      <a:pPr algn="ctr" indent="0" marL="0">
                        <a:buNone/>
                      </a:pPr>
                      <a:r>
                        <a:rPr lang="en-US" sz="1600" dirty="0">
                          <a:solidFill>
                            <a:schemeClr val="tx1"/>
                          </a:solidFill>
                          <a:latin typeface="Calibri" pitchFamily="34" charset="0"/>
                          <a:ea typeface="Calibri" pitchFamily="34" charset="-122"/>
                          <a:cs typeface="Calibri" pitchFamily="34" charset="-120"/>
                        </a:rPr>
                        <a:t>29%</a:t>
                      </a:r>
                      <a:endParaRPr lang="en-US" sz="16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rgbClr val="FDF2EE"/>
                    </a:solidFill>
                  </a:tcPr>
                </a:tc>
                <a:tc>
                  <a:txBody>
                    <a:bodyPr/>
                    <a:lstStyle/>
                    <a:p>
                      <a:pPr algn="ctr" indent="0" marL="0">
                        <a:buNone/>
                      </a:pPr>
                      <a:r>
                        <a:rPr lang="en-US" sz="1600" b="1" dirty="0">
                          <a:solidFill>
                            <a:schemeClr val="tx1"/>
                          </a:solidFill>
                          <a:latin typeface="Calibri" pitchFamily="34" charset="0"/>
                          <a:ea typeface="Calibri" pitchFamily="34" charset="-122"/>
                          <a:cs typeface="Calibri" pitchFamily="34" charset="-120"/>
                        </a:rPr>
                        <a:t>18%</a:t>
                      </a:r>
                      <a:endParaRPr lang="en-US" sz="16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rgbClr val="FADBD1"/>
                    </a:solidFill>
                  </a:tcPr>
                </a:tc>
                <a:tc>
                  <a:txBody>
                    <a:bodyPr/>
                    <a:lstStyle/>
                    <a:p>
                      <a:pPr algn="ctr" indent="0" marL="0">
                        <a:buNone/>
                      </a:pPr>
                      <a:r>
                        <a:rPr lang="en-US" sz="1600" dirty="0">
                          <a:solidFill>
                            <a:schemeClr val="tx1"/>
                          </a:solidFill>
                          <a:latin typeface="Calibri" pitchFamily="34" charset="0"/>
                          <a:ea typeface="Calibri" pitchFamily="34" charset="-122"/>
                          <a:cs typeface="Calibri" pitchFamily="34" charset="-120"/>
                        </a:rPr>
                        <a:t>28%</a:t>
                      </a:r>
                      <a:endParaRPr lang="en-US" sz="16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rgbClr val="FDEFEA"/>
                    </a:solidFill>
                  </a:tcPr>
                </a:tc>
              </a:tr>
              <a:tr h="640080">
                <a:tc>
                  <a:txBody>
                    <a:bodyPr/>
                    <a:lstStyle/>
                    <a:p>
                      <a:pPr algn="l" indent="0" marL="0">
                        <a:buNone/>
                      </a:pPr>
                      <a:r>
                        <a:rPr lang="en-US" sz="1600" b="1" dirty="0">
                          <a:solidFill>
                            <a:schemeClr val="tx1"/>
                          </a:solidFill>
                          <a:latin typeface="Calibri" pitchFamily="34" charset="0"/>
                          <a:ea typeface="Calibri" pitchFamily="34" charset="-122"/>
                          <a:cs typeface="Calibri" pitchFamily="34" charset="-120"/>
                        </a:rPr>
                        <a:t>over 25k</a:t>
                      </a:r>
                      <a:endParaRPr lang="en-US" sz="16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rgbClr val="F7C6B6"/>
                    </a:solidFill>
                  </a:tcPr>
                </a:tc>
                <a:tc>
                  <a:txBody>
                    <a:bodyPr/>
                    <a:lstStyle/>
                    <a:p>
                      <a:pPr algn="ctr" indent="0" marL="0">
                        <a:buNone/>
                      </a:pPr>
                      <a:r>
                        <a:rPr lang="en-US" sz="1600" dirty="0">
                          <a:solidFill>
                            <a:schemeClr val="tx1"/>
                          </a:solidFill>
                          <a:latin typeface="Calibri" pitchFamily="34" charset="0"/>
                          <a:ea typeface="Calibri" pitchFamily="34" charset="-122"/>
                          <a:cs typeface="Calibri" pitchFamily="34" charset="-120"/>
                        </a:rPr>
                        <a:t>22%</a:t>
                      </a:r>
                      <a:endParaRPr lang="en-US" sz="16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rgbClr val="FBE2DA"/>
                    </a:solidFill>
                  </a:tcPr>
                </a:tc>
                <a:tc>
                  <a:txBody>
                    <a:bodyPr/>
                    <a:lstStyle/>
                    <a:p>
                      <a:pPr algn="ctr" indent="0" marL="0">
                        <a:buNone/>
                      </a:pPr>
                      <a:r>
                        <a:rPr lang="en-US" sz="1600" b="1" dirty="0">
                          <a:solidFill>
                            <a:schemeClr val="tx1"/>
                          </a:solidFill>
                          <a:latin typeface="Calibri" pitchFamily="34" charset="0"/>
                          <a:ea typeface="Calibri" pitchFamily="34" charset="-122"/>
                          <a:cs typeface="Calibri" pitchFamily="34" charset="-120"/>
                        </a:rPr>
                        <a:t>14%</a:t>
                      </a:r>
                      <a:endParaRPr lang="en-US" sz="16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rgbClr val="F9D3C7"/>
                    </a:solidFill>
                  </a:tcPr>
                </a:tc>
                <a:tc>
                  <a:txBody>
                    <a:bodyPr/>
                    <a:lstStyle/>
                    <a:p>
                      <a:pPr algn="ctr" indent="0" marL="0">
                        <a:buNone/>
                      </a:pPr>
                      <a:r>
                        <a:rPr lang="en-US" sz="1600" dirty="0">
                          <a:solidFill>
                            <a:schemeClr val="tx1"/>
                          </a:solidFill>
                          <a:latin typeface="Calibri" pitchFamily="34" charset="0"/>
                          <a:ea typeface="Calibri" pitchFamily="34" charset="-122"/>
                          <a:cs typeface="Calibri" pitchFamily="34" charset="-120"/>
                        </a:rPr>
                        <a:t>26%</a:t>
                      </a:r>
                      <a:endParaRPr lang="en-US" sz="16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rgbClr val="FCEBE6"/>
                    </a:solidFill>
                  </a:tcPr>
                </a:tc>
                <a:tc>
                  <a:txBody>
                    <a:bodyPr/>
                    <a:lstStyle/>
                    <a:p>
                      <a:pPr algn="ctr" indent="0" marL="0">
                        <a:buNone/>
                      </a:pPr>
                      <a:r>
                        <a:rPr lang="en-US" sz="1600" dirty="0">
                          <a:solidFill>
                            <a:schemeClr val="tx1"/>
                          </a:solidFill>
                          <a:latin typeface="Calibri" pitchFamily="34" charset="0"/>
                          <a:ea typeface="Calibri" pitchFamily="34" charset="-122"/>
                          <a:cs typeface="Calibri" pitchFamily="34" charset="-120"/>
                        </a:rPr>
                        <a:t>15%</a:t>
                      </a:r>
                      <a:endParaRPr lang="en-US" sz="16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rgbClr val="F9D5CA"/>
                    </a:solidFill>
                  </a:tcPr>
                </a:tc>
                <a:tc>
                  <a:txBody>
                    <a:bodyPr/>
                    <a:lstStyle/>
                    <a:p>
                      <a:pPr algn="ctr" indent="0" marL="0">
                        <a:buNone/>
                      </a:pPr>
                      <a:r>
                        <a:rPr lang="en-US" sz="1600" b="1" dirty="0">
                          <a:solidFill>
                            <a:schemeClr val="tx1"/>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rgbClr val="F6C2B2"/>
                    </a:solidFill>
                  </a:tcPr>
                </a:tc>
                <a:tc>
                  <a:txBody>
                    <a:bodyPr/>
                    <a:lstStyle/>
                    <a:p>
                      <a:pPr algn="ctr" indent="0" marL="0">
                        <a:buNone/>
                      </a:pPr>
                      <a:r>
                        <a:rPr lang="en-US" sz="1600" dirty="0">
                          <a:solidFill>
                            <a:schemeClr val="tx1"/>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rgbClr val="F7C6B7"/>
                    </a:solidFill>
                  </a:tcPr>
                </a:tc>
              </a:tr>
            </a:tbl>
          </a:graphicData>
        </a:graphic>
      </p:graphicFrame>
      <p:sp>
        <p:nvSpPr>
          <p:cNvPr id="7" name="Text 3"/>
          <p:cNvSpPr txBox="1"/>
          <p:nvPr/>
        </p:nvSpPr>
        <p:spPr>
          <a:xfrm>
            <a:off x="548640" y="5257800"/>
            <a:ext cx="11094415" cy="457200"/>
          </a:xfrm>
          <a:prstGeom prst="rect">
            <a:avLst/>
          </a:prstGeom>
          <a:noFill/>
          <a:ln/>
        </p:spPr>
        <p:txBody>
          <a:bodyPr wrap="square" lIns="0" tIns="0" rIns="0" bIns="0" rtlCol="0" anchor="t"/>
          <a:lstStyle/>
          <a:p>
            <a:pPr indent="0" marL="0">
              <a:buNone/>
            </a:pPr>
            <a:r>
              <a:rPr lang="en-US" sz="1700" b="1" dirty="0">
                <a:solidFill>
                  <a:schemeClr val="tx2"/>
                </a:solidFill>
              </a:rPr>
              <a:t>Holds for every goal size: </a:t>
            </a:r>
            <a:pPr indent="0" marL="0">
              <a:buNone/>
            </a:pPr>
            <a:r>
              <a:rPr lang="en-US" sz="1700" dirty="0">
                <a:solidFill>
                  <a:schemeClr val="tx2"/>
                </a:solidFill>
              </a:rPr>
              <a:t>exactly 30 days is below both 15–29 and 31–44 days, and 60 days is the lowest column.</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chemeClr val="accent1"/>
                </a:solidFill>
              </a:rPr>
              <a:t>EDA · ROUND-NUMBER LENGTHS</a:t>
            </a:r>
            <a:endParaRPr lang="en-US" sz="1200" dirty="0"/>
          </a:p>
        </p:txBody>
      </p:sp>
      <p:sp>
        <p:nvSpPr>
          <p:cNvPr id="3" name="Text 0"/>
          <p:cNvSpPr/>
          <p:nvPr>
            <p:ph idx="101" type="title" hasCustomPrompt="1"/>
          </p:nvPr>
        </p:nvSpPr>
        <p:spPr>
          <a:xfrm>
            <a:off x="548640" y="640080"/>
            <a:ext cx="11094415" cy="822960"/>
          </a:xfrm>
          <a:prstGeom prst="rect">
            <a:avLst/>
          </a:prstGeom>
          <a:noFill/>
          <a:ln/>
        </p:spPr>
        <p:txBody>
          <a:bodyPr wrap="square" lIns="0" tIns="0" rIns="0" bIns="0" rtlCol="0" anchor="t"/>
          <a:lstStyle/>
          <a:p>
            <a:pPr algn="l" indent="0" marL="0">
              <a:buNone/>
            </a:pPr>
            <a:r>
              <a:rPr lang="en-US" sz="3400" b="1" dirty="0">
                <a:solidFill>
                  <a:schemeClr val="tx2"/>
                </a:solidFill>
              </a:rPr>
              <a:t>Every round length trails the day before and after</a:t>
            </a:r>
            <a:endParaRPr lang="en-US" sz="3400" dirty="0"/>
          </a:p>
        </p:txBody>
      </p:sp>
      <p:sp>
        <p:nvSpPr>
          <p:cNvPr id="4" name="Text 0"/>
          <p:cNvSpPr/>
          <p:nvPr>
            <p:ph idx="102" type="body" hasCustomPrompt="1"/>
          </p:nvPr>
        </p:nvSpPr>
        <p:spPr>
          <a:xfrm>
            <a:off x="548640" y="6400800"/>
            <a:ext cx="10362895" cy="274320"/>
          </a:xfrm>
          <a:prstGeom prst="rect">
            <a:avLst/>
          </a:prstGeom>
          <a:noFill/>
          <a:ln/>
        </p:spPr>
        <p:txBody>
          <a:bodyPr wrap="square" lIns="0" tIns="0" rIns="0" bIns="0" rtlCol="0" anchor="ctr"/>
          <a:lstStyle/>
          <a:p>
            <a:pPr indent="0" marL="0">
              <a:buNone/>
            </a:pPr>
            <a:r>
              <a:rPr lang="en-US" sz="1000" dirty="0">
                <a:solidFill>
                  <a:schemeClr val="accent4"/>
                </a:solidFill>
              </a:rPr>
              <a:t>Success rate at each round length and its neighbours · same pattern inside each goal range (32 of 32 cases)</a:t>
            </a:r>
            <a:endParaRPr lang="en-US" sz="1000" dirty="0"/>
          </a:p>
        </p:txBody>
      </p:sp>
      <p:graphicFrame>
        <p:nvGraphicFramePr>
          <p:cNvPr id="6" name="Round lengths vs neighbours" descr=""/>
          <p:cNvGraphicFramePr/>
          <p:nvPr/>
        </p:nvGraphicFramePr>
        <p:xfrm>
          <a:off x="548640" y="1600200"/>
          <a:ext cx="11094415" cy="45262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chemeClr val="accent1"/>
                </a:solidFill>
              </a:rPr>
              <a:t>EDA · LAUNCH YEAR</a:t>
            </a:r>
            <a:endParaRPr lang="en-US" sz="1200" dirty="0"/>
          </a:p>
        </p:txBody>
      </p:sp>
      <p:sp>
        <p:nvSpPr>
          <p:cNvPr id="3" name="Text 0"/>
          <p:cNvSpPr/>
          <p:nvPr>
            <p:ph idx="101" type="title" hasCustomPrompt="1"/>
          </p:nvPr>
        </p:nvSpPr>
        <p:spPr>
          <a:xfrm>
            <a:off x="548640" y="640080"/>
            <a:ext cx="11094415" cy="822960"/>
          </a:xfrm>
          <a:prstGeom prst="rect">
            <a:avLst/>
          </a:prstGeom>
          <a:noFill/>
          <a:ln/>
        </p:spPr>
        <p:txBody>
          <a:bodyPr wrap="square" lIns="0" tIns="0" rIns="0" bIns="0" rtlCol="0" anchor="t"/>
          <a:lstStyle/>
          <a:p>
            <a:pPr algn="l" indent="0" marL="0">
              <a:buNone/>
            </a:pPr>
            <a:r>
              <a:rPr lang="en-US" sz="3400" b="1" dirty="0">
                <a:solidFill>
                  <a:schemeClr val="tx2"/>
                </a:solidFill>
              </a:rPr>
              <a:t>Success rates shifted over time</a:t>
            </a:r>
            <a:endParaRPr lang="en-US" sz="3400" dirty="0"/>
          </a:p>
        </p:txBody>
      </p:sp>
      <p:sp>
        <p:nvSpPr>
          <p:cNvPr id="4" name="Text 0"/>
          <p:cNvSpPr/>
          <p:nvPr>
            <p:ph idx="102" type="body" hasCustomPrompt="1"/>
          </p:nvPr>
        </p:nvSpPr>
        <p:spPr>
          <a:xfrm>
            <a:off x="548640" y="6400800"/>
            <a:ext cx="10362895" cy="274320"/>
          </a:xfrm>
          <a:prstGeom prst="rect">
            <a:avLst/>
          </a:prstGeom>
          <a:noFill/>
          <a:ln/>
        </p:spPr>
        <p:txBody>
          <a:bodyPr wrap="square" lIns="0" tIns="0" rIns="0" bIns="0" rtlCol="0" anchor="ctr"/>
          <a:lstStyle/>
          <a:p>
            <a:pPr indent="0" marL="0">
              <a:buNone/>
            </a:pPr>
            <a:r>
              <a:rPr lang="en-US" sz="1000" dirty="0">
                <a:solidFill>
                  <a:schemeClr val="accent4"/>
                </a:solidFill>
              </a:rPr>
              <a:t>2018 has only 2 projects (data collected in early January 2018) and is left out</a:t>
            </a:r>
            <a:endParaRPr lang="en-US" sz="1000" dirty="0"/>
          </a:p>
        </p:txBody>
      </p:sp>
      <p:graphicFrame>
        <p:nvGraphicFramePr>
          <p:cNvPr id="6" name="Success rate by year" descr=""/>
          <p:cNvGraphicFramePr/>
          <p:nvPr/>
        </p:nvGraphicFramePr>
        <p:xfrm>
          <a:off x="548640" y="1600200"/>
          <a:ext cx="5486400" cy="448056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Projects launched per year" descr=""/>
          <p:cNvGraphicFramePr/>
          <p:nvPr/>
        </p:nvGraphicFramePr>
        <p:xfrm>
          <a:off x="6336792" y="1600200"/>
          <a:ext cx="5303520" cy="4480560"/>
        </p:xfrm>
        <a:graphic xmlns:a="http://schemas.openxmlformats.org/drawingml/2006/main">
          <a:graphicData uri="http://schemas.openxmlformats.org/drawingml/2006/chart">
            <c:chart xmlns:c="http://schemas.openxmlformats.org/drawingml/2006/chart" r:id="rId2"/>
          </a:graphicData>
        </a:graphic>
      </p:graphicFrame>
      <p:sp>
        <p:nvSpPr>
          <p:cNvPr id="8" name="Text 3"/>
          <p:cNvSpPr txBox="1"/>
          <p:nvPr/>
        </p:nvSpPr>
        <p:spPr>
          <a:xfrm>
            <a:off x="548640" y="1554480"/>
            <a:ext cx="2743200" cy="320040"/>
          </a:xfrm>
          <a:prstGeom prst="rect">
            <a:avLst/>
          </a:prstGeom>
          <a:noFill/>
          <a:ln/>
        </p:spPr>
        <p:txBody>
          <a:bodyPr wrap="square" lIns="0" tIns="0" rIns="0" bIns="0" rtlCol="0" anchor="t"/>
          <a:lstStyle/>
          <a:p>
            <a:pPr indent="0" marL="0">
              <a:buNone/>
            </a:pPr>
            <a:r>
              <a:rPr lang="en-US" sz="1400" b="1" dirty="0">
                <a:solidFill>
                  <a:schemeClr val="tx2"/>
                </a:solidFill>
              </a:rPr>
              <a:t>Success rate</a:t>
            </a:r>
            <a:endParaRPr lang="en-US" sz="1400" dirty="0"/>
          </a:p>
        </p:txBody>
      </p:sp>
      <p:sp>
        <p:nvSpPr>
          <p:cNvPr id="9" name="Text 4"/>
          <p:cNvSpPr txBox="1"/>
          <p:nvPr/>
        </p:nvSpPr>
        <p:spPr>
          <a:xfrm>
            <a:off x="6336792" y="1554480"/>
            <a:ext cx="2743200" cy="320040"/>
          </a:xfrm>
          <a:prstGeom prst="rect">
            <a:avLst/>
          </a:prstGeom>
          <a:noFill/>
          <a:ln/>
        </p:spPr>
        <p:txBody>
          <a:bodyPr wrap="square" lIns="0" tIns="0" rIns="0" bIns="0" rtlCol="0" anchor="t"/>
          <a:lstStyle/>
          <a:p>
            <a:pPr indent="0" marL="0">
              <a:buNone/>
            </a:pPr>
            <a:r>
              <a:rPr lang="en-US" sz="1400" b="1" dirty="0">
                <a:solidFill>
                  <a:schemeClr val="tx2"/>
                </a:solidFill>
              </a:rPr>
              <a:t>Projects launched</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chemeClr val="accent1"/>
                </a:solidFill>
              </a:rPr>
              <a:t>FEATURES AND SPLIT</a:t>
            </a:r>
            <a:endParaRPr lang="en-US" sz="1200" dirty="0"/>
          </a:p>
        </p:txBody>
      </p:sp>
      <p:sp>
        <p:nvSpPr>
          <p:cNvPr id="3" name="Text 0"/>
          <p:cNvSpPr/>
          <p:nvPr>
            <p:ph idx="101" type="title" hasCustomPrompt="1"/>
          </p:nvPr>
        </p:nvSpPr>
        <p:spPr>
          <a:xfrm>
            <a:off x="548640" y="640080"/>
            <a:ext cx="11094415" cy="822960"/>
          </a:xfrm>
          <a:prstGeom prst="rect">
            <a:avLst/>
          </a:prstGeom>
          <a:noFill/>
          <a:ln/>
        </p:spPr>
        <p:txBody>
          <a:bodyPr wrap="square" lIns="0" tIns="0" rIns="0" bIns="0" rtlCol="0" anchor="t"/>
          <a:lstStyle/>
          <a:p>
            <a:pPr algn="l" indent="0" marL="0">
              <a:buNone/>
            </a:pPr>
            <a:r>
              <a:rPr lang="en-US" sz="3400" b="1" dirty="0">
                <a:solidFill>
                  <a:schemeClr val="tx2"/>
                </a:solidFill>
              </a:rPr>
              <a:t>Eight pre-launch features, one untouched test set</a:t>
            </a:r>
            <a:endParaRPr lang="en-US" sz="3400" dirty="0"/>
          </a:p>
        </p:txBody>
      </p:sp>
      <p:sp>
        <p:nvSpPr>
          <p:cNvPr id="4" name="Text 0"/>
          <p:cNvSpPr/>
          <p:nvPr>
            <p:ph idx="102" type="body" hasCustomPrompt="1"/>
          </p:nvPr>
        </p:nvSpPr>
        <p:spPr>
          <a:xfrm>
            <a:off x="548640" y="6400800"/>
            <a:ext cx="10362895" cy="274320"/>
          </a:xfrm>
          <a:prstGeom prst="rect">
            <a:avLst/>
          </a:prstGeom>
          <a:noFill/>
          <a:ln/>
        </p:spPr>
        <p:txBody>
          <a:bodyPr wrap="square" lIns="0" tIns="0" rIns="0" bIns="0" rtlCol="0" anchor="ctr"/>
          <a:lstStyle/>
          <a:p>
            <a:pPr indent="0" marL="0">
              <a:buNone/>
            </a:pPr>
            <a:r>
              <a:rPr lang="en-US" sz="1000" dirty="0">
                <a:solidFill>
                  <a:schemeClr val="accent4"/>
                </a:solidFill>
              </a:rPr>
              <a:t>Stratified 80/20 split, random_state=42 · every encoder and model is fitted inside a Pipeline on training data only</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6949440" cy="914400"/>
        </p:xfrm>
        <a:graphic>
          <a:graphicData uri="http://schemas.openxmlformats.org/drawingml/2006/table">
            <a:tbl>
              <a:tblPr/>
              <a:tblGrid>
                <a:gridCol w="2194560"/>
                <a:gridCol w="4754880"/>
              </a:tblGrid>
              <a:tr h="457200">
                <a:tc>
                  <a:txBody>
                    <a:bodyPr/>
                    <a:lstStyle/>
                    <a:p>
                      <a:pPr algn="l" indent="0" marL="0">
                        <a:buNone/>
                      </a:pPr>
                      <a:r>
                        <a:rPr lang="en-US" sz="1400" b="1" dirty="0">
                          <a:solidFill>
                            <a:schemeClr val="bg1"/>
                          </a:solidFill>
                          <a:latin typeface="Calibri" pitchFamily="34" charset="0"/>
                          <a:ea typeface="Calibri" pitchFamily="34" charset="-122"/>
                          <a:cs typeface="Calibri" pitchFamily="34" charset="-120"/>
                        </a:rPr>
                        <a:t>feature</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meaning</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tx2"/>
                    </a:solidFill>
                  </a:tcPr>
                </a:tc>
              </a:tr>
              <a:tr h="457200">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category</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sub-category (159 values), native categorical</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r>
              <a:tr h="457200">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country</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country code (23 values incl. EU)</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r>
              <a:tr h="457200">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log_goal</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log(1 + goal in USD)</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r>
              <a:tr h="457200">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duration_days</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deadline minus launch date, 1 to 92</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r>
              <a:tr h="457200">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launch_month</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 to 12</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r>
              <a:tr h="457200">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launch_weekday</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 = Monday to 6 = Sunday</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r>
              <a:tr h="457200">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name_length</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title length in characters (tags removed)</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r>
              <a:tr h="457200">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name_words</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title length in words</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r>
            </a:tbl>
          </a:graphicData>
        </a:graphic>
      </p:graphicFrame>
      <p:sp>
        <p:nvSpPr>
          <p:cNvPr id="7" name="split card"/>
          <p:cNvSpPr/>
          <p:nvPr/>
        </p:nvSpPr>
        <p:spPr>
          <a:xfrm>
            <a:off x="7863840" y="1737360"/>
            <a:ext cx="3776472" cy="4160520"/>
          </a:xfrm>
          <a:prstGeom prst="roundRect">
            <a:avLst>
              <a:gd name="adj" fmla="val 2906"/>
            </a:avLst>
          </a:prstGeom>
          <a:solidFill>
            <a:schemeClr val="bg2"/>
          </a:solidFill>
          <a:ln w="12700">
            <a:solidFill>
              <a:srgbClr val="F5F7F6"/>
            </a:solidFill>
            <a:prstDash val="solid"/>
          </a:ln>
        </p:spPr>
      </p:sp>
      <p:sp>
        <p:nvSpPr>
          <p:cNvPr id="8" name="Text 4"/>
          <p:cNvSpPr txBox="1"/>
          <p:nvPr/>
        </p:nvSpPr>
        <p:spPr>
          <a:xfrm>
            <a:off x="8138160" y="1965960"/>
            <a:ext cx="3200400" cy="320040"/>
          </a:xfrm>
          <a:prstGeom prst="rect">
            <a:avLst/>
          </a:prstGeom>
          <a:noFill/>
          <a:ln/>
        </p:spPr>
        <p:txBody>
          <a:bodyPr wrap="square" lIns="0" tIns="0" rIns="0" bIns="0" rtlCol="0" anchor="t"/>
          <a:lstStyle/>
          <a:p>
            <a:pPr indent="0" marL="0">
              <a:buNone/>
            </a:pPr>
            <a:r>
              <a:rPr lang="en-US" sz="1500" b="1" dirty="0">
                <a:solidFill>
                  <a:schemeClr val="tx2"/>
                </a:solidFill>
              </a:rPr>
              <a:t>Train</a:t>
            </a:r>
            <a:endParaRPr lang="en-US" sz="1500" dirty="0"/>
          </a:p>
        </p:txBody>
      </p:sp>
      <p:sp>
        <p:nvSpPr>
          <p:cNvPr id="9" name="Text 5"/>
          <p:cNvSpPr txBox="1"/>
          <p:nvPr/>
        </p:nvSpPr>
        <p:spPr>
          <a:xfrm>
            <a:off x="8138160" y="2286000"/>
            <a:ext cx="3200400" cy="548640"/>
          </a:xfrm>
          <a:prstGeom prst="rect">
            <a:avLst/>
          </a:prstGeom>
          <a:noFill/>
          <a:ln/>
        </p:spPr>
        <p:txBody>
          <a:bodyPr wrap="square" lIns="0" tIns="0" rIns="0" bIns="0" rtlCol="0" anchor="t"/>
          <a:lstStyle/>
          <a:p>
            <a:pPr indent="0" marL="0">
              <a:buNone/>
            </a:pPr>
            <a:r>
              <a:rPr lang="en-US" sz="3000" b="1" dirty="0">
                <a:solidFill>
                  <a:schemeClr val="accent1"/>
                </a:solidFill>
                <a:latin typeface="Calibri" pitchFamily="34" charset="0"/>
                <a:ea typeface="Calibri" pitchFamily="34" charset="-122"/>
                <a:cs typeface="Calibri" pitchFamily="34" charset="-120"/>
              </a:rPr>
              <a:t>297,834</a:t>
            </a:r>
            <a:endParaRPr lang="en-US" sz="3000" dirty="0"/>
          </a:p>
        </p:txBody>
      </p:sp>
      <p:sp>
        <p:nvSpPr>
          <p:cNvPr id="10" name="Text 6"/>
          <p:cNvSpPr txBox="1"/>
          <p:nvPr/>
        </p:nvSpPr>
        <p:spPr>
          <a:xfrm>
            <a:off x="8138160" y="2926080"/>
            <a:ext cx="3200400" cy="320040"/>
          </a:xfrm>
          <a:prstGeom prst="rect">
            <a:avLst/>
          </a:prstGeom>
          <a:noFill/>
          <a:ln/>
        </p:spPr>
        <p:txBody>
          <a:bodyPr wrap="square" lIns="0" tIns="0" rIns="0" bIns="0" rtlCol="0" anchor="t"/>
          <a:lstStyle/>
          <a:p>
            <a:pPr indent="0" marL="0">
              <a:buNone/>
            </a:pPr>
            <a:r>
              <a:rPr lang="en-US" sz="1500" b="1" dirty="0">
                <a:solidFill>
                  <a:schemeClr val="tx2"/>
                </a:solidFill>
              </a:rPr>
              <a:t>Test (final exam)</a:t>
            </a:r>
            <a:endParaRPr lang="en-US" sz="1500" dirty="0"/>
          </a:p>
        </p:txBody>
      </p:sp>
      <p:sp>
        <p:nvSpPr>
          <p:cNvPr id="11" name="Text 7"/>
          <p:cNvSpPr txBox="1"/>
          <p:nvPr/>
        </p:nvSpPr>
        <p:spPr>
          <a:xfrm>
            <a:off x="8138160" y="3246120"/>
            <a:ext cx="3200400" cy="548640"/>
          </a:xfrm>
          <a:prstGeom prst="rect">
            <a:avLst/>
          </a:prstGeom>
          <a:noFill/>
          <a:ln/>
        </p:spPr>
        <p:txBody>
          <a:bodyPr wrap="square" lIns="0" tIns="0" rIns="0" bIns="0" rtlCol="0" anchor="t"/>
          <a:lstStyle/>
          <a:p>
            <a:pPr indent="0" marL="0">
              <a:buNone/>
            </a:pPr>
            <a:r>
              <a:rPr lang="en-US" sz="3000" b="1" dirty="0">
                <a:solidFill>
                  <a:schemeClr val="accent6"/>
                </a:solidFill>
                <a:latin typeface="Calibri" pitchFamily="34" charset="0"/>
                <a:ea typeface="Calibri" pitchFamily="34" charset="-122"/>
                <a:cs typeface="Calibri" pitchFamily="34" charset="-120"/>
              </a:rPr>
              <a:t>74,459</a:t>
            </a:r>
            <a:endParaRPr lang="en-US" sz="3000" dirty="0"/>
          </a:p>
        </p:txBody>
      </p:sp>
      <p:sp>
        <p:nvSpPr>
          <p:cNvPr id="12" name="Text 8"/>
          <p:cNvSpPr txBox="1"/>
          <p:nvPr/>
        </p:nvSpPr>
        <p:spPr>
          <a:xfrm>
            <a:off x="8138160" y="3977640"/>
            <a:ext cx="3200400" cy="320040"/>
          </a:xfrm>
          <a:prstGeom prst="rect">
            <a:avLst/>
          </a:prstGeom>
          <a:noFill/>
          <a:ln/>
        </p:spPr>
        <p:txBody>
          <a:bodyPr wrap="square" lIns="0" tIns="0" rIns="0" bIns="0" rtlCol="0" anchor="t"/>
          <a:lstStyle/>
          <a:p>
            <a:pPr indent="0" marL="0">
              <a:buNone/>
            </a:pPr>
            <a:r>
              <a:rPr lang="en-US" sz="1500" b="1" dirty="0">
                <a:solidFill>
                  <a:schemeClr val="tx2"/>
                </a:solidFill>
              </a:rPr>
              <a:t>Left out on purpose</a:t>
            </a:r>
            <a:endParaRPr lang="en-US" sz="1500" dirty="0"/>
          </a:p>
        </p:txBody>
      </p:sp>
      <p:sp>
        <p:nvSpPr>
          <p:cNvPr id="13" name="Text 9"/>
          <p:cNvSpPr txBox="1"/>
          <p:nvPr/>
        </p:nvSpPr>
        <p:spPr>
          <a:xfrm>
            <a:off x="8138160" y="4343400"/>
            <a:ext cx="3246120" cy="1371600"/>
          </a:xfrm>
          <a:prstGeom prst="rect">
            <a:avLst/>
          </a:prstGeom>
          <a:noFill/>
          <a:ln/>
        </p:spPr>
        <p:txBody>
          <a:bodyPr wrap="square" lIns="0" tIns="0" rIns="0" bIns="0" rtlCol="0" anchor="t"/>
          <a:lstStyle/>
          <a:p>
            <a:pPr indent="0" marL="0">
              <a:buNone/>
            </a:pPr>
            <a:r>
              <a:rPr lang="en-US" sz="1300" dirty="0">
                <a:solidFill>
                  <a:schemeClr val="tx1"/>
                </a:solidFill>
              </a:rPr>
              <a:t>main_category (inside category), currency (= country), launch_year (future campaigns)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chemeClr val="accent1"/>
                </a:solidFill>
              </a:rPr>
              <a:t>BASELINE</a:t>
            </a:r>
            <a:endParaRPr lang="en-US" sz="1200" dirty="0"/>
          </a:p>
        </p:txBody>
      </p:sp>
      <p:sp>
        <p:nvSpPr>
          <p:cNvPr id="3" name="Text 0"/>
          <p:cNvSpPr/>
          <p:nvPr>
            <p:ph idx="101" type="title" hasCustomPrompt="1"/>
          </p:nvPr>
        </p:nvSpPr>
        <p:spPr>
          <a:xfrm>
            <a:off x="548640" y="640080"/>
            <a:ext cx="11094415" cy="822960"/>
          </a:xfrm>
          <a:prstGeom prst="rect">
            <a:avLst/>
          </a:prstGeom>
          <a:noFill/>
          <a:ln/>
        </p:spPr>
        <p:txBody>
          <a:bodyPr wrap="square" lIns="0" tIns="0" rIns="0" bIns="0" rtlCol="0" anchor="t"/>
          <a:lstStyle/>
          <a:p>
            <a:pPr algn="l" indent="0" marL="0">
              <a:buNone/>
            </a:pPr>
            <a:r>
              <a:rPr lang="en-US" sz="3400" b="1" dirty="0">
                <a:solidFill>
                  <a:schemeClr val="tx2"/>
                </a:solidFill>
              </a:rPr>
              <a:t>Accuracy rewards doing nothing; F1 does not</a:t>
            </a:r>
            <a:endParaRPr lang="en-US" sz="3400" dirty="0"/>
          </a:p>
        </p:txBody>
      </p:sp>
      <p:sp>
        <p:nvSpPr>
          <p:cNvPr id="4" name="Text 0"/>
          <p:cNvSpPr/>
          <p:nvPr>
            <p:ph idx="102" type="body" hasCustomPrompt="1"/>
          </p:nvPr>
        </p:nvSpPr>
        <p:spPr>
          <a:xfrm>
            <a:off x="548640" y="6400800"/>
            <a:ext cx="10362895" cy="274320"/>
          </a:xfrm>
          <a:prstGeom prst="rect">
            <a:avLst/>
          </a:prstGeom>
          <a:noFill/>
          <a:ln/>
        </p:spPr>
        <p:txBody>
          <a:bodyPr wrap="square" lIns="0" tIns="0" rIns="0" bIns="0" rtlCol="0" anchor="ctr"/>
          <a:lstStyle/>
          <a:p>
            <a:pPr indent="0" marL="0">
              <a:buNone/>
            </a:pPr>
            <a:r>
              <a:rPr lang="en-US" sz="1000" dirty="0">
                <a:solidFill>
                  <a:schemeClr val="accent4"/>
                </a:solidFill>
              </a:rPr>
              <a:t>5-fold stratified CV on the training set · the goal median ($5,500) is learned inside each fold</a:t>
            </a:r>
            <a:endParaRPr lang="en-US" sz="1000" dirty="0"/>
          </a:p>
        </p:txBody>
      </p:sp>
      <p:graphicFrame>
        <p:nvGraphicFramePr>
          <p:cNvPr id="6" name="Baseline metrics" descr=""/>
          <p:cNvGraphicFramePr/>
          <p:nvPr/>
        </p:nvGraphicFramePr>
        <p:xfrm>
          <a:off x="548640" y="160020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7" name="Score to beat (F1) card"/>
          <p:cNvSpPr/>
          <p:nvPr/>
        </p:nvSpPr>
        <p:spPr>
          <a:xfrm>
            <a:off x="7863840" y="1783080"/>
            <a:ext cx="3776472" cy="1920240"/>
          </a:xfrm>
          <a:prstGeom prst="roundRect">
            <a:avLst>
              <a:gd name="adj" fmla="val 5714"/>
            </a:avLst>
          </a:prstGeom>
          <a:solidFill>
            <a:schemeClr val="bg1"/>
          </a:solidFill>
          <a:ln w="12700">
            <a:solidFill>
              <a:srgbClr val="F5F7F6"/>
            </a:solidFill>
            <a:prstDash val="solid"/>
          </a:ln>
          <a:effectLst>
            <a:outerShdw sx="100000" sy="100000" kx="0" ky="0" algn="bl" rotWithShape="0" blurRad="101600" dist="25400" dir="5400000">
              <a:srgbClr val="000000">
                <a:alpha val="12000"/>
              </a:srgbClr>
            </a:outerShdw>
          </a:effectLst>
        </p:spPr>
      </p:sp>
      <p:sp>
        <p:nvSpPr>
          <p:cNvPr id="8" name="Text 4"/>
          <p:cNvSpPr txBox="1"/>
          <p:nvPr/>
        </p:nvSpPr>
        <p:spPr>
          <a:xfrm>
            <a:off x="8138160" y="2011680"/>
            <a:ext cx="3227832" cy="777240"/>
          </a:xfrm>
          <a:prstGeom prst="rect">
            <a:avLst/>
          </a:prstGeom>
          <a:noFill/>
          <a:ln/>
        </p:spPr>
        <p:txBody>
          <a:bodyPr wrap="square" lIns="0" tIns="0" rIns="0" bIns="0" rtlCol="0" anchor="t"/>
          <a:lstStyle/>
          <a:p>
            <a:pPr indent="0" marL="0">
              <a:buNone/>
            </a:pPr>
            <a:r>
              <a:rPr lang="en-US" sz="4000" b="1" dirty="0">
                <a:solidFill>
                  <a:schemeClr val="accent1"/>
                </a:solidFill>
                <a:latin typeface="Calibri" pitchFamily="34" charset="0"/>
                <a:ea typeface="Calibri" pitchFamily="34" charset="-122"/>
                <a:cs typeface="Calibri" pitchFamily="34" charset="-120"/>
              </a:rPr>
              <a:t>0.520</a:t>
            </a:r>
            <a:endParaRPr lang="en-US" sz="4000" dirty="0"/>
          </a:p>
        </p:txBody>
      </p:sp>
      <p:sp>
        <p:nvSpPr>
          <p:cNvPr id="9" name="Text 5"/>
          <p:cNvSpPr txBox="1"/>
          <p:nvPr/>
        </p:nvSpPr>
        <p:spPr>
          <a:xfrm>
            <a:off x="8138160" y="2788920"/>
            <a:ext cx="3227832" cy="365760"/>
          </a:xfrm>
          <a:prstGeom prst="rect">
            <a:avLst/>
          </a:prstGeom>
          <a:noFill/>
          <a:ln/>
        </p:spPr>
        <p:txBody>
          <a:bodyPr wrap="square" lIns="0" tIns="0" rIns="0" bIns="0" rtlCol="0" anchor="t"/>
          <a:lstStyle/>
          <a:p>
            <a:pPr indent="0" marL="0">
              <a:buNone/>
            </a:pPr>
            <a:r>
              <a:rPr lang="en-US" sz="1600" b="1" dirty="0">
                <a:solidFill>
                  <a:schemeClr val="tx2"/>
                </a:solidFill>
              </a:rPr>
              <a:t>Score to beat (F1)</a:t>
            </a:r>
            <a:endParaRPr lang="en-US" sz="1600" dirty="0"/>
          </a:p>
        </p:txBody>
      </p:sp>
      <p:sp>
        <p:nvSpPr>
          <p:cNvPr id="10" name="Text 6"/>
          <p:cNvSpPr txBox="1"/>
          <p:nvPr/>
        </p:nvSpPr>
        <p:spPr>
          <a:xfrm>
            <a:off x="8138160" y="3154680"/>
            <a:ext cx="3227832" cy="411480"/>
          </a:xfrm>
          <a:prstGeom prst="rect">
            <a:avLst/>
          </a:prstGeom>
          <a:noFill/>
          <a:ln/>
        </p:spPr>
        <p:txBody>
          <a:bodyPr wrap="square" lIns="0" tIns="0" rIns="0" bIns="0" rtlCol="0" anchor="t"/>
          <a:lstStyle/>
          <a:p>
            <a:pPr indent="0" marL="0">
              <a:buNone/>
            </a:pPr>
            <a:r>
              <a:rPr lang="en-US" sz="1300" dirty="0">
                <a:solidFill>
                  <a:schemeClr val="accent4"/>
                </a:solidFill>
              </a:rPr>
              <a:t>± 0.002 across folds · test: 0.524</a:t>
            </a:r>
            <a:endParaRPr lang="en-US" sz="1300" dirty="0"/>
          </a:p>
        </p:txBody>
      </p:sp>
      <p:sp>
        <p:nvSpPr>
          <p:cNvPr id="11" name="F1 of &quot;always no&quot; card"/>
          <p:cNvSpPr/>
          <p:nvPr/>
        </p:nvSpPr>
        <p:spPr>
          <a:xfrm>
            <a:off x="7863840" y="3977640"/>
            <a:ext cx="3776472" cy="1920240"/>
          </a:xfrm>
          <a:prstGeom prst="roundRect">
            <a:avLst>
              <a:gd name="adj" fmla="val 5714"/>
            </a:avLst>
          </a:prstGeom>
          <a:solidFill>
            <a:schemeClr val="bg1"/>
          </a:solidFill>
          <a:ln w="12700">
            <a:solidFill>
              <a:srgbClr val="F5F7F6"/>
            </a:solidFill>
            <a:prstDash val="solid"/>
          </a:ln>
          <a:effectLst>
            <a:outerShdw sx="100000" sy="100000" kx="0" ky="0" algn="bl" rotWithShape="0" blurRad="101600" dist="25400" dir="5400000">
              <a:srgbClr val="000000">
                <a:alpha val="12000"/>
              </a:srgbClr>
            </a:outerShdw>
          </a:effectLst>
        </p:spPr>
      </p:sp>
      <p:sp>
        <p:nvSpPr>
          <p:cNvPr id="12" name="Text 8"/>
          <p:cNvSpPr txBox="1"/>
          <p:nvPr/>
        </p:nvSpPr>
        <p:spPr>
          <a:xfrm>
            <a:off x="8138160" y="4206240"/>
            <a:ext cx="3227832" cy="777240"/>
          </a:xfrm>
          <a:prstGeom prst="rect">
            <a:avLst/>
          </a:prstGeom>
          <a:noFill/>
          <a:ln/>
        </p:spPr>
        <p:txBody>
          <a:bodyPr wrap="square" lIns="0" tIns="0" rIns="0" bIns="0" rtlCol="0" anchor="t"/>
          <a:lstStyle/>
          <a:p>
            <a:pPr indent="0" marL="0">
              <a:buNone/>
            </a:pPr>
            <a:r>
              <a:rPr lang="en-US" sz="4000" b="1" dirty="0">
                <a:solidFill>
                  <a:schemeClr val="accent2"/>
                </a:solidFill>
                <a:latin typeface="Calibri" pitchFamily="34" charset="0"/>
                <a:ea typeface="Calibri" pitchFamily="34" charset="-122"/>
                <a:cs typeface="Calibri" pitchFamily="34" charset="-120"/>
              </a:rPr>
              <a:t>0.000</a:t>
            </a:r>
            <a:endParaRPr lang="en-US" sz="4000" dirty="0"/>
          </a:p>
        </p:txBody>
      </p:sp>
      <p:sp>
        <p:nvSpPr>
          <p:cNvPr id="13" name="Text 9"/>
          <p:cNvSpPr txBox="1"/>
          <p:nvPr/>
        </p:nvSpPr>
        <p:spPr>
          <a:xfrm>
            <a:off x="8138160" y="4983480"/>
            <a:ext cx="3227832" cy="365760"/>
          </a:xfrm>
          <a:prstGeom prst="rect">
            <a:avLst/>
          </a:prstGeom>
          <a:noFill/>
          <a:ln/>
        </p:spPr>
        <p:txBody>
          <a:bodyPr wrap="square" lIns="0" tIns="0" rIns="0" bIns="0" rtlCol="0" anchor="t"/>
          <a:lstStyle/>
          <a:p>
            <a:pPr indent="0" marL="0">
              <a:buNone/>
            </a:pPr>
            <a:r>
              <a:rPr lang="en-US" sz="1600" b="1" dirty="0">
                <a:solidFill>
                  <a:schemeClr val="tx2"/>
                </a:solidFill>
              </a:rPr>
              <a:t>F1 of "always no"</a:t>
            </a:r>
            <a:endParaRPr lang="en-US" sz="1600" dirty="0"/>
          </a:p>
        </p:txBody>
      </p:sp>
      <p:sp>
        <p:nvSpPr>
          <p:cNvPr id="14" name="Text 10"/>
          <p:cNvSpPr txBox="1"/>
          <p:nvPr/>
        </p:nvSpPr>
        <p:spPr>
          <a:xfrm>
            <a:off x="8138160" y="5349240"/>
            <a:ext cx="3227832" cy="411480"/>
          </a:xfrm>
          <a:prstGeom prst="rect">
            <a:avLst/>
          </a:prstGeom>
          <a:noFill/>
          <a:ln/>
        </p:spPr>
        <p:txBody>
          <a:bodyPr wrap="square" lIns="0" tIns="0" rIns="0" bIns="0" rtlCol="0" anchor="t"/>
          <a:lstStyle/>
          <a:p>
            <a:pPr indent="0" marL="0">
              <a:buNone/>
            </a:pPr>
            <a:r>
              <a:rPr lang="en-US" sz="1300" dirty="0">
                <a:solidFill>
                  <a:schemeClr val="accent4"/>
                </a:solidFill>
              </a:rPr>
              <a:t>despite 64% accuracy</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chemeClr val="accent1"/>
                </a:solidFill>
              </a:rPr>
              <a:t>MODEL COMPARISON</a:t>
            </a:r>
            <a:endParaRPr lang="en-US" sz="1200" dirty="0"/>
          </a:p>
        </p:txBody>
      </p:sp>
      <p:sp>
        <p:nvSpPr>
          <p:cNvPr id="3" name="Text 0"/>
          <p:cNvSpPr/>
          <p:nvPr>
            <p:ph idx="101" type="title" hasCustomPrompt="1"/>
          </p:nvPr>
        </p:nvSpPr>
        <p:spPr>
          <a:xfrm>
            <a:off x="548640" y="640080"/>
            <a:ext cx="11094415" cy="822960"/>
          </a:xfrm>
          <a:prstGeom prst="rect">
            <a:avLst/>
          </a:prstGeom>
          <a:noFill/>
          <a:ln/>
        </p:spPr>
        <p:txBody>
          <a:bodyPr wrap="square" lIns="0" tIns="0" rIns="0" bIns="0" rtlCol="0" anchor="t"/>
          <a:lstStyle/>
          <a:p>
            <a:pPr algn="l" indent="0" marL="0">
              <a:buNone/>
            </a:pPr>
            <a:r>
              <a:rPr lang="en-US" sz="3400" b="1" dirty="0">
                <a:solidFill>
                  <a:schemeClr val="tx2"/>
                </a:solidFill>
              </a:rPr>
              <a:t>Gradient boosting performed best</a:t>
            </a:r>
            <a:endParaRPr lang="en-US" sz="3400" dirty="0"/>
          </a:p>
        </p:txBody>
      </p:sp>
      <p:sp>
        <p:nvSpPr>
          <p:cNvPr id="4" name="Text 0"/>
          <p:cNvSpPr/>
          <p:nvPr>
            <p:ph idx="102" type="body" hasCustomPrompt="1"/>
          </p:nvPr>
        </p:nvSpPr>
        <p:spPr>
          <a:xfrm>
            <a:off x="548640" y="6400800"/>
            <a:ext cx="10362895" cy="274320"/>
          </a:xfrm>
          <a:prstGeom prst="rect">
            <a:avLst/>
          </a:prstGeom>
          <a:noFill/>
          <a:ln/>
        </p:spPr>
        <p:txBody>
          <a:bodyPr wrap="square" lIns="0" tIns="0" rIns="0" bIns="0" rtlCol="0" anchor="ctr"/>
          <a:lstStyle/>
          <a:p>
            <a:pPr indent="0" marL="0">
              <a:buNone/>
            </a:pPr>
            <a:r>
              <a:rPr lang="en-US" sz="1000" dirty="0">
                <a:solidFill>
                  <a:schemeClr val="accent4"/>
                </a:solidFill>
              </a:rPr>
              <a:t>5-fold stratified CV on the full training set · mean ± std across folds (Brier std &lt; 0.001) · Brier and log loss: lower is better</a:t>
            </a:r>
            <a:endParaRPr lang="en-US" sz="1000" dirty="0"/>
          </a:p>
        </p:txBody>
      </p:sp>
      <p:graphicFrame>
        <p:nvGraphicFramePr>
          <p:cNvPr id="6" name="CV ROC-AUC by model" descr=""/>
          <p:cNvGraphicFramePr/>
          <p:nvPr/>
        </p:nvGraphicFramePr>
        <p:xfrm>
          <a:off x="548640" y="1600200"/>
          <a:ext cx="6035040" cy="4480560"/>
        </p:xfrm>
        <a:graphic xmlns:a="http://schemas.openxmlformats.org/drawingml/2006/main">
          <a:graphicData uri="http://schemas.openxmlformats.org/drawingml/2006/chart">
            <c:chart xmlns:c="http://schemas.openxmlformats.org/drawingml/2006/chart" r:id="rId1"/>
          </a:graphicData>
        </a:graphic>
      </p:graphicFrame>
      <p:sp>
        <p:nvSpPr>
          <p:cNvPr id="7" name="Text 3"/>
          <p:cNvSpPr txBox="1"/>
          <p:nvPr/>
        </p:nvSpPr>
        <p:spPr>
          <a:xfrm>
            <a:off x="548640" y="1554480"/>
            <a:ext cx="6035040" cy="320040"/>
          </a:xfrm>
          <a:prstGeom prst="rect">
            <a:avLst/>
          </a:prstGeom>
          <a:noFill/>
          <a:ln/>
        </p:spPr>
        <p:txBody>
          <a:bodyPr wrap="square" lIns="0" tIns="0" rIns="0" bIns="0" rtlCol="0" anchor="t"/>
          <a:lstStyle/>
          <a:p>
            <a:pPr indent="0" marL="0">
              <a:buNone/>
            </a:pPr>
            <a:r>
              <a:rPr lang="en-US" sz="1400" b="1" dirty="0">
                <a:solidFill>
                  <a:schemeClr val="tx2"/>
                </a:solidFill>
              </a:rPr>
              <a:t>ROC-AUC, 5-fold CV (axis starts at 0.50 = coin flip)</a:t>
            </a:r>
            <a:endParaRPr lang="en-US" sz="1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885432" y="1783080"/>
          <a:ext cx="4754880" cy="914400"/>
        </p:xfrm>
        <a:graphic>
          <a:graphicData uri="http://schemas.openxmlformats.org/drawingml/2006/table">
            <a:tbl>
              <a:tblPr/>
              <a:tblGrid>
                <a:gridCol w="1600200"/>
                <a:gridCol w="1143000"/>
                <a:gridCol w="1143000"/>
                <a:gridCol w="868680"/>
              </a:tblGrid>
              <a:tr h="548640">
                <a:tc>
                  <a:txBody>
                    <a:bodyPr/>
                    <a:lstStyle/>
                    <a:p>
                      <a:pPr algn="l" indent="0" marL="0">
                        <a:buNone/>
                      </a:pPr>
                      <a:r>
                        <a:rPr lang="en-US" sz="1200" b="1" dirty="0">
                          <a:solidFill>
                            <a:schemeClr val="bg1"/>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ROC-AUC</a:t>
                      </a:r>
                      <a:endParaRPr lang="en-US" sz="12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log loss</a:t>
                      </a:r>
                      <a:endParaRPr lang="en-US" sz="12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Brier</a:t>
                      </a:r>
                      <a:endParaRPr lang="en-US" sz="12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tx2"/>
                    </a:solidFill>
                  </a:tcPr>
                </a:tc>
              </a:tr>
              <a:tr h="548640">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Logistic Regression</a:t>
                      </a:r>
                      <a:endParaRPr lang="en-US" sz="12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0.728 ± 0.001</a:t>
                      </a:r>
                      <a:endParaRPr lang="en-US" sz="12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0.575 ± 0.001</a:t>
                      </a:r>
                      <a:endParaRPr lang="en-US" sz="12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0.1971</a:t>
                      </a:r>
                      <a:endParaRPr lang="en-US" sz="12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r>
              <a:tr h="548640">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Random Forest</a:t>
                      </a:r>
                      <a:endParaRPr lang="en-US" sz="12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0.718 ± 0.001</a:t>
                      </a:r>
                      <a:endParaRPr lang="en-US" sz="12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0.581 ± 0.001</a:t>
                      </a:r>
                      <a:endParaRPr lang="en-US" sz="12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0.1998</a:t>
                      </a:r>
                      <a:endParaRPr lang="en-US" sz="12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r>
              <a:tr h="548640">
                <a:tc>
                  <a:txBody>
                    <a:bodyPr/>
                    <a:lstStyle/>
                    <a:p>
                      <a:pPr algn="l" indent="0" marL="0">
                        <a:buNone/>
                      </a:pPr>
                      <a:r>
                        <a:rPr lang="en-US" sz="1200" b="1" dirty="0">
                          <a:solidFill>
                            <a:schemeClr val="tx1"/>
                          </a:solidFill>
                          <a:latin typeface="Calibri" pitchFamily="34" charset="0"/>
                          <a:ea typeface="Calibri" pitchFamily="34" charset="-122"/>
                          <a:cs typeface="Calibri" pitchFamily="34" charset="-120"/>
                        </a:rPr>
                        <a:t>Gradient Boosting</a:t>
                      </a:r>
                      <a:endParaRPr lang="en-US" sz="12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0.752 ± 0.001</a:t>
                      </a:r>
                      <a:endParaRPr lang="en-US" sz="12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0.556 ± 0.001</a:t>
                      </a:r>
                      <a:endParaRPr lang="en-US" sz="12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0.1895</a:t>
                      </a:r>
                      <a:endParaRPr lang="en-US" sz="12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r>
            </a:tbl>
          </a:graphicData>
        </a:graphic>
      </p:graphicFrame>
      <p:sp>
        <p:nvSpPr>
          <p:cNvPr id="9" name="Text 4"/>
          <p:cNvSpPr txBox="1"/>
          <p:nvPr/>
        </p:nvSpPr>
        <p:spPr>
          <a:xfrm>
            <a:off x="6885432" y="4206240"/>
            <a:ext cx="4754880" cy="1097280"/>
          </a:xfrm>
          <a:prstGeom prst="rect">
            <a:avLst/>
          </a:prstGeom>
          <a:noFill/>
          <a:ln/>
        </p:spPr>
        <p:txBody>
          <a:bodyPr wrap="square" lIns="0" tIns="0" rIns="0" bIns="0" rtlCol="0" anchor="t"/>
          <a:lstStyle/>
          <a:p>
            <a:pPr indent="0" marL="0">
              <a:buNone/>
            </a:pPr>
            <a:r>
              <a:rPr lang="en-US" sz="1400" dirty="0">
                <a:solidFill>
                  <a:schemeClr val="tx1"/>
                </a:solidFill>
              </a:rPr>
              <a:t>HistGradientBoosting with native categorical support; no class weights, so probabilities stay calibrated.</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chemeClr val="accent1"/>
                </a:solidFill>
              </a:rPr>
              <a:t>TUNING AND THRESHOLD</a:t>
            </a:r>
            <a:endParaRPr lang="en-US" sz="1200" dirty="0"/>
          </a:p>
        </p:txBody>
      </p:sp>
      <p:sp>
        <p:nvSpPr>
          <p:cNvPr id="3" name="Text 0"/>
          <p:cNvSpPr/>
          <p:nvPr>
            <p:ph idx="101" type="title" hasCustomPrompt="1"/>
          </p:nvPr>
        </p:nvSpPr>
        <p:spPr>
          <a:xfrm>
            <a:off x="548640" y="640080"/>
            <a:ext cx="11094415" cy="822960"/>
          </a:xfrm>
          <a:prstGeom prst="rect">
            <a:avLst/>
          </a:prstGeom>
          <a:noFill/>
          <a:ln/>
        </p:spPr>
        <p:txBody>
          <a:bodyPr wrap="square" lIns="0" tIns="0" rIns="0" bIns="0" rtlCol="0" anchor="t"/>
          <a:lstStyle/>
          <a:p>
            <a:pPr algn="l" indent="0" marL="0">
              <a:buNone/>
            </a:pPr>
            <a:r>
              <a:rPr lang="en-US" sz="3400" b="1" dirty="0">
                <a:solidFill>
                  <a:schemeClr val="tx2"/>
                </a:solidFill>
              </a:rPr>
              <a:t>Tuning barely moves the needle; the threshold matters</a:t>
            </a:r>
            <a:endParaRPr lang="en-US" sz="3400" dirty="0"/>
          </a:p>
        </p:txBody>
      </p:sp>
      <p:sp>
        <p:nvSpPr>
          <p:cNvPr id="4" name="Text 0"/>
          <p:cNvSpPr/>
          <p:nvPr>
            <p:ph idx="102" type="body" hasCustomPrompt="1"/>
          </p:nvPr>
        </p:nvSpPr>
        <p:spPr>
          <a:xfrm>
            <a:off x="548640" y="6400800"/>
            <a:ext cx="10362895" cy="274320"/>
          </a:xfrm>
          <a:prstGeom prst="rect">
            <a:avLst/>
          </a:prstGeom>
          <a:noFill/>
          <a:ln/>
        </p:spPr>
        <p:txBody>
          <a:bodyPr wrap="square" lIns="0" tIns="0" rIns="0" bIns="0" rtlCol="0" anchor="ctr"/>
          <a:lstStyle/>
          <a:p>
            <a:pPr indent="0" marL="0">
              <a:buNone/>
            </a:pPr>
            <a:r>
              <a:rPr lang="en-US" sz="1000" dirty="0">
                <a:solidFill>
                  <a:schemeClr val="accent4"/>
                </a:solidFill>
              </a:rPr>
              <a:t>RandomizedSearchCV (20 combinations, 5-fold, log loss) · TunedThresholdClassifierCV (5-fold, F1)</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5120640" cy="914400"/>
        </p:xfrm>
        <a:graphic>
          <a:graphicData uri="http://schemas.openxmlformats.org/drawingml/2006/table">
            <a:tbl>
              <a:tblPr/>
              <a:tblGrid>
                <a:gridCol w="3108960"/>
                <a:gridCol w="2011680"/>
              </a:tblGrid>
              <a:tr h="502920">
                <a:tc>
                  <a:txBody>
                    <a:bodyPr/>
                    <a:lstStyle/>
                    <a:p>
                      <a:pPr algn="l" indent="0" marL="0">
                        <a:buNone/>
                      </a:pPr>
                      <a:r>
                        <a:rPr lang="en-US" sz="1400" b="1" dirty="0">
                          <a:solidFill>
                            <a:schemeClr val="bg1"/>
                          </a:solidFill>
                          <a:latin typeface="Calibri" pitchFamily="34" charset="0"/>
                          <a:ea typeface="Calibri" pitchFamily="34" charset="-122"/>
                          <a:cs typeface="Calibri" pitchFamily="34" charset="-120"/>
                        </a:rPr>
                        <a:t>hyperparameter</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chosen</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tx2"/>
                    </a:solidFill>
                  </a:tcPr>
                </a:tc>
              </a:tr>
              <a:tr h="502920">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learning_rate</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0.05</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r>
              <a:tr h="502920">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max_iter</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400</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r>
              <a:tr h="502920">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max_leaf_nodes</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31</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r>
              <a:tr h="502920">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min_samples_leaf</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r>
              <a:tr h="502920">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l2_regularization</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r>
            </a:tbl>
          </a:graphicData>
        </a:graphic>
      </p:graphicFrame>
      <p:sp>
        <p:nvSpPr>
          <p:cNvPr id="7" name="best CV log loss card"/>
          <p:cNvSpPr/>
          <p:nvPr/>
        </p:nvSpPr>
        <p:spPr>
          <a:xfrm>
            <a:off x="6153912" y="1783080"/>
            <a:ext cx="2606040" cy="2194560"/>
          </a:xfrm>
          <a:prstGeom prst="roundRect">
            <a:avLst>
              <a:gd name="adj" fmla="val 5000"/>
            </a:avLst>
          </a:prstGeom>
          <a:solidFill>
            <a:schemeClr val="bg1"/>
          </a:solidFill>
          <a:ln w="12700">
            <a:solidFill>
              <a:srgbClr val="F5F7F6"/>
            </a:solidFill>
            <a:prstDash val="solid"/>
          </a:ln>
          <a:effectLst>
            <a:outerShdw sx="100000" sy="100000" kx="0" ky="0" algn="bl" rotWithShape="0" blurRad="101600" dist="25400" dir="5400000">
              <a:srgbClr val="000000">
                <a:alpha val="12000"/>
              </a:srgbClr>
            </a:outerShdw>
          </a:effectLst>
        </p:spPr>
      </p:sp>
      <p:sp>
        <p:nvSpPr>
          <p:cNvPr id="8" name="Text 4"/>
          <p:cNvSpPr txBox="1"/>
          <p:nvPr/>
        </p:nvSpPr>
        <p:spPr>
          <a:xfrm>
            <a:off x="6428232" y="2011680"/>
            <a:ext cx="2057400" cy="777240"/>
          </a:xfrm>
          <a:prstGeom prst="rect">
            <a:avLst/>
          </a:prstGeom>
          <a:noFill/>
          <a:ln/>
        </p:spPr>
        <p:txBody>
          <a:bodyPr wrap="square" lIns="0" tIns="0" rIns="0" bIns="0" rtlCol="0" anchor="t"/>
          <a:lstStyle/>
          <a:p>
            <a:pPr indent="0" marL="0">
              <a:buNone/>
            </a:pPr>
            <a:r>
              <a:rPr lang="en-US" sz="4000" b="1" dirty="0">
                <a:solidFill>
                  <a:schemeClr val="accent6"/>
                </a:solidFill>
                <a:latin typeface="Calibri" pitchFamily="34" charset="0"/>
                <a:ea typeface="Calibri" pitchFamily="34" charset="-122"/>
                <a:cs typeface="Calibri" pitchFamily="34" charset="-120"/>
              </a:rPr>
              <a:t>0.5555</a:t>
            </a:r>
            <a:endParaRPr lang="en-US" sz="4000" dirty="0"/>
          </a:p>
        </p:txBody>
      </p:sp>
      <p:sp>
        <p:nvSpPr>
          <p:cNvPr id="9" name="Text 5"/>
          <p:cNvSpPr txBox="1"/>
          <p:nvPr/>
        </p:nvSpPr>
        <p:spPr>
          <a:xfrm>
            <a:off x="6428232" y="2788920"/>
            <a:ext cx="2057400" cy="365760"/>
          </a:xfrm>
          <a:prstGeom prst="rect">
            <a:avLst/>
          </a:prstGeom>
          <a:noFill/>
          <a:ln/>
        </p:spPr>
        <p:txBody>
          <a:bodyPr wrap="square" lIns="0" tIns="0" rIns="0" bIns="0" rtlCol="0" anchor="t"/>
          <a:lstStyle/>
          <a:p>
            <a:pPr indent="0" marL="0">
              <a:buNone/>
            </a:pPr>
            <a:r>
              <a:rPr lang="en-US" sz="1600" b="1" dirty="0">
                <a:solidFill>
                  <a:schemeClr val="tx2"/>
                </a:solidFill>
              </a:rPr>
              <a:t>best CV log loss</a:t>
            </a:r>
            <a:endParaRPr lang="en-US" sz="1600" dirty="0"/>
          </a:p>
        </p:txBody>
      </p:sp>
      <p:sp>
        <p:nvSpPr>
          <p:cNvPr id="10" name="Text 6"/>
          <p:cNvSpPr txBox="1"/>
          <p:nvPr/>
        </p:nvSpPr>
        <p:spPr>
          <a:xfrm>
            <a:off x="6428232" y="3154680"/>
            <a:ext cx="2057400" cy="685800"/>
          </a:xfrm>
          <a:prstGeom prst="rect">
            <a:avLst/>
          </a:prstGeom>
          <a:noFill/>
          <a:ln/>
        </p:spPr>
        <p:txBody>
          <a:bodyPr wrap="square" lIns="0" tIns="0" rIns="0" bIns="0" rtlCol="0" anchor="t"/>
          <a:lstStyle/>
          <a:p>
            <a:pPr indent="0" marL="0">
              <a:buNone/>
            </a:pPr>
            <a:r>
              <a:rPr lang="en-US" sz="1300" dirty="0">
                <a:solidFill>
                  <a:schemeClr val="accent4"/>
                </a:solidFill>
              </a:rPr>
              <a:t>defaults: 0.5558 (± 0.001)</a:t>
            </a:r>
            <a:endParaRPr lang="en-US" sz="1300" dirty="0"/>
          </a:p>
        </p:txBody>
      </p:sp>
      <p:sp>
        <p:nvSpPr>
          <p:cNvPr id="11" name="F1-optimal threshold card"/>
          <p:cNvSpPr/>
          <p:nvPr/>
        </p:nvSpPr>
        <p:spPr>
          <a:xfrm>
            <a:off x="9034272" y="1783080"/>
            <a:ext cx="2606040" cy="2194560"/>
          </a:xfrm>
          <a:prstGeom prst="roundRect">
            <a:avLst>
              <a:gd name="adj" fmla="val 5000"/>
            </a:avLst>
          </a:prstGeom>
          <a:solidFill>
            <a:schemeClr val="bg1"/>
          </a:solidFill>
          <a:ln w="12700">
            <a:solidFill>
              <a:srgbClr val="F5F7F6"/>
            </a:solidFill>
            <a:prstDash val="solid"/>
          </a:ln>
          <a:effectLst>
            <a:outerShdw sx="100000" sy="100000" kx="0" ky="0" algn="bl" rotWithShape="0" blurRad="101600" dist="25400" dir="5400000">
              <a:srgbClr val="000000">
                <a:alpha val="12000"/>
              </a:srgbClr>
            </a:outerShdw>
          </a:effectLst>
        </p:spPr>
      </p:sp>
      <p:sp>
        <p:nvSpPr>
          <p:cNvPr id="12" name="Text 8"/>
          <p:cNvSpPr txBox="1"/>
          <p:nvPr/>
        </p:nvSpPr>
        <p:spPr>
          <a:xfrm>
            <a:off x="9308592" y="2011680"/>
            <a:ext cx="2057400" cy="777240"/>
          </a:xfrm>
          <a:prstGeom prst="rect">
            <a:avLst/>
          </a:prstGeom>
          <a:noFill/>
          <a:ln/>
        </p:spPr>
        <p:txBody>
          <a:bodyPr wrap="square" lIns="0" tIns="0" rIns="0" bIns="0" rtlCol="0" anchor="t"/>
          <a:lstStyle/>
          <a:p>
            <a:pPr indent="0" marL="0">
              <a:buNone/>
            </a:pPr>
            <a:r>
              <a:rPr lang="en-US" sz="4000" b="1" dirty="0">
                <a:solidFill>
                  <a:schemeClr val="accent1"/>
                </a:solidFill>
                <a:latin typeface="Calibri" pitchFamily="34" charset="0"/>
                <a:ea typeface="Calibri" pitchFamily="34" charset="-122"/>
                <a:cs typeface="Calibri" pitchFamily="34" charset="-120"/>
              </a:rPr>
              <a:t>0.299</a:t>
            </a:r>
            <a:endParaRPr lang="en-US" sz="4000" dirty="0"/>
          </a:p>
        </p:txBody>
      </p:sp>
      <p:sp>
        <p:nvSpPr>
          <p:cNvPr id="13" name="Text 9"/>
          <p:cNvSpPr txBox="1"/>
          <p:nvPr/>
        </p:nvSpPr>
        <p:spPr>
          <a:xfrm>
            <a:off x="9308592" y="2788920"/>
            <a:ext cx="2057400" cy="365760"/>
          </a:xfrm>
          <a:prstGeom prst="rect">
            <a:avLst/>
          </a:prstGeom>
          <a:noFill/>
          <a:ln/>
        </p:spPr>
        <p:txBody>
          <a:bodyPr wrap="square" lIns="0" tIns="0" rIns="0" bIns="0" rtlCol="0" anchor="t"/>
          <a:lstStyle/>
          <a:p>
            <a:pPr indent="0" marL="0">
              <a:buNone/>
            </a:pPr>
            <a:r>
              <a:rPr lang="en-US" sz="1600" b="1" dirty="0">
                <a:solidFill>
                  <a:schemeClr val="tx2"/>
                </a:solidFill>
              </a:rPr>
              <a:t>F1-optimal threshold</a:t>
            </a:r>
            <a:endParaRPr lang="en-US" sz="1600" dirty="0"/>
          </a:p>
        </p:txBody>
      </p:sp>
      <p:sp>
        <p:nvSpPr>
          <p:cNvPr id="14" name="Text 10"/>
          <p:cNvSpPr txBox="1"/>
          <p:nvPr/>
        </p:nvSpPr>
        <p:spPr>
          <a:xfrm>
            <a:off x="9308592" y="3154680"/>
            <a:ext cx="2057400" cy="685800"/>
          </a:xfrm>
          <a:prstGeom prst="rect">
            <a:avLst/>
          </a:prstGeom>
          <a:noFill/>
          <a:ln/>
        </p:spPr>
        <p:txBody>
          <a:bodyPr wrap="square" lIns="0" tIns="0" rIns="0" bIns="0" rtlCol="0" anchor="t"/>
          <a:lstStyle/>
          <a:p>
            <a:pPr indent="0" marL="0">
              <a:buNone/>
            </a:pPr>
            <a:r>
              <a:rPr lang="en-US" sz="1300" dirty="0">
                <a:solidFill>
                  <a:schemeClr val="accent4"/>
                </a:solidFill>
              </a:rPr>
              <a:t>CV F1 0.618</a:t>
            </a:r>
            <a:endParaRPr lang="en-US" sz="1300" dirty="0"/>
          </a:p>
        </p:txBody>
      </p:sp>
      <p:sp>
        <p:nvSpPr>
          <p:cNvPr id="15" name="Text 11"/>
          <p:cNvSpPr txBox="1"/>
          <p:nvPr/>
        </p:nvSpPr>
        <p:spPr>
          <a:xfrm>
            <a:off x="6153912" y="4251960"/>
            <a:ext cx="5486400" cy="1280160"/>
          </a:xfrm>
          <a:prstGeom prst="rect">
            <a:avLst/>
          </a:prstGeom>
          <a:noFill/>
          <a:ln/>
        </p:spPr>
        <p:txBody>
          <a:bodyPr wrap="square" lIns="0" tIns="0" rIns="0" bIns="0" rtlCol="0" anchor="t"/>
          <a:lstStyle/>
          <a:p>
            <a:pPr indent="0" marL="0">
              <a:buNone/>
            </a:pPr>
            <a:r>
              <a:rPr lang="en-US" sz="1500" dirty="0">
                <a:solidFill>
                  <a:schemeClr val="tx1"/>
                </a:solidFill>
              </a:rPr>
              <a:t>Early stopping is on by default, so max_iter is a ceiling (the final fit stopped at 231 trees). The threshold only sets the yes/no label; the probability is untouched.</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chemeClr val="accent1"/>
                </a:solidFill>
              </a:rPr>
              <a:t>TEST SET RESULTS</a:t>
            </a:r>
            <a:endParaRPr lang="en-US" sz="1200" dirty="0"/>
          </a:p>
        </p:txBody>
      </p:sp>
      <p:sp>
        <p:nvSpPr>
          <p:cNvPr id="3" name="Text 0"/>
          <p:cNvSpPr/>
          <p:nvPr>
            <p:ph idx="101" type="title" hasCustomPrompt="1"/>
          </p:nvPr>
        </p:nvSpPr>
        <p:spPr>
          <a:xfrm>
            <a:off x="548640" y="640080"/>
            <a:ext cx="11094415" cy="822960"/>
          </a:xfrm>
          <a:prstGeom prst="rect">
            <a:avLst/>
          </a:prstGeom>
          <a:noFill/>
          <a:ln/>
        </p:spPr>
        <p:txBody>
          <a:bodyPr wrap="square" lIns="0" tIns="0" rIns="0" bIns="0" rtlCol="0" anchor="t"/>
          <a:lstStyle/>
          <a:p>
            <a:pPr algn="l" indent="0" marL="0">
              <a:buNone/>
            </a:pPr>
            <a:r>
              <a:rPr lang="en-US" sz="3400" b="1" dirty="0">
                <a:solidFill>
                  <a:schemeClr val="tx2"/>
                </a:solidFill>
              </a:rPr>
              <a:t>Beats the goal rule, also at the same share</a:t>
            </a:r>
            <a:endParaRPr lang="en-US" sz="3400" dirty="0"/>
          </a:p>
        </p:txBody>
      </p:sp>
      <p:sp>
        <p:nvSpPr>
          <p:cNvPr id="4" name="Text 0"/>
          <p:cNvSpPr/>
          <p:nvPr>
            <p:ph idx="102" type="body" hasCustomPrompt="1"/>
          </p:nvPr>
        </p:nvSpPr>
        <p:spPr>
          <a:xfrm>
            <a:off x="548640" y="6400800"/>
            <a:ext cx="10362895" cy="274320"/>
          </a:xfrm>
          <a:prstGeom prst="rect">
            <a:avLst/>
          </a:prstGeom>
          <a:noFill/>
          <a:ln/>
        </p:spPr>
        <p:txBody>
          <a:bodyPr wrap="square" lIns="0" tIns="0" rIns="0" bIns="0" rtlCol="0" anchor="ctr"/>
          <a:lstStyle/>
          <a:p>
            <a:pPr indent="0" marL="0">
              <a:buNone/>
            </a:pPr>
            <a:r>
              <a:rPr lang="en-US" sz="1000" dirty="0">
                <a:solidFill>
                  <a:schemeClr val="accent4"/>
                </a:solidFill>
              </a:rPr>
              <a:t>74,459 held-out projects · same share: the model's threshold set so it labels as many projects as the rule (50%)</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7498080" cy="914400"/>
        </p:xfrm>
        <a:graphic>
          <a:graphicData uri="http://schemas.openxmlformats.org/drawingml/2006/table">
            <a:tbl>
              <a:tblPr/>
              <a:tblGrid>
                <a:gridCol w="2011680"/>
                <a:gridCol w="1645920"/>
                <a:gridCol w="2011680"/>
                <a:gridCol w="1828800"/>
              </a:tblGrid>
              <a:tr h="502920">
                <a:tc>
                  <a:txBody>
                    <a:bodyPr/>
                    <a:lstStyle/>
                    <a:p>
                      <a:pPr algn="l" indent="0" marL="0">
                        <a:buNone/>
                      </a:pPr>
                      <a:r>
                        <a:rPr lang="en-US" sz="1400" b="1" dirty="0">
                          <a:solidFill>
                            <a:schemeClr val="bg1"/>
                          </a:solidFill>
                          <a:latin typeface="Calibri" pitchFamily="34" charset="0"/>
                          <a:ea typeface="Calibri" pitchFamily="34" charset="-122"/>
                          <a:cs typeface="Calibri" pitchFamily="34" charset="-120"/>
                        </a:rPr>
                        <a:t>metric</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Goal rule</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Model (F1 threshold)</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Model (same share)</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tx2"/>
                    </a:solidFill>
                  </a:tcPr>
                </a:tc>
              </a:tr>
              <a:tr h="502920">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Accuracy</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0.591</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0.641</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0.671</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r>
              <a:tr h="502920">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Precision</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0.451</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0.501</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0.530</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r>
              <a:tr h="502920">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Recall</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0.625</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0.811</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0.736</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r>
              <a:tr h="502920">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F1</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0.524</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1"/>
                          </a:solidFill>
                          <a:latin typeface="Calibri" pitchFamily="34" charset="0"/>
                          <a:ea typeface="Calibri" pitchFamily="34" charset="-122"/>
                          <a:cs typeface="Calibri" pitchFamily="34" charset="-120"/>
                        </a:rPr>
                        <a:t>0.619</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0.616</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r>
              <a:tr h="502920">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Share labelled</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50%</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58%</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50%</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r>
              <a:tr h="502920">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ROC-AUC</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1"/>
                          </a:solidFill>
                          <a:latin typeface="Calibri" pitchFamily="34" charset="0"/>
                          <a:ea typeface="Calibri" pitchFamily="34" charset="-122"/>
                          <a:cs typeface="Calibri" pitchFamily="34" charset="-120"/>
                        </a:rPr>
                        <a:t>0.754</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same model</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r>
              <a:tr h="502920">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Brier</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0.189</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same model</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r>
            </a:tbl>
          </a:graphicData>
        </a:graphic>
      </p:graphicFrame>
      <p:sp>
        <p:nvSpPr>
          <p:cNvPr id="7" name="test notes"/>
          <p:cNvSpPr/>
          <p:nvPr/>
        </p:nvSpPr>
        <p:spPr>
          <a:xfrm>
            <a:off x="8412480" y="1737360"/>
            <a:ext cx="3227832" cy="4023360"/>
          </a:xfrm>
          <a:prstGeom prst="roundRect">
            <a:avLst>
              <a:gd name="adj" fmla="val 3399"/>
            </a:avLst>
          </a:prstGeom>
          <a:solidFill>
            <a:schemeClr val="bg2"/>
          </a:solidFill>
          <a:ln w="12700">
            <a:solidFill>
              <a:srgbClr val="F5F7F6"/>
            </a:solidFill>
            <a:prstDash val="solid"/>
          </a:ln>
        </p:spPr>
      </p:sp>
      <p:sp>
        <p:nvSpPr>
          <p:cNvPr id="8" name="Text 4"/>
          <p:cNvSpPr txBox="1"/>
          <p:nvPr/>
        </p:nvSpPr>
        <p:spPr>
          <a:xfrm>
            <a:off x="8686800" y="1965960"/>
            <a:ext cx="2743200" cy="365760"/>
          </a:xfrm>
          <a:prstGeom prst="rect">
            <a:avLst/>
          </a:prstGeom>
          <a:noFill/>
          <a:ln/>
        </p:spPr>
        <p:txBody>
          <a:bodyPr wrap="square" lIns="0" tIns="0" rIns="0" bIns="0" rtlCol="0" anchor="t"/>
          <a:lstStyle/>
          <a:p>
            <a:pPr indent="0" marL="0">
              <a:buNone/>
            </a:pPr>
            <a:r>
              <a:rPr lang="en-US" sz="1700" b="1" dirty="0">
                <a:solidFill>
                  <a:schemeClr val="tx2"/>
                </a:solidFill>
              </a:rPr>
              <a:t>CV and test agree</a:t>
            </a:r>
            <a:endParaRPr lang="en-US" sz="1700" dirty="0"/>
          </a:p>
        </p:txBody>
      </p:sp>
      <p:sp>
        <p:nvSpPr>
          <p:cNvPr id="9" name="Text 5"/>
          <p:cNvSpPr txBox="1"/>
          <p:nvPr/>
        </p:nvSpPr>
        <p:spPr>
          <a:xfrm>
            <a:off x="8686800" y="2377440"/>
            <a:ext cx="2743200" cy="1005840"/>
          </a:xfrm>
          <a:prstGeom prst="rect">
            <a:avLst/>
          </a:prstGeom>
          <a:noFill/>
          <a:ln/>
        </p:spPr>
        <p:txBody>
          <a:bodyPr wrap="square" lIns="0" tIns="0" rIns="0" bIns="0" rtlCol="0" anchor="t"/>
          <a:lstStyle/>
          <a:p>
            <a:pPr indent="0" marL="0">
              <a:buNone/>
            </a:pPr>
            <a:r>
              <a:rPr lang="en-US" sz="1400" dirty="0">
                <a:solidFill>
                  <a:schemeClr val="tx1"/>
                </a:solidFill>
              </a:rPr>
              <a:t>ROC-AUC 0.752 (CV) vs 0.754 (test). Brier 0.1895 vs 0.189.</a:t>
            </a:r>
            <a:endParaRPr lang="en-US" sz="1400" dirty="0"/>
          </a:p>
        </p:txBody>
      </p:sp>
      <p:sp>
        <p:nvSpPr>
          <p:cNvPr id="10" name="Text 6"/>
          <p:cNvSpPr txBox="1"/>
          <p:nvPr/>
        </p:nvSpPr>
        <p:spPr>
          <a:xfrm>
            <a:off x="8686800" y="3474720"/>
            <a:ext cx="2743200" cy="365760"/>
          </a:xfrm>
          <a:prstGeom prst="rect">
            <a:avLst/>
          </a:prstGeom>
          <a:noFill/>
          <a:ln/>
        </p:spPr>
        <p:txBody>
          <a:bodyPr wrap="square" lIns="0" tIns="0" rIns="0" bIns="0" rtlCol="0" anchor="t"/>
          <a:lstStyle/>
          <a:p>
            <a:pPr indent="0" marL="0">
              <a:buNone/>
            </a:pPr>
            <a:r>
              <a:rPr lang="en-US" sz="1700" b="1" dirty="0">
                <a:solidFill>
                  <a:schemeClr val="tx2"/>
                </a:solidFill>
              </a:rPr>
              <a:t>Warnings work</a:t>
            </a:r>
            <a:endParaRPr lang="en-US" sz="1700" dirty="0"/>
          </a:p>
        </p:txBody>
      </p:sp>
      <p:sp>
        <p:nvSpPr>
          <p:cNvPr id="11" name="Text 7"/>
          <p:cNvSpPr txBox="1"/>
          <p:nvPr/>
        </p:nvSpPr>
        <p:spPr>
          <a:xfrm>
            <a:off x="8686800" y="3886200"/>
            <a:ext cx="2743200" cy="1188720"/>
          </a:xfrm>
          <a:prstGeom prst="rect">
            <a:avLst/>
          </a:prstGeom>
          <a:noFill/>
          <a:ln/>
        </p:spPr>
        <p:txBody>
          <a:bodyPr wrap="square" lIns="0" tIns="0" rIns="0" bIns="0" rtlCol="0" anchor="t"/>
          <a:lstStyle/>
          <a:p>
            <a:pPr indent="0" marL="0">
              <a:buNone/>
            </a:pPr>
            <a:r>
              <a:rPr lang="en-US" sz="1400" dirty="0">
                <a:solidFill>
                  <a:schemeClr val="tx1"/>
                </a:solidFill>
              </a:rPr>
              <a:t>When it says "not funded" it is right 84% of the time (base rate 64%).</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chemeClr val="accent1"/>
                </a:solidFill>
              </a:rPr>
              <a:t>CALIBRATION</a:t>
            </a:r>
            <a:endParaRPr lang="en-US" sz="1200" dirty="0"/>
          </a:p>
        </p:txBody>
      </p:sp>
      <p:sp>
        <p:nvSpPr>
          <p:cNvPr id="3" name="Text 0"/>
          <p:cNvSpPr/>
          <p:nvPr>
            <p:ph idx="101" type="title" hasCustomPrompt="1"/>
          </p:nvPr>
        </p:nvSpPr>
        <p:spPr>
          <a:xfrm>
            <a:off x="548640" y="640080"/>
            <a:ext cx="11094415" cy="822960"/>
          </a:xfrm>
          <a:prstGeom prst="rect">
            <a:avLst/>
          </a:prstGeom>
          <a:noFill/>
          <a:ln/>
        </p:spPr>
        <p:txBody>
          <a:bodyPr wrap="square" lIns="0" tIns="0" rIns="0" bIns="0" rtlCol="0" anchor="t"/>
          <a:lstStyle/>
          <a:p>
            <a:pPr algn="l" indent="0" marL="0">
              <a:buNone/>
            </a:pPr>
            <a:r>
              <a:rPr lang="en-US" sz="3400" b="1" dirty="0">
                <a:solidFill>
                  <a:schemeClr val="tx2"/>
                </a:solidFill>
              </a:rPr>
              <a:t>When it says 40%, about 40% get funded</a:t>
            </a:r>
            <a:endParaRPr lang="en-US" sz="3400" dirty="0"/>
          </a:p>
        </p:txBody>
      </p:sp>
      <p:sp>
        <p:nvSpPr>
          <p:cNvPr id="4" name="Text 0"/>
          <p:cNvSpPr/>
          <p:nvPr>
            <p:ph idx="102" type="body" hasCustomPrompt="1"/>
          </p:nvPr>
        </p:nvSpPr>
        <p:spPr>
          <a:xfrm>
            <a:off x="548640" y="6400800"/>
            <a:ext cx="10362895" cy="274320"/>
          </a:xfrm>
          <a:prstGeom prst="rect">
            <a:avLst/>
          </a:prstGeom>
          <a:noFill/>
          <a:ln/>
        </p:spPr>
        <p:txBody>
          <a:bodyPr wrap="square" lIns="0" tIns="0" rIns="0" bIns="0" rtlCol="0" anchor="ctr"/>
          <a:lstStyle/>
          <a:p>
            <a:pPr indent="0" marL="0">
              <a:buNone/>
            </a:pPr>
            <a:r>
              <a:rPr lang="en-US" sz="1000" dirty="0">
                <a:solidFill>
                  <a:schemeClr val="accent4"/>
                </a:solidFill>
              </a:rPr>
              <a:t>Test set · 10 equal-width probability bins · the top bin holds only 18 projects</a:t>
            </a:r>
            <a:endParaRPr lang="en-US" sz="1000" dirty="0"/>
          </a:p>
        </p:txBody>
      </p:sp>
      <p:graphicFrame>
        <p:nvGraphicFramePr>
          <p:cNvPr id="6" name="Calibration by probability bin" descr=""/>
          <p:cNvGraphicFramePr/>
          <p:nvPr/>
        </p:nvGraphicFramePr>
        <p:xfrm>
          <a:off x="548640" y="1600200"/>
          <a:ext cx="7223760" cy="4526280"/>
        </p:xfrm>
        <a:graphic xmlns:a="http://schemas.openxmlformats.org/drawingml/2006/main">
          <a:graphicData uri="http://schemas.openxmlformats.org/drawingml/2006/chart">
            <c:chart xmlns:c="http://schemas.openxmlformats.org/drawingml/2006/chart" r:id="rId1"/>
          </a:graphicData>
        </a:graphic>
      </p:graphicFrame>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8138160" y="1783080"/>
          <a:ext cx="3502152" cy="914400"/>
        </p:xfrm>
        <a:graphic>
          <a:graphicData uri="http://schemas.openxmlformats.org/drawingml/2006/table">
            <a:tbl>
              <a:tblPr/>
              <a:tblGrid>
                <a:gridCol w="1673352"/>
                <a:gridCol w="914400"/>
                <a:gridCol w="914400"/>
              </a:tblGrid>
              <a:tr h="548640">
                <a:tc>
                  <a:txBody>
                    <a:bodyPr/>
                    <a:lstStyle/>
                    <a:p>
                      <a:pPr algn="l" indent="0" marL="0">
                        <a:buNone/>
                      </a:pPr>
                      <a:r>
                        <a:rPr lang="en-US" sz="1400" b="1" dirty="0">
                          <a:solidFill>
                            <a:schemeClr val="bg1"/>
                          </a:solidFill>
                          <a:latin typeface="Calibri" pitchFamily="34" charset="0"/>
                          <a:ea typeface="Calibri" pitchFamily="34" charset="-122"/>
                          <a:cs typeface="Calibri" pitchFamily="34" charset="-120"/>
                        </a:rPr>
                        <a:t>chance band</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share</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funded</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tx2"/>
                    </a:solidFill>
                  </a:tcPr>
                </a:tc>
              </a:tr>
              <a:tr h="548640">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below average</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34%</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14%</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r>
              <a:tr h="548640">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about average</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39%</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37%</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r>
              <a:tr h="548640">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above average</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27%</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62%</a:t>
                      </a:r>
                      <a:endParaRPr lang="en-US" sz="14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r>
            </a:tbl>
          </a:graphicData>
        </a:graphic>
      </p:graphicFrame>
      <p:sp>
        <p:nvSpPr>
          <p:cNvPr id="8" name="Text 3"/>
          <p:cNvSpPr txBox="1"/>
          <p:nvPr/>
        </p:nvSpPr>
        <p:spPr>
          <a:xfrm>
            <a:off x="8138160" y="4206240"/>
            <a:ext cx="3502152" cy="1371600"/>
          </a:xfrm>
          <a:prstGeom prst="rect">
            <a:avLst/>
          </a:prstGeom>
          <a:noFill/>
          <a:ln/>
        </p:spPr>
        <p:txBody>
          <a:bodyPr wrap="square" lIns="0" tIns="0" rIns="0" bIns="0" rtlCol="0" anchor="t"/>
          <a:lstStyle/>
          <a:p>
            <a:pPr indent="0" marL="0">
              <a:buNone/>
            </a:pPr>
            <a:r>
              <a:rPr lang="en-US" sz="1400" dirty="0">
                <a:solidFill>
                  <a:schemeClr val="tx1"/>
                </a:solidFill>
              </a:rPr>
              <a:t>Bands are what Launch Check shows. Cut-offs at 25% and 50% are round numbers: always show the probability first.</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chemeClr val="accent1"/>
                </a:solidFill>
              </a:rPr>
              <a:t>STABILITY OVER TIME</a:t>
            </a:r>
            <a:endParaRPr lang="en-US" sz="1200" dirty="0"/>
          </a:p>
        </p:txBody>
      </p:sp>
      <p:sp>
        <p:nvSpPr>
          <p:cNvPr id="3" name="Text 0"/>
          <p:cNvSpPr/>
          <p:nvPr>
            <p:ph idx="101" type="title" hasCustomPrompt="1"/>
          </p:nvPr>
        </p:nvSpPr>
        <p:spPr>
          <a:xfrm>
            <a:off x="548640" y="640080"/>
            <a:ext cx="11094415" cy="822960"/>
          </a:xfrm>
          <a:prstGeom prst="rect">
            <a:avLst/>
          </a:prstGeom>
          <a:noFill/>
          <a:ln/>
        </p:spPr>
        <p:txBody>
          <a:bodyPr wrap="square" lIns="0" tIns="0" rIns="0" bIns="0" rtlCol="0" anchor="t"/>
          <a:lstStyle/>
          <a:p>
            <a:pPr algn="l" indent="0" marL="0">
              <a:buNone/>
            </a:pPr>
            <a:r>
              <a:rPr lang="en-US" sz="3400" b="1" dirty="0">
                <a:solidFill>
                  <a:schemeClr val="tx2"/>
                </a:solidFill>
              </a:rPr>
              <a:t>The ranking holds; the level drifts</a:t>
            </a:r>
            <a:endParaRPr lang="en-US" sz="3400" dirty="0"/>
          </a:p>
        </p:txBody>
      </p:sp>
      <p:sp>
        <p:nvSpPr>
          <p:cNvPr id="4" name="Text 0"/>
          <p:cNvSpPr/>
          <p:nvPr>
            <p:ph idx="102" type="body" hasCustomPrompt="1"/>
          </p:nvPr>
        </p:nvSpPr>
        <p:spPr>
          <a:xfrm>
            <a:off x="548640" y="6400800"/>
            <a:ext cx="10362895" cy="274320"/>
          </a:xfrm>
          <a:prstGeom prst="rect">
            <a:avLst/>
          </a:prstGeom>
          <a:noFill/>
          <a:ln/>
        </p:spPr>
        <p:txBody>
          <a:bodyPr wrap="square" lIns="0" tIns="0" rIns="0" bIns="0" rtlCol="0" anchor="ctr"/>
          <a:lstStyle/>
          <a:p>
            <a:pPr indent="0" marL="0">
              <a:buNone/>
            </a:pPr>
            <a:r>
              <a:rPr lang="en-US" sz="1000" dirty="0">
                <a:solidFill>
                  <a:schemeClr val="accent4"/>
                </a:solidFill>
              </a:rPr>
              <a:t>Left: trained on projects launched before 2016, tested on 2016 onwards · right: random-split test set by launch year</a:t>
            </a:r>
            <a:endParaRPr lang="en-US" sz="1000" dirty="0"/>
          </a:p>
        </p:txBody>
      </p:sp>
      <p:sp>
        <p:nvSpPr>
          <p:cNvPr id="6" name="ROC-AUC, 2016+ card"/>
          <p:cNvSpPr/>
          <p:nvPr/>
        </p:nvSpPr>
        <p:spPr>
          <a:xfrm>
            <a:off x="548640" y="1783080"/>
            <a:ext cx="3291840" cy="1965960"/>
          </a:xfrm>
          <a:prstGeom prst="roundRect">
            <a:avLst>
              <a:gd name="adj" fmla="val 5581"/>
            </a:avLst>
          </a:prstGeom>
          <a:solidFill>
            <a:schemeClr val="bg1"/>
          </a:solidFill>
          <a:ln w="12700">
            <a:solidFill>
              <a:srgbClr val="F5F7F6"/>
            </a:solidFill>
            <a:prstDash val="solid"/>
          </a:ln>
          <a:effectLst>
            <a:outerShdw sx="100000" sy="100000" kx="0" ky="0" algn="bl" rotWithShape="0" blurRad="101600" dist="25400" dir="5400000">
              <a:srgbClr val="000000">
                <a:alpha val="12000"/>
              </a:srgbClr>
            </a:outerShdw>
          </a:effectLst>
        </p:spPr>
      </p:sp>
      <p:sp>
        <p:nvSpPr>
          <p:cNvPr id="7" name="Text 4"/>
          <p:cNvSpPr txBox="1"/>
          <p:nvPr/>
        </p:nvSpPr>
        <p:spPr>
          <a:xfrm>
            <a:off x="822960" y="2011680"/>
            <a:ext cx="2743200" cy="777240"/>
          </a:xfrm>
          <a:prstGeom prst="rect">
            <a:avLst/>
          </a:prstGeom>
          <a:noFill/>
          <a:ln/>
        </p:spPr>
        <p:txBody>
          <a:bodyPr wrap="square" lIns="0" tIns="0" rIns="0" bIns="0" rtlCol="0" anchor="t"/>
          <a:lstStyle/>
          <a:p>
            <a:pPr indent="0" marL="0">
              <a:buNone/>
            </a:pPr>
            <a:r>
              <a:rPr lang="en-US" sz="4000" b="1" dirty="0">
                <a:solidFill>
                  <a:schemeClr val="accent1"/>
                </a:solidFill>
                <a:latin typeface="Calibri" pitchFamily="34" charset="0"/>
                <a:ea typeface="Calibri" pitchFamily="34" charset="-122"/>
                <a:cs typeface="Calibri" pitchFamily="34" charset="-120"/>
              </a:rPr>
              <a:t>0.757</a:t>
            </a:r>
            <a:endParaRPr lang="en-US" sz="4000" dirty="0"/>
          </a:p>
        </p:txBody>
      </p:sp>
      <p:sp>
        <p:nvSpPr>
          <p:cNvPr id="8" name="Text 5"/>
          <p:cNvSpPr txBox="1"/>
          <p:nvPr/>
        </p:nvSpPr>
        <p:spPr>
          <a:xfrm>
            <a:off x="822960" y="2788920"/>
            <a:ext cx="2743200" cy="365760"/>
          </a:xfrm>
          <a:prstGeom prst="rect">
            <a:avLst/>
          </a:prstGeom>
          <a:noFill/>
          <a:ln/>
        </p:spPr>
        <p:txBody>
          <a:bodyPr wrap="square" lIns="0" tIns="0" rIns="0" bIns="0" rtlCol="0" anchor="t"/>
          <a:lstStyle/>
          <a:p>
            <a:pPr indent="0" marL="0">
              <a:buNone/>
            </a:pPr>
            <a:r>
              <a:rPr lang="en-US" sz="1600" b="1" dirty="0">
                <a:solidFill>
                  <a:schemeClr val="tx2"/>
                </a:solidFill>
              </a:rPr>
              <a:t>ROC-AUC, 2016+</a:t>
            </a:r>
            <a:endParaRPr lang="en-US" sz="1600" dirty="0"/>
          </a:p>
        </p:txBody>
      </p:sp>
      <p:sp>
        <p:nvSpPr>
          <p:cNvPr id="9" name="Text 6"/>
          <p:cNvSpPr txBox="1"/>
          <p:nvPr/>
        </p:nvSpPr>
        <p:spPr>
          <a:xfrm>
            <a:off x="822960" y="3154680"/>
            <a:ext cx="2743200" cy="457200"/>
          </a:xfrm>
          <a:prstGeom prst="rect">
            <a:avLst/>
          </a:prstGeom>
          <a:noFill/>
          <a:ln/>
        </p:spPr>
        <p:txBody>
          <a:bodyPr wrap="square" lIns="0" tIns="0" rIns="0" bIns="0" rtlCol="0" anchor="t"/>
          <a:lstStyle/>
          <a:p>
            <a:pPr indent="0" marL="0">
              <a:buNone/>
            </a:pPr>
            <a:r>
              <a:rPr lang="en-US" sz="1300" dirty="0">
                <a:solidFill>
                  <a:schemeClr val="accent4"/>
                </a:solidFill>
              </a:rPr>
              <a:t>random split: 0.754</a:t>
            </a:r>
            <a:endParaRPr lang="en-US" sz="1300" dirty="0"/>
          </a:p>
        </p:txBody>
      </p:sp>
      <p:sp>
        <p:nvSpPr>
          <p:cNvPr id="10" name="predicted vs actual card"/>
          <p:cNvSpPr/>
          <p:nvPr/>
        </p:nvSpPr>
        <p:spPr>
          <a:xfrm>
            <a:off x="548640" y="3931920"/>
            <a:ext cx="3291840" cy="1965960"/>
          </a:xfrm>
          <a:prstGeom prst="roundRect">
            <a:avLst>
              <a:gd name="adj" fmla="val 5581"/>
            </a:avLst>
          </a:prstGeom>
          <a:solidFill>
            <a:schemeClr val="bg1"/>
          </a:solidFill>
          <a:ln w="12700">
            <a:solidFill>
              <a:srgbClr val="F5F7F6"/>
            </a:solidFill>
            <a:prstDash val="solid"/>
          </a:ln>
          <a:effectLst>
            <a:outerShdw sx="100000" sy="100000" kx="0" ky="0" algn="bl" rotWithShape="0" blurRad="101600" dist="25400" dir="5400000">
              <a:srgbClr val="000000">
                <a:alpha val="12000"/>
              </a:srgbClr>
            </a:outerShdw>
          </a:effectLst>
        </p:spPr>
      </p:sp>
      <p:sp>
        <p:nvSpPr>
          <p:cNvPr id="11" name="Text 8"/>
          <p:cNvSpPr txBox="1"/>
          <p:nvPr/>
        </p:nvSpPr>
        <p:spPr>
          <a:xfrm>
            <a:off x="822960" y="4160520"/>
            <a:ext cx="2743200" cy="777240"/>
          </a:xfrm>
          <a:prstGeom prst="rect">
            <a:avLst/>
          </a:prstGeom>
          <a:noFill/>
          <a:ln/>
        </p:spPr>
        <p:txBody>
          <a:bodyPr wrap="square" lIns="0" tIns="0" rIns="0" bIns="0" rtlCol="0" anchor="t"/>
          <a:lstStyle/>
          <a:p>
            <a:pPr indent="0" marL="0">
              <a:buNone/>
            </a:pPr>
            <a:r>
              <a:rPr lang="en-US" sz="4000" b="1" dirty="0">
                <a:solidFill>
                  <a:schemeClr val="accent2"/>
                </a:solidFill>
                <a:latin typeface="Calibri" pitchFamily="34" charset="0"/>
                <a:ea typeface="Calibri" pitchFamily="34" charset="-122"/>
                <a:cs typeface="Calibri" pitchFamily="34" charset="-120"/>
              </a:rPr>
              <a:t>33% vs 35%</a:t>
            </a:r>
            <a:endParaRPr lang="en-US" sz="4000" dirty="0"/>
          </a:p>
        </p:txBody>
      </p:sp>
      <p:sp>
        <p:nvSpPr>
          <p:cNvPr id="12" name="Text 9"/>
          <p:cNvSpPr txBox="1"/>
          <p:nvPr/>
        </p:nvSpPr>
        <p:spPr>
          <a:xfrm>
            <a:off x="822960" y="4937760"/>
            <a:ext cx="2743200" cy="365760"/>
          </a:xfrm>
          <a:prstGeom prst="rect">
            <a:avLst/>
          </a:prstGeom>
          <a:noFill/>
          <a:ln/>
        </p:spPr>
        <p:txBody>
          <a:bodyPr wrap="square" lIns="0" tIns="0" rIns="0" bIns="0" rtlCol="0" anchor="t"/>
          <a:lstStyle/>
          <a:p>
            <a:pPr indent="0" marL="0">
              <a:buNone/>
            </a:pPr>
            <a:r>
              <a:rPr lang="en-US" sz="1600" b="1" dirty="0">
                <a:solidFill>
                  <a:schemeClr val="tx2"/>
                </a:solidFill>
              </a:rPr>
              <a:t>predicted vs actual</a:t>
            </a:r>
            <a:endParaRPr lang="en-US" sz="1600" dirty="0"/>
          </a:p>
        </p:txBody>
      </p:sp>
      <p:sp>
        <p:nvSpPr>
          <p:cNvPr id="13" name="Text 10"/>
          <p:cNvSpPr txBox="1"/>
          <p:nvPr/>
        </p:nvSpPr>
        <p:spPr>
          <a:xfrm>
            <a:off x="822960" y="5303520"/>
            <a:ext cx="2743200" cy="457200"/>
          </a:xfrm>
          <a:prstGeom prst="rect">
            <a:avLst/>
          </a:prstGeom>
          <a:noFill/>
          <a:ln/>
        </p:spPr>
        <p:txBody>
          <a:bodyPr wrap="square" lIns="0" tIns="0" rIns="0" bIns="0" rtlCol="0" anchor="t"/>
          <a:lstStyle/>
          <a:p>
            <a:pPr indent="0" marL="0">
              <a:buNone/>
            </a:pPr>
            <a:r>
              <a:rPr lang="en-US" sz="1300" dirty="0">
                <a:solidFill>
                  <a:schemeClr val="accent4"/>
                </a:solidFill>
              </a:rPr>
              <a:t>recall 0.749 (random split 0.811)</a:t>
            </a:r>
            <a:endParaRPr lang="en-US" sz="1300" dirty="0"/>
          </a:p>
        </p:txBody>
      </p:sp>
      <p:graphicFrame>
        <p:nvGraphicFramePr>
          <p:cNvPr id="14" name="Calibration by launch year" descr=""/>
          <p:cNvGraphicFramePr/>
          <p:nvPr/>
        </p:nvGraphicFramePr>
        <p:xfrm>
          <a:off x="4206240" y="1600200"/>
          <a:ext cx="7434072" cy="45262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chemeClr val="accent1"/>
                </a:solidFill>
              </a:rPr>
              <a:t>ERROR ANALYSIS</a:t>
            </a:r>
            <a:endParaRPr lang="en-US" sz="1200" dirty="0"/>
          </a:p>
        </p:txBody>
      </p:sp>
      <p:sp>
        <p:nvSpPr>
          <p:cNvPr id="3" name="Text 0"/>
          <p:cNvSpPr/>
          <p:nvPr>
            <p:ph idx="101" type="title" hasCustomPrompt="1"/>
          </p:nvPr>
        </p:nvSpPr>
        <p:spPr>
          <a:xfrm>
            <a:off x="548640" y="640080"/>
            <a:ext cx="11094415" cy="822960"/>
          </a:xfrm>
          <a:prstGeom prst="rect">
            <a:avLst/>
          </a:prstGeom>
          <a:noFill/>
          <a:ln/>
        </p:spPr>
        <p:txBody>
          <a:bodyPr wrap="square" lIns="0" tIns="0" rIns="0" bIns="0" rtlCol="0" anchor="t"/>
          <a:lstStyle/>
          <a:p>
            <a:pPr algn="l" indent="0" marL="0">
              <a:buNone/>
            </a:pPr>
            <a:r>
              <a:rPr lang="en-US" sz="3400" b="1" dirty="0">
                <a:solidFill>
                  <a:schemeClr val="tx2"/>
                </a:solidFill>
              </a:rPr>
              <a:t>Probabilities hold in every segment; the label does not</a:t>
            </a:r>
            <a:endParaRPr lang="en-US" sz="3400" dirty="0"/>
          </a:p>
        </p:txBody>
      </p:sp>
      <p:sp>
        <p:nvSpPr>
          <p:cNvPr id="4" name="Text 0"/>
          <p:cNvSpPr/>
          <p:nvPr>
            <p:ph idx="102" type="body" hasCustomPrompt="1"/>
          </p:nvPr>
        </p:nvSpPr>
        <p:spPr>
          <a:xfrm>
            <a:off x="548640" y="6400800"/>
            <a:ext cx="10362895" cy="274320"/>
          </a:xfrm>
          <a:prstGeom prst="rect">
            <a:avLst/>
          </a:prstGeom>
          <a:noFill/>
          <a:ln/>
        </p:spPr>
        <p:txBody>
          <a:bodyPr wrap="square" lIns="0" tIns="0" rIns="0" bIns="0" rtlCol="0" anchor="ctr"/>
          <a:lstStyle/>
          <a:p>
            <a:pPr indent="0" marL="0">
              <a:buNone/>
            </a:pPr>
            <a:r>
              <a:rPr lang="en-US" sz="1000" dirty="0">
                <a:solidFill>
                  <a:schemeClr val="accent4"/>
                </a:solidFill>
              </a:rPr>
              <a:t>Test set · ROC-AUC within each main category (overall 0.754) · axis starts at 0.60</a:t>
            </a:r>
            <a:endParaRPr lang="en-US" sz="1000" dirty="0"/>
          </a:p>
        </p:txBody>
      </p:sp>
      <p:graphicFrame>
        <p:nvGraphicFramePr>
          <p:cNvPr id="6" name="ROC-AUC within category" descr=""/>
          <p:cNvGraphicFramePr/>
          <p:nvPr/>
        </p:nvGraphicFramePr>
        <p:xfrm>
          <a:off x="548640" y="1600200"/>
          <a:ext cx="6766560" cy="4617720"/>
        </p:xfrm>
        <a:graphic xmlns:a="http://schemas.openxmlformats.org/drawingml/2006/main">
          <a:graphicData uri="http://schemas.openxmlformats.org/drawingml/2006/chart">
            <c:chart xmlns:c="http://schemas.openxmlformats.org/drawingml/2006/chart" r:id="rId1"/>
          </a:graphicData>
        </a:graphic>
      </p:graphicFrame>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680960" y="1783080"/>
          <a:ext cx="3959352" cy="914400"/>
        </p:xfrm>
        <a:graphic>
          <a:graphicData uri="http://schemas.openxmlformats.org/drawingml/2006/table">
            <a:tbl>
              <a:tblPr/>
              <a:tblGrid>
                <a:gridCol w="1325880"/>
                <a:gridCol w="877824"/>
                <a:gridCol w="914400"/>
                <a:gridCol w="841248"/>
              </a:tblGrid>
              <a:tr h="502920">
                <a:tc>
                  <a:txBody>
                    <a:bodyPr/>
                    <a:lstStyle/>
                    <a:p>
                      <a:pPr algn="l" indent="0" marL="0">
                        <a:buNone/>
                      </a:pPr>
                      <a:r>
                        <a:rPr lang="en-US" sz="1300" b="1" dirty="0">
                          <a:solidFill>
                            <a:schemeClr val="bg1"/>
                          </a:solidFill>
                          <a:latin typeface="Calibri" pitchFamily="34" charset="0"/>
                          <a:ea typeface="Calibri" pitchFamily="34" charset="-122"/>
                          <a:cs typeface="Calibri" pitchFamily="34" charset="-120"/>
                        </a:rPr>
                        <a:t>segment</a:t>
                      </a:r>
                      <a:endParaRPr lang="en-US" sz="13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funded</a:t>
                      </a:r>
                      <a:endParaRPr lang="en-US" sz="13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predicted</a:t>
                      </a:r>
                      <a:endParaRPr lang="en-US" sz="13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labelled</a:t>
                      </a:r>
                      <a:endParaRPr lang="en-US" sz="13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tx2"/>
                    </a:solidFill>
                  </a:tcPr>
                </a:tc>
              </a:tr>
              <a:tr h="50292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Theater</a:t>
                      </a:r>
                      <a:endParaRPr lang="en-US" sz="13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60%</a:t>
                      </a:r>
                      <a:endParaRPr lang="en-US" sz="13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60%</a:t>
                      </a:r>
                      <a:endParaRPr lang="en-US" sz="13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2"/>
                          </a:solidFill>
                          <a:latin typeface="Calibri" pitchFamily="34" charset="0"/>
                          <a:ea typeface="Calibri" pitchFamily="34" charset="-122"/>
                          <a:cs typeface="Calibri" pitchFamily="34" charset="-120"/>
                        </a:rPr>
                        <a:t>91%</a:t>
                      </a:r>
                      <a:endParaRPr lang="en-US" sz="13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r>
              <a:tr h="50292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Dance</a:t>
                      </a:r>
                      <a:endParaRPr lang="en-US" sz="13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63%</a:t>
                      </a:r>
                      <a:endParaRPr lang="en-US" sz="13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62%</a:t>
                      </a:r>
                      <a:endParaRPr lang="en-US" sz="13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accent2"/>
                          </a:solidFill>
                          <a:latin typeface="Calibri" pitchFamily="34" charset="0"/>
                          <a:ea typeface="Calibri" pitchFamily="34" charset="-122"/>
                          <a:cs typeface="Calibri" pitchFamily="34" charset="-120"/>
                        </a:rPr>
                        <a:t>92%</a:t>
                      </a:r>
                      <a:endParaRPr lang="en-US" sz="13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r>
              <a:tr h="50292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Goal ≤ $1k</a:t>
                      </a:r>
                      <a:endParaRPr lang="en-US" sz="13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50%</a:t>
                      </a:r>
                      <a:endParaRPr lang="en-US" sz="13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49%</a:t>
                      </a:r>
                      <a:endParaRPr lang="en-US" sz="13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2"/>
                          </a:solidFill>
                          <a:latin typeface="Calibri" pitchFamily="34" charset="0"/>
                          <a:ea typeface="Calibri" pitchFamily="34" charset="-122"/>
                          <a:cs typeface="Calibri" pitchFamily="34" charset="-120"/>
                        </a:rPr>
                        <a:t>84%</a:t>
                      </a:r>
                      <a:endParaRPr lang="en-US" sz="13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r>
              <a:tr h="50292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Goal &gt; $100k</a:t>
                      </a:r>
                      <a:endParaRPr lang="en-US" sz="13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accent2"/>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r>
            </a:tbl>
          </a:graphicData>
        </a:graphic>
      </p:graphicFrame>
      <p:sp>
        <p:nvSpPr>
          <p:cNvPr id="8" name="Text 3"/>
          <p:cNvSpPr txBox="1"/>
          <p:nvPr/>
        </p:nvSpPr>
        <p:spPr>
          <a:xfrm>
            <a:off x="7680960" y="4526280"/>
            <a:ext cx="3959352" cy="1188720"/>
          </a:xfrm>
          <a:prstGeom prst="rect">
            <a:avLst/>
          </a:prstGeom>
          <a:noFill/>
          <a:ln/>
        </p:spPr>
        <p:txBody>
          <a:bodyPr wrap="square" lIns="0" tIns="0" rIns="0" bIns="0" rtlCol="0" anchor="t"/>
          <a:lstStyle/>
          <a:p>
            <a:pPr indent="0" marL="0">
              <a:buNone/>
            </a:pPr>
            <a:r>
              <a:rPr lang="en-US" sz="1400" dirty="0">
                <a:solidFill>
                  <a:schemeClr val="tx1"/>
                </a:solidFill>
              </a:rPr>
              <a:t>Predicted matches funded everywhere; the yes/no label over-calls easy segments and under-calls big goals.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chemeClr val="accent1"/>
                </a:solidFill>
              </a:rPr>
              <a:t>WHAT THE MODEL USES</a:t>
            </a:r>
            <a:endParaRPr lang="en-US" sz="1200" dirty="0"/>
          </a:p>
        </p:txBody>
      </p:sp>
      <p:sp>
        <p:nvSpPr>
          <p:cNvPr id="3" name="Text 0"/>
          <p:cNvSpPr/>
          <p:nvPr>
            <p:ph idx="101" type="title" hasCustomPrompt="1"/>
          </p:nvPr>
        </p:nvSpPr>
        <p:spPr>
          <a:xfrm>
            <a:off x="548640" y="640080"/>
            <a:ext cx="11094415" cy="822960"/>
          </a:xfrm>
          <a:prstGeom prst="rect">
            <a:avLst/>
          </a:prstGeom>
          <a:noFill/>
          <a:ln/>
        </p:spPr>
        <p:txBody>
          <a:bodyPr wrap="square" lIns="0" tIns="0" rIns="0" bIns="0" rtlCol="0" anchor="t"/>
          <a:lstStyle/>
          <a:p>
            <a:pPr algn="l" indent="0" marL="0">
              <a:buNone/>
            </a:pPr>
            <a:r>
              <a:rPr lang="en-US" sz="3400" b="1" dirty="0">
                <a:solidFill>
                  <a:schemeClr val="tx2"/>
                </a:solidFill>
              </a:rPr>
              <a:t>Category and goal carry the prediction</a:t>
            </a:r>
            <a:endParaRPr lang="en-US" sz="3400" dirty="0"/>
          </a:p>
        </p:txBody>
      </p:sp>
      <p:sp>
        <p:nvSpPr>
          <p:cNvPr id="4" name="Text 0"/>
          <p:cNvSpPr/>
          <p:nvPr>
            <p:ph idx="102" type="body" hasCustomPrompt="1"/>
          </p:nvPr>
        </p:nvSpPr>
        <p:spPr>
          <a:xfrm>
            <a:off x="548640" y="6400800"/>
            <a:ext cx="10362895" cy="274320"/>
          </a:xfrm>
          <a:prstGeom prst="rect">
            <a:avLst/>
          </a:prstGeom>
          <a:noFill/>
          <a:ln/>
        </p:spPr>
        <p:txBody>
          <a:bodyPr wrap="square" lIns="0" tIns="0" rIns="0" bIns="0" rtlCol="0" anchor="ctr"/>
          <a:lstStyle/>
          <a:p>
            <a:pPr indent="0" marL="0">
              <a:buNone/>
            </a:pPr>
            <a:r>
              <a:rPr lang="en-US" sz="1000" dirty="0">
                <a:solidFill>
                  <a:schemeClr val="accent4"/>
                </a:solidFill>
              </a:rPr>
              <a:t>Permutation importance: drop in test ROC-AUC when one feature is shuffled (20,000 test projects, 5 repeats)</a:t>
            </a:r>
            <a:endParaRPr lang="en-US" sz="1000" dirty="0"/>
          </a:p>
        </p:txBody>
      </p:sp>
      <p:graphicFrame>
        <p:nvGraphicFramePr>
          <p:cNvPr id="6" name="Permutation importance" descr=""/>
          <p:cNvGraphicFramePr/>
          <p:nvPr/>
        </p:nvGraphicFramePr>
        <p:xfrm>
          <a:off x="548640" y="1600200"/>
          <a:ext cx="7315200" cy="4572000"/>
        </p:xfrm>
        <a:graphic xmlns:a="http://schemas.openxmlformats.org/drawingml/2006/main">
          <a:graphicData uri="http://schemas.openxmlformats.org/drawingml/2006/chart">
            <c:chart xmlns:c="http://schemas.openxmlformats.org/drawingml/2006/chart" r:id="rId1"/>
          </a:graphicData>
        </a:graphic>
      </p:graphicFrame>
      <p:sp>
        <p:nvSpPr>
          <p:cNvPr id="7" name="direction notes"/>
          <p:cNvSpPr/>
          <p:nvPr/>
        </p:nvSpPr>
        <p:spPr>
          <a:xfrm>
            <a:off x="8229600" y="1783080"/>
            <a:ext cx="3410712" cy="4114800"/>
          </a:xfrm>
          <a:prstGeom prst="roundRect">
            <a:avLst>
              <a:gd name="adj" fmla="val 3217"/>
            </a:avLst>
          </a:prstGeom>
          <a:solidFill>
            <a:schemeClr val="bg2"/>
          </a:solidFill>
          <a:ln w="12700">
            <a:solidFill>
              <a:srgbClr val="F5F7F6"/>
            </a:solidFill>
            <a:prstDash val="solid"/>
          </a:ln>
        </p:spPr>
      </p:sp>
      <p:sp>
        <p:nvSpPr>
          <p:cNvPr id="8" name="Text 4"/>
          <p:cNvSpPr txBox="1"/>
          <p:nvPr/>
        </p:nvSpPr>
        <p:spPr>
          <a:xfrm>
            <a:off x="8503920" y="2011680"/>
            <a:ext cx="2926080" cy="685800"/>
          </a:xfrm>
          <a:prstGeom prst="rect">
            <a:avLst/>
          </a:prstGeom>
          <a:noFill/>
          <a:ln/>
        </p:spPr>
        <p:txBody>
          <a:bodyPr wrap="square" lIns="0" tIns="0" rIns="0" bIns="0" rtlCol="0" anchor="t"/>
          <a:lstStyle/>
          <a:p>
            <a:pPr indent="0" marL="0">
              <a:buNone/>
            </a:pPr>
            <a:r>
              <a:rPr lang="en-US" sz="1700" b="1" dirty="0">
                <a:solidFill>
                  <a:schemeClr val="tx2"/>
                </a:solidFill>
              </a:rPr>
              <a:t>Direction (partial dependence)</a:t>
            </a:r>
            <a:endParaRPr lang="en-US" sz="1700" dirty="0"/>
          </a:p>
        </p:txBody>
      </p:sp>
      <p:sp>
        <p:nvSpPr>
          <p:cNvPr id="9" name="Text 5"/>
          <p:cNvSpPr txBox="1"/>
          <p:nvPr/>
        </p:nvSpPr>
        <p:spPr>
          <a:xfrm>
            <a:off x="8503920" y="2788920"/>
            <a:ext cx="2926080" cy="292608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chemeClr val="tx1"/>
                </a:solidFill>
              </a:rPr>
              <a:t>Goal: probability falls steadily as the goal rises</a:t>
            </a:r>
            <a:endParaRPr lang="en-US" sz="1400" dirty="0"/>
          </a:p>
          <a:p>
            <a:pPr marL="228600" indent="-228600">
              <a:spcAft>
                <a:spcPts val="800"/>
              </a:spcAft>
              <a:buSzPct val="100000"/>
              <a:buChar char="•"/>
            </a:pPr>
            <a:r>
              <a:rPr lang="en-US" sz="1400" dirty="0">
                <a:solidFill>
                  <a:schemeClr val="tx1"/>
                </a:solidFill>
              </a:rPr>
              <a:t>Length: low under ~10 days, highest at 3–6 weeks, sharp dips at round numbers</a:t>
            </a:r>
            <a:endParaRPr lang="en-US" sz="1400" dirty="0"/>
          </a:p>
          <a:p>
            <a:pPr marL="228600" indent="-228600">
              <a:spcAft>
                <a:spcPts val="800"/>
              </a:spcAft>
              <a:buSzPct val="100000"/>
              <a:buChar char="•"/>
            </a:pPr>
            <a:r>
              <a:rPr lang="en-US" sz="1400" dirty="0">
                <a:solidFill>
                  <a:schemeClr val="tx1"/>
                </a:solidFill>
              </a:rPr>
              <a:t>Reliance, not cause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chemeClr val="accent1"/>
                </a:solidFill>
              </a:rPr>
              <a:t>PRODUCT DECISION</a:t>
            </a:r>
            <a:endParaRPr lang="en-US" sz="1200" dirty="0"/>
          </a:p>
        </p:txBody>
      </p:sp>
      <p:sp>
        <p:nvSpPr>
          <p:cNvPr id="3" name="Text 0"/>
          <p:cNvSpPr/>
          <p:nvPr>
            <p:ph idx="101" type="title" hasCustomPrompt="1"/>
          </p:nvPr>
        </p:nvSpPr>
        <p:spPr>
          <a:xfrm>
            <a:off x="548640" y="640080"/>
            <a:ext cx="11094415" cy="822960"/>
          </a:xfrm>
          <a:prstGeom prst="rect">
            <a:avLst/>
          </a:prstGeom>
          <a:noFill/>
          <a:ln/>
        </p:spPr>
        <p:txBody>
          <a:bodyPr wrap="square" lIns="0" tIns="0" rIns="0" bIns="0" rtlCol="0" anchor="t"/>
          <a:lstStyle/>
          <a:p>
            <a:pPr algn="l" indent="0" marL="0">
              <a:buNone/>
            </a:pPr>
            <a:r>
              <a:rPr lang="en-US" sz="3400" b="1" dirty="0">
                <a:solidFill>
                  <a:schemeClr val="tx2"/>
                </a:solidFill>
              </a:rPr>
              <a:t>Why Launch Check gives no what-if advice</a:t>
            </a:r>
            <a:endParaRPr lang="en-US" sz="3400" dirty="0"/>
          </a:p>
        </p:txBody>
      </p:sp>
      <p:sp>
        <p:nvSpPr>
          <p:cNvPr id="4" name="Text 0"/>
          <p:cNvSpPr/>
          <p:nvPr>
            <p:ph idx="102" type="body" hasCustomPrompt="1"/>
          </p:nvPr>
        </p:nvSpPr>
        <p:spPr>
          <a:xfrm>
            <a:off x="548640" y="6400800"/>
            <a:ext cx="10362895" cy="274320"/>
          </a:xfrm>
          <a:prstGeom prst="rect">
            <a:avLst/>
          </a:prstGeom>
          <a:noFill/>
          <a:ln/>
        </p:spPr>
        <p:txBody>
          <a:bodyPr wrap="square" lIns="0" tIns="0" rIns="0" bIns="0" rtlCol="0" anchor="ctr"/>
          <a:lstStyle/>
          <a:p>
            <a:pPr indent="0" marL="0">
              <a:buNone/>
            </a:pPr>
            <a:r>
              <a:rPr lang="en-US" sz="1000" dirty="0">
                <a:solidFill>
                  <a:schemeClr val="accent4"/>
                </a:solidFill>
              </a:rPr>
              <a:t>US Tabletop Games, $10,000 goal, launched on a Tuesday in March, 6-word title · saved model</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5852160" cy="914400"/>
        </p:xfrm>
        <a:graphic>
          <a:graphicData uri="http://schemas.openxmlformats.org/drawingml/2006/table">
            <a:tbl>
              <a:tblPr/>
              <a:tblGrid>
                <a:gridCol w="3840480"/>
                <a:gridCol w="2011680"/>
              </a:tblGrid>
              <a:tr h="594360">
                <a:tc>
                  <a:txBody>
                    <a:bodyPr/>
                    <a:lstStyle/>
                    <a:p>
                      <a:pPr algn="l" indent="0" marL="0">
                        <a:buNone/>
                      </a:pPr>
                      <a:r>
                        <a:rPr lang="en-US" sz="1600" b="1" dirty="0">
                          <a:solidFill>
                            <a:schemeClr val="bg1"/>
                          </a:solidFill>
                          <a:latin typeface="Calibri" pitchFamily="34" charset="0"/>
                          <a:ea typeface="Calibri" pitchFamily="34" charset="-122"/>
                          <a:cs typeface="Calibri" pitchFamily="34" charset="-120"/>
                        </a:rPr>
                        <a:t>scenario</a:t>
                      </a:r>
                      <a:endParaRPr lang="en-US" sz="16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tx2"/>
                    </a:solidFill>
                  </a:tcPr>
                </a:tc>
                <a:tc>
                  <a:txBody>
                    <a:bodyPr/>
                    <a:lstStyle/>
                    <a:p>
                      <a:pPr algn="ctr" indent="0" marL="0">
                        <a:buNone/>
                      </a:pPr>
                      <a:r>
                        <a:rPr lang="en-US" sz="1600" b="1" dirty="0">
                          <a:solidFill>
                            <a:schemeClr val="bg1"/>
                          </a:solidFill>
                          <a:latin typeface="Calibri" pitchFamily="34" charset="0"/>
                          <a:ea typeface="Calibri" pitchFamily="34" charset="-122"/>
                          <a:cs typeface="Calibri" pitchFamily="34" charset="-120"/>
                        </a:rPr>
                        <a:t>predicted chance</a:t>
                      </a:r>
                      <a:endParaRPr lang="en-US" sz="16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tx2"/>
                    </a:solidFill>
                  </a:tcPr>
                </a:tc>
              </a:tr>
              <a:tr h="594360">
                <a:tc>
                  <a:txBody>
                    <a:bodyPr/>
                    <a:lstStyle/>
                    <a:p>
                      <a:pPr algn="l" indent="0" marL="0">
                        <a:buNone/>
                      </a:pPr>
                      <a:r>
                        <a:rPr lang="en-US" sz="1600" b="1" dirty="0">
                          <a:solidFill>
                            <a:schemeClr val="tx1"/>
                          </a:solidFill>
                          <a:latin typeface="Calibri" pitchFamily="34" charset="0"/>
                          <a:ea typeface="Calibri" pitchFamily="34" charset="-122"/>
                          <a:cs typeface="Calibri" pitchFamily="34" charset="-120"/>
                        </a:rPr>
                        <a:t>As planned: 30 days, Tuesday</a:t>
                      </a:r>
                      <a:endParaRPr lang="en-US" sz="16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tx1"/>
                          </a:solidFill>
                          <a:latin typeface="Calibri" pitchFamily="34" charset="0"/>
                          <a:ea typeface="Calibri" pitchFamily="34" charset="-122"/>
                          <a:cs typeface="Calibri" pitchFamily="34" charset="-120"/>
                        </a:rPr>
                        <a:t>51.1%</a:t>
                      </a:r>
                      <a:endParaRPr lang="en-US" sz="16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r>
              <a:tr h="594360">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29 days</a:t>
                      </a:r>
                      <a:endParaRPr lang="en-US" sz="16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accent2"/>
                          </a:solidFill>
                          <a:latin typeface="Calibri" pitchFamily="34" charset="0"/>
                          <a:ea typeface="Calibri" pitchFamily="34" charset="-122"/>
                          <a:cs typeface="Calibri" pitchFamily="34" charset="-120"/>
                        </a:rPr>
                        <a:t>71.7%</a:t>
                      </a:r>
                      <a:endParaRPr lang="en-US" sz="16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r>
              <a:tr h="594360">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31 days</a:t>
                      </a:r>
                      <a:endParaRPr lang="en-US" sz="16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accent2"/>
                          </a:solidFill>
                          <a:latin typeface="Calibri" pitchFamily="34" charset="0"/>
                          <a:ea typeface="Calibri" pitchFamily="34" charset="-122"/>
                          <a:cs typeface="Calibri" pitchFamily="34" charset="-120"/>
                        </a:rPr>
                        <a:t>62.1%</a:t>
                      </a:r>
                      <a:endParaRPr lang="en-US" sz="16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r>
              <a:tr h="594360">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Sunday launch</a:t>
                      </a:r>
                      <a:endParaRPr lang="en-US" sz="16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accent2"/>
                          </a:solidFill>
                          <a:latin typeface="Calibri" pitchFamily="34" charset="0"/>
                          <a:ea typeface="Calibri" pitchFamily="34" charset="-122"/>
                          <a:cs typeface="Calibri" pitchFamily="34" charset="-120"/>
                        </a:rPr>
                        <a:t>38.3%</a:t>
                      </a:r>
                      <a:endParaRPr lang="en-US" sz="16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r>
            </a:tbl>
          </a:graphicData>
        </a:graphic>
      </p:graphicFrame>
      <p:sp>
        <p:nvSpPr>
          <p:cNvPr id="7" name="Text 3"/>
          <p:cNvSpPr txBox="1"/>
          <p:nvPr/>
        </p:nvSpPr>
        <p:spPr>
          <a:xfrm>
            <a:off x="548640" y="5120640"/>
            <a:ext cx="5852160" cy="731520"/>
          </a:xfrm>
          <a:prstGeom prst="rect">
            <a:avLst/>
          </a:prstGeom>
          <a:noFill/>
          <a:ln/>
        </p:spPr>
        <p:txBody>
          <a:bodyPr wrap="square" lIns="0" tIns="0" rIns="0" bIns="0" rtlCol="0" anchor="t"/>
          <a:lstStyle/>
          <a:p>
            <a:pPr indent="0" marL="0">
              <a:buNone/>
            </a:pPr>
            <a:r>
              <a:rPr lang="en-US" sz="1400" dirty="0">
                <a:solidFill>
                  <a:schemeClr val="accent4"/>
                </a:solidFill>
              </a:rPr>
              <a:t>Cross-check: similar past projects (Tabletop Games, $7.5k–15k, exactly 30 days): 1,375, of which 43% were funded.</a:t>
            </a:r>
            <a:endParaRPr lang="en-US" sz="1400" dirty="0"/>
          </a:p>
        </p:txBody>
      </p:sp>
      <p:sp>
        <p:nvSpPr>
          <p:cNvPr id="8" name="decision card"/>
          <p:cNvSpPr/>
          <p:nvPr/>
        </p:nvSpPr>
        <p:spPr>
          <a:xfrm>
            <a:off x="6885432" y="1783080"/>
            <a:ext cx="4754880" cy="4114800"/>
          </a:xfrm>
          <a:prstGeom prst="roundRect">
            <a:avLst>
              <a:gd name="adj" fmla="val 2667"/>
            </a:avLst>
          </a:prstGeom>
          <a:solidFill>
            <a:schemeClr val="bg1"/>
          </a:solidFill>
          <a:ln w="12700">
            <a:solidFill>
              <a:srgbClr val="F5F7F6"/>
            </a:solidFill>
            <a:prstDash val="solid"/>
          </a:ln>
          <a:effectLst>
            <a:outerShdw sx="100000" sy="100000" kx="0" ky="0" algn="bl" rotWithShape="0" blurRad="101600" dist="25400" dir="5400000">
              <a:srgbClr val="000000">
                <a:alpha val="12000"/>
              </a:srgbClr>
            </a:outerShdw>
          </a:effectLst>
        </p:spPr>
      </p:sp>
      <p:sp>
        <p:nvSpPr>
          <p:cNvPr id="9" name="warning circle"/>
          <p:cNvSpPr/>
          <p:nvPr/>
        </p:nvSpPr>
        <p:spPr>
          <a:xfrm>
            <a:off x="7205472" y="2057400"/>
            <a:ext cx="731520" cy="731520"/>
          </a:xfrm>
          <a:prstGeom prst="ellipse">
            <a:avLst/>
          </a:prstGeom>
          <a:solidFill>
            <a:schemeClr val="bg2"/>
          </a:solidFill>
          <a:ln/>
        </p:spPr>
      </p:sp>
      <p:pic>
        <p:nvPicPr>
          <p:cNvPr id="10" name="warning icon" descr="warning">    </p:cNvPr>
          <p:cNvPicPr>
            <a:picLocks noChangeAspect="1"/>
          </p:cNvPicPr>
          <p:nvPr/>
        </p:nvPicPr>
        <p:blipFill>
          <a:blip r:embed="rId1"/>
          <a:stretch>
            <a:fillRect/>
          </a:stretch>
        </p:blipFill>
        <p:spPr>
          <a:xfrm>
            <a:off x="7381037" y="2232965"/>
            <a:ext cx="380390" cy="380390"/>
          </a:xfrm>
          <a:prstGeom prst="rect">
            <a:avLst/>
          </a:prstGeom>
        </p:spPr>
      </p:pic>
      <p:sp>
        <p:nvSpPr>
          <p:cNvPr id="11" name="Text 6"/>
          <p:cNvSpPr txBox="1"/>
          <p:nvPr/>
        </p:nvSpPr>
        <p:spPr>
          <a:xfrm>
            <a:off x="8119872" y="2148840"/>
            <a:ext cx="3291840" cy="548640"/>
          </a:xfrm>
          <a:prstGeom prst="rect">
            <a:avLst/>
          </a:prstGeom>
          <a:noFill/>
          <a:ln/>
        </p:spPr>
        <p:txBody>
          <a:bodyPr wrap="square" lIns="0" tIns="0" rIns="0" bIns="0" rtlCol="0" anchor="ctr"/>
          <a:lstStyle/>
          <a:p>
            <a:pPr indent="0" marL="0">
              <a:buNone/>
            </a:pPr>
            <a:r>
              <a:rPr lang="en-US" sz="2000" b="1" dirty="0">
                <a:solidFill>
                  <a:schemeClr val="tx2"/>
                </a:solidFill>
              </a:rPr>
              <a:t>Show the estimate only</a:t>
            </a:r>
            <a:endParaRPr lang="en-US" sz="2000" dirty="0"/>
          </a:p>
        </p:txBody>
      </p:sp>
      <p:sp>
        <p:nvSpPr>
          <p:cNvPr id="12" name="Text 7"/>
          <p:cNvSpPr txBox="1"/>
          <p:nvPr/>
        </p:nvSpPr>
        <p:spPr>
          <a:xfrm>
            <a:off x="7205472" y="3063240"/>
            <a:ext cx="4160520" cy="265176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One-day changes swing the estimate by 10 to 20 points</a:t>
            </a:r>
            <a:endParaRPr lang="en-US" sz="1500" dirty="0"/>
          </a:p>
          <a:p>
            <a:pPr marL="228600" indent="-228600">
              <a:spcAft>
                <a:spcPts val="800"/>
              </a:spcAft>
              <a:buSzPct val="100000"/>
              <a:buChar char="•"/>
            </a:pPr>
            <a:r>
              <a:rPr lang="en-US" sz="1500" dirty="0">
                <a:solidFill>
                  <a:schemeClr val="tx1"/>
                </a:solidFill>
              </a:rPr>
              <a:t>They reflect who picks those settings, not what the setting does</a:t>
            </a:r>
            <a:endParaRPr lang="en-US" sz="1500" dirty="0"/>
          </a:p>
          <a:p>
            <a:pPr marL="228600" indent="-228600">
              <a:spcAft>
                <a:spcPts val="800"/>
              </a:spcAft>
              <a:buSzPct val="100000"/>
              <a:buChar char="•"/>
            </a:pPr>
            <a:r>
              <a:rPr lang="en-US" sz="1500" dirty="0">
                <a:solidFill>
                  <a:schemeClr val="tx1"/>
                </a:solidFill>
              </a:rPr>
              <a:t>If ever added: goal only, monotonic_cst, explicit warning</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chemeClr val="accent1"/>
                </a:solidFill>
              </a:rPr>
              <a:t>TWO APPROACHES</a:t>
            </a:r>
            <a:endParaRPr lang="en-US" sz="1200" dirty="0"/>
          </a:p>
        </p:txBody>
      </p:sp>
      <p:sp>
        <p:nvSpPr>
          <p:cNvPr id="3" name="Text 0"/>
          <p:cNvSpPr/>
          <p:nvPr>
            <p:ph idx="101" type="title" hasCustomPrompt="1"/>
          </p:nvPr>
        </p:nvSpPr>
        <p:spPr>
          <a:xfrm>
            <a:off x="548640" y="640080"/>
            <a:ext cx="11094415" cy="822960"/>
          </a:xfrm>
          <a:prstGeom prst="rect">
            <a:avLst/>
          </a:prstGeom>
          <a:noFill/>
          <a:ln/>
        </p:spPr>
        <p:txBody>
          <a:bodyPr wrap="square" lIns="0" tIns="0" rIns="0" bIns="0" rtlCol="0" anchor="t"/>
          <a:lstStyle/>
          <a:p>
            <a:pPr algn="l" indent="0" marL="0">
              <a:buNone/>
            </a:pPr>
            <a:r>
              <a:rPr lang="en-US" sz="3400" b="1" dirty="0">
                <a:solidFill>
                  <a:schemeClr val="tx2"/>
                </a:solidFill>
              </a:rPr>
              <a:t>Main analysis vs. the alternative notebook</a:t>
            </a:r>
            <a:endParaRPr lang="en-US" sz="3400" dirty="0"/>
          </a:p>
        </p:txBody>
      </p:sp>
      <p:sp>
        <p:nvSpPr>
          <p:cNvPr id="4" name="Text 0"/>
          <p:cNvSpPr/>
          <p:nvPr>
            <p:ph idx="102" type="body" hasCustomPrompt="1"/>
          </p:nvPr>
        </p:nvSpPr>
        <p:spPr>
          <a:xfrm>
            <a:off x="548640" y="6400800"/>
            <a:ext cx="10362895" cy="274320"/>
          </a:xfrm>
          <a:prstGeom prst="rect">
            <a:avLst/>
          </a:prstGeom>
          <a:noFill/>
          <a:ln/>
        </p:spPr>
        <p:txBody>
          <a:bodyPr wrap="square" lIns="0" tIns="0" rIns="0" bIns="0" rtlCol="0" anchor="ctr"/>
          <a:lstStyle/>
          <a:p>
            <a:pPr indent="0" marL="0">
              <a:buNone/>
            </a:pPr>
            <a:r>
              <a:rPr lang="en-US" sz="1000" dirty="0">
                <a:solidFill>
                  <a:schemeClr val="accent4"/>
                </a:solidFill>
              </a:rPr>
              <a:t>Alternative: notebooks/reference/alt_approach_excluding_canceled.ipynb · its scores use a different target and rows, so they are not directly comparable</a:t>
            </a:r>
            <a:endParaRPr lang="en-US" sz="1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2743200"/>
                <a:gridCol w="4206240"/>
                <a:gridCol w="4142232"/>
              </a:tblGrid>
              <a:tr h="566928">
                <a:tc>
                  <a:txBody>
                    <a:bodyPr/>
                    <a:lstStyle/>
                    <a:p>
                      <a:pPr algn="l" indent="0" marL="0">
                        <a:buNone/>
                      </a:pPr>
                      <a:endParaRPr lang="en-US" sz="15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tx2"/>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Main analysis (this deck)</a:t>
                      </a:r>
                      <a:endParaRPr lang="en-US" sz="15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tx2"/>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Alternative notebook</a:t>
                      </a:r>
                      <a:endParaRPr lang="en-US" sz="15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tx2"/>
                    </a:solidFill>
                  </a:tcPr>
                </a:tc>
              </a:tr>
              <a:tr h="566928">
                <a:tc>
                  <a:txBody>
                    <a:bodyPr/>
                    <a:lstStyle/>
                    <a:p>
                      <a:pPr algn="l" indent="0" marL="0">
                        <a:buNone/>
                      </a:pPr>
                      <a:r>
                        <a:rPr lang="en-US" sz="1500" b="1" dirty="0">
                          <a:solidFill>
                            <a:schemeClr val="tx1"/>
                          </a:solidFill>
                          <a:latin typeface="Calibri" pitchFamily="34" charset="0"/>
                          <a:ea typeface="Calibri" pitchFamily="34" charset="-122"/>
                          <a:cs typeface="Calibri" pitchFamily="34" charset="-120"/>
                        </a:rPr>
                        <a:t>Canceled / suspended</a:t>
                      </a:r>
                      <a:endParaRPr lang="en-US" sz="15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counted as not funded</a:t>
                      </a:r>
                      <a:endParaRPr lang="en-US" sz="15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dropped</a:t>
                      </a:r>
                      <a:endParaRPr lang="en-US" sz="15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r>
              <a:tr h="566928">
                <a:tc>
                  <a:txBody>
                    <a:bodyPr/>
                    <a:lstStyle/>
                    <a:p>
                      <a:pPr algn="l" indent="0" marL="0">
                        <a:buNone/>
                      </a:pPr>
                      <a:r>
                        <a:rPr lang="en-US" sz="1500" b="1" dirty="0">
                          <a:solidFill>
                            <a:schemeClr val="tx1"/>
                          </a:solidFill>
                          <a:latin typeface="Calibri" pitchFamily="34" charset="0"/>
                          <a:ea typeface="Calibri" pitchFamily="34" charset="-122"/>
                          <a:cs typeface="Calibri" pitchFamily="34" charset="-120"/>
                        </a:rPr>
                        <a:t>Projects · funded</a:t>
                      </a:r>
                      <a:endParaRPr lang="en-US" sz="15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372,293 · 36%</a:t>
                      </a:r>
                      <a:endParaRPr lang="en-US" sz="15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331,675 · 40%</a:t>
                      </a:r>
                      <a:endParaRPr lang="en-US" sz="15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r>
              <a:tr h="566928">
                <a:tc>
                  <a:txBody>
                    <a:bodyPr/>
                    <a:lstStyle/>
                    <a:p>
                      <a:pPr algn="l" indent="0" marL="0">
                        <a:buNone/>
                      </a:pPr>
                      <a:r>
                        <a:rPr lang="en-US" sz="1500" b="1" dirty="0">
                          <a:solidFill>
                            <a:schemeClr val="tx1"/>
                          </a:solidFill>
                          <a:latin typeface="Calibri" pitchFamily="34" charset="0"/>
                          <a:ea typeface="Calibri" pitchFamily="34" charset="-122"/>
                          <a:cs typeface="Calibri" pitchFamily="34" charset="-120"/>
                        </a:rPr>
                        <a:t>Launch year as feature</a:t>
                      </a:r>
                      <a:endParaRPr lang="en-US" sz="15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no (future campaigns)</a:t>
                      </a:r>
                      <a:endParaRPr lang="en-US" sz="15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yes, plus launch hour</a:t>
                      </a:r>
                      <a:endParaRPr lang="en-US" sz="15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r>
              <a:tr h="566928">
                <a:tc>
                  <a:txBody>
                    <a:bodyPr/>
                    <a:lstStyle/>
                    <a:p>
                      <a:pPr algn="l" indent="0" marL="0">
                        <a:buNone/>
                      </a:pPr>
                      <a:r>
                        <a:rPr lang="en-US" sz="1500" b="1" dirty="0">
                          <a:solidFill>
                            <a:schemeClr val="tx1"/>
                          </a:solidFill>
                          <a:latin typeface="Calibri" pitchFamily="34" charset="0"/>
                          <a:ea typeface="Calibri" pitchFamily="34" charset="-122"/>
                          <a:cs typeface="Calibri" pitchFamily="34" charset="-120"/>
                        </a:rPr>
                        <a:t>Test ROC-AUC</a:t>
                      </a:r>
                      <a:endParaRPr lang="en-US" sz="15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0.754</a:t>
                      </a:r>
                      <a:endParaRPr lang="en-US" sz="15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0.765 (easier target)</a:t>
                      </a:r>
                      <a:endParaRPr lang="en-US" sz="15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r>
              <a:tr h="566928">
                <a:tc>
                  <a:txBody>
                    <a:bodyPr/>
                    <a:lstStyle/>
                    <a:p>
                      <a:pPr algn="l" indent="0" marL="0">
                        <a:buNone/>
                      </a:pPr>
                      <a:r>
                        <a:rPr lang="en-US" sz="1500" b="1" dirty="0">
                          <a:solidFill>
                            <a:schemeClr val="tx1"/>
                          </a:solidFill>
                          <a:latin typeface="Calibri" pitchFamily="34" charset="0"/>
                          <a:ea typeface="Calibri" pitchFamily="34" charset="-122"/>
                          <a:cs typeface="Calibri" pitchFamily="34" charset="-120"/>
                        </a:rPr>
                        <a:t>Extra checks</a:t>
                      </a:r>
                      <a:endParaRPr lang="en-US" sz="15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calibration by year, time split, what-if audit</a:t>
                      </a:r>
                      <a:endParaRPr lang="en-US" sz="15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monotonic goal constraint</a:t>
                      </a:r>
                      <a:endParaRPr lang="en-US" sz="15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1"/>
                    </a:solidFill>
                  </a:tcPr>
                </a:tc>
              </a:tr>
              <a:tr h="566928">
                <a:tc>
                  <a:txBody>
                    <a:bodyPr/>
                    <a:lstStyle/>
                    <a:p>
                      <a:pPr algn="l" indent="0" marL="0">
                        <a:buNone/>
                      </a:pPr>
                      <a:r>
                        <a:rPr lang="en-US" sz="1500" b="1" dirty="0">
                          <a:solidFill>
                            <a:schemeClr val="tx1"/>
                          </a:solidFill>
                          <a:latin typeface="Calibri" pitchFamily="34" charset="0"/>
                          <a:ea typeface="Calibri" pitchFamily="34" charset="-122"/>
                          <a:cs typeface="Calibri" pitchFamily="34" charset="-120"/>
                        </a:rPr>
                        <a:t>Idea to adopt</a:t>
                      </a:r>
                      <a:endParaRPr lang="en-US" sz="15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TF-IDF on title: CV ROC-AUC 0.765 → 0.782</a:t>
                      </a:r>
                      <a:endParaRPr lang="en-US" sz="1500" dirty="0">
                        <a:latin typeface="Calibri" charset="0"/>
                        <a:ea typeface="Calibri" charset="0"/>
                        <a:cs typeface="Calibri" charset="0"/>
                      </a:endParaRPr>
                    </a:p>
                  </a:txBody>
                  <a:tcPr marL="101600" marR="101600" marT="50800" marB="50800" anchor="ctr">
                    <a:lnL w="9525" cap="flat" cmpd="sng" algn="ctr">
                      <a:solidFill>
                        <a:srgbClr val="F5F7F6"/>
                      </a:solidFill>
                      <a:prstDash val="solid"/>
                      <a:round/>
                      <a:headEnd type="none" w="med" len="med"/>
                      <a:tailEnd type="none" w="med" len="med"/>
                    </a:lnL>
                    <a:lnR w="9525" cap="flat" cmpd="sng" algn="ctr">
                      <a:solidFill>
                        <a:srgbClr val="F5F7F6"/>
                      </a:solidFill>
                      <a:prstDash val="solid"/>
                      <a:round/>
                      <a:headEnd type="none" w="med" len="med"/>
                      <a:tailEnd type="none" w="med" len="med"/>
                    </a:lnR>
                    <a:lnT w="9525" cap="flat" cmpd="sng" algn="ctr">
                      <a:solidFill>
                        <a:srgbClr val="F5F7F6"/>
                      </a:solidFill>
                      <a:prstDash val="solid"/>
                      <a:round/>
                      <a:headEnd type="none" w="med" len="med"/>
                      <a:tailEnd type="none" w="med" len="med"/>
                    </a:lnT>
                    <a:lnB w="9525" cap="flat" cmpd="sng" algn="ctr">
                      <a:solidFill>
                        <a:srgbClr val="F5F7F6"/>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chemeClr val="accent1"/>
                </a:solidFill>
              </a:rPr>
              <a:t>LIMITATIONS &amp; CONSTRAINTS</a:t>
            </a:r>
            <a:endParaRPr lang="en-US" sz="1200" dirty="0"/>
          </a:p>
        </p:txBody>
      </p:sp>
      <p:sp>
        <p:nvSpPr>
          <p:cNvPr id="3" name="Text 0"/>
          <p:cNvSpPr/>
          <p:nvPr>
            <p:ph idx="101" type="title" hasCustomPrompt="1"/>
          </p:nvPr>
        </p:nvSpPr>
        <p:spPr>
          <a:xfrm>
            <a:off x="548640" y="640080"/>
            <a:ext cx="11094415" cy="822960"/>
          </a:xfrm>
          <a:prstGeom prst="rect">
            <a:avLst/>
          </a:prstGeom>
          <a:noFill/>
          <a:ln/>
        </p:spPr>
        <p:txBody>
          <a:bodyPr wrap="square" lIns="0" tIns="0" rIns="0" bIns="0" rtlCol="0" anchor="t"/>
          <a:lstStyle/>
          <a:p>
            <a:pPr algn="l" indent="0" marL="0">
              <a:buNone/>
            </a:pPr>
            <a:r>
              <a:rPr lang="en-US" sz="3400" b="1" dirty="0">
                <a:solidFill>
                  <a:schemeClr val="tx2"/>
                </a:solidFill>
              </a:rPr>
              <a:t>What to fix before real use</a:t>
            </a:r>
            <a:endParaRPr lang="en-US" sz="3400" dirty="0"/>
          </a:p>
        </p:txBody>
      </p:sp>
      <p:sp>
        <p:nvSpPr>
          <p:cNvPr id="4" name="Text 0"/>
          <p:cNvSpPr/>
          <p:nvPr>
            <p:ph idx="102" type="body" hasCustomPrompt="1"/>
          </p:nvPr>
        </p:nvSpPr>
        <p:spPr>
          <a:xfrm>
            <a:off x="548640" y="6400800"/>
            <a:ext cx="10362895" cy="274320"/>
          </a:xfrm>
          <a:prstGeom prst="rect">
            <a:avLst/>
          </a:prstGeom>
          <a:noFill/>
          <a:ln/>
        </p:spPr>
        <p:txBody>
          <a:bodyPr wrap="square" lIns="0" tIns="0" rIns="0" bIns="0" rtlCol="0" anchor="ctr"/>
          <a:lstStyle/>
          <a:p>
            <a:pPr indent="0" marL="0">
              <a:buNone/>
            </a:pPr>
            <a:r>
              <a:rPr lang="en-US" sz="1000" dirty="0">
                <a:solidFill>
                  <a:schemeClr val="accent4"/>
                </a:solidFill>
              </a:rPr>
              <a:t>Recalibration: CalibratedClassifierCV(FrozenEstimator(model), method="isotonic") on the newest year, checked on a later slice</a:t>
            </a:r>
            <a:endParaRPr lang="en-US" sz="1000" dirty="0"/>
          </a:p>
        </p:txBody>
      </p:sp>
      <p:sp>
        <p:nvSpPr>
          <p:cNvPr id="6" name="Text 3"/>
          <p:cNvSpPr txBox="1"/>
          <p:nvPr/>
        </p:nvSpPr>
        <p:spPr>
          <a:xfrm>
            <a:off x="548640" y="1600200"/>
            <a:ext cx="5303520" cy="411480"/>
          </a:xfrm>
          <a:prstGeom prst="rect">
            <a:avLst/>
          </a:prstGeom>
          <a:noFill/>
          <a:ln/>
        </p:spPr>
        <p:txBody>
          <a:bodyPr wrap="square" lIns="0" tIns="0" rIns="0" bIns="0" rtlCol="0" anchor="t"/>
          <a:lstStyle/>
          <a:p>
            <a:pPr indent="0" marL="0">
              <a:buNone/>
            </a:pPr>
            <a:r>
              <a:rPr lang="en-US" sz="2000" b="1" dirty="0">
                <a:solidFill>
                  <a:schemeClr val="accent2"/>
                </a:solidFill>
              </a:rPr>
              <a:t>Limits</a:t>
            </a:r>
            <a:endParaRPr lang="en-US" sz="2000" dirty="0"/>
          </a:p>
        </p:txBody>
      </p:sp>
      <p:sp>
        <p:nvSpPr>
          <p:cNvPr id="7" name="Associations, not causes circle"/>
          <p:cNvSpPr/>
          <p:nvPr/>
        </p:nvSpPr>
        <p:spPr>
          <a:xfrm>
            <a:off x="548640" y="2103120"/>
            <a:ext cx="640080" cy="640080"/>
          </a:xfrm>
          <a:prstGeom prst="ellipse">
            <a:avLst/>
          </a:prstGeom>
          <a:solidFill>
            <a:schemeClr val="bg1"/>
          </a:solidFill>
          <a:ln/>
        </p:spPr>
      </p:sp>
      <p:pic>
        <p:nvPicPr>
          <p:cNvPr id="8" name="Associations, not causes icon" descr="Associations, not causes">    </p:cNvPr>
          <p:cNvPicPr>
            <a:picLocks noChangeAspect="1"/>
          </p:cNvPicPr>
          <p:nvPr/>
        </p:nvPicPr>
        <p:blipFill>
          <a:blip r:embed="rId1"/>
          <a:stretch>
            <a:fillRect/>
          </a:stretch>
        </p:blipFill>
        <p:spPr>
          <a:xfrm>
            <a:off x="702259" y="2256739"/>
            <a:ext cx="332842" cy="332842"/>
          </a:xfrm>
          <a:prstGeom prst="rect">
            <a:avLst/>
          </a:prstGeom>
        </p:spPr>
      </p:pic>
      <p:sp>
        <p:nvSpPr>
          <p:cNvPr id="9" name="Text 5"/>
          <p:cNvSpPr txBox="1"/>
          <p:nvPr/>
        </p:nvSpPr>
        <p:spPr>
          <a:xfrm>
            <a:off x="1417320" y="2084832"/>
            <a:ext cx="4480560" cy="347472"/>
          </a:xfrm>
          <a:prstGeom prst="rect">
            <a:avLst/>
          </a:prstGeom>
          <a:noFill/>
          <a:ln/>
        </p:spPr>
        <p:txBody>
          <a:bodyPr wrap="square" lIns="0" tIns="0" rIns="0" bIns="0" rtlCol="0" anchor="t"/>
          <a:lstStyle/>
          <a:p>
            <a:pPr indent="0" marL="0">
              <a:buNone/>
            </a:pPr>
            <a:r>
              <a:rPr lang="en-US" sz="1600" b="1" dirty="0">
                <a:solidFill>
                  <a:schemeClr val="tx2"/>
                </a:solidFill>
              </a:rPr>
              <a:t>Associations, not causes</a:t>
            </a:r>
            <a:endParaRPr lang="en-US" sz="1600" dirty="0"/>
          </a:p>
        </p:txBody>
      </p:sp>
      <p:sp>
        <p:nvSpPr>
          <p:cNvPr id="10" name="Text 6"/>
          <p:cNvSpPr txBox="1"/>
          <p:nvPr/>
        </p:nvSpPr>
        <p:spPr>
          <a:xfrm>
            <a:off x="1417320" y="2432304"/>
            <a:ext cx="4480560" cy="347472"/>
          </a:xfrm>
          <a:prstGeom prst="rect">
            <a:avLst/>
          </a:prstGeom>
          <a:noFill/>
          <a:ln/>
        </p:spPr>
        <p:txBody>
          <a:bodyPr wrap="square" lIns="0" tIns="0" rIns="0" bIns="0" rtlCol="0" anchor="t"/>
          <a:lstStyle/>
          <a:p>
            <a:pPr indent="0" marL="0">
              <a:buNone/>
            </a:pPr>
            <a:r>
              <a:rPr lang="en-US" sz="1300" dirty="0">
                <a:solidFill>
                  <a:schemeClr val="tx1"/>
                </a:solidFill>
              </a:rPr>
              <a:t>No what-if advice; round-number dips are behaviour</a:t>
            </a:r>
            <a:endParaRPr lang="en-US" sz="1300" dirty="0"/>
          </a:p>
        </p:txBody>
      </p:sp>
      <p:sp>
        <p:nvSpPr>
          <p:cNvPr id="11" name="Blind spots circle"/>
          <p:cNvSpPr/>
          <p:nvPr/>
        </p:nvSpPr>
        <p:spPr>
          <a:xfrm>
            <a:off x="548640" y="3017520"/>
            <a:ext cx="640080" cy="640080"/>
          </a:xfrm>
          <a:prstGeom prst="ellipse">
            <a:avLst/>
          </a:prstGeom>
          <a:solidFill>
            <a:schemeClr val="bg1"/>
          </a:solidFill>
          <a:ln/>
        </p:spPr>
      </p:sp>
      <p:pic>
        <p:nvPicPr>
          <p:cNvPr id="12" name="Blind spots icon" descr="Blind spots">    </p:cNvPr>
          <p:cNvPicPr>
            <a:picLocks noChangeAspect="1"/>
          </p:cNvPicPr>
          <p:nvPr/>
        </p:nvPicPr>
        <p:blipFill>
          <a:blip r:embed="rId2"/>
          <a:stretch>
            <a:fillRect/>
          </a:stretch>
        </p:blipFill>
        <p:spPr>
          <a:xfrm>
            <a:off x="702259" y="3171139"/>
            <a:ext cx="332842" cy="332842"/>
          </a:xfrm>
          <a:prstGeom prst="rect">
            <a:avLst/>
          </a:prstGeom>
        </p:spPr>
      </p:pic>
      <p:sp>
        <p:nvSpPr>
          <p:cNvPr id="13" name="Text 8"/>
          <p:cNvSpPr txBox="1"/>
          <p:nvPr/>
        </p:nvSpPr>
        <p:spPr>
          <a:xfrm>
            <a:off x="1417320" y="2999232"/>
            <a:ext cx="4480560" cy="347472"/>
          </a:xfrm>
          <a:prstGeom prst="rect">
            <a:avLst/>
          </a:prstGeom>
          <a:noFill/>
          <a:ln/>
        </p:spPr>
        <p:txBody>
          <a:bodyPr wrap="square" lIns="0" tIns="0" rIns="0" bIns="0" rtlCol="0" anchor="t"/>
          <a:lstStyle/>
          <a:p>
            <a:pPr indent="0" marL="0">
              <a:buNone/>
            </a:pPr>
            <a:r>
              <a:rPr lang="en-US" sz="1600" b="1" dirty="0">
                <a:solidFill>
                  <a:schemeClr val="tx2"/>
                </a:solidFill>
              </a:rPr>
              <a:t>Blind spots</a:t>
            </a:r>
            <a:endParaRPr lang="en-US" sz="1600" dirty="0"/>
          </a:p>
        </p:txBody>
      </p:sp>
      <p:sp>
        <p:nvSpPr>
          <p:cNvPr id="14" name="Text 9"/>
          <p:cNvSpPr txBox="1"/>
          <p:nvPr/>
        </p:nvSpPr>
        <p:spPr>
          <a:xfrm>
            <a:off x="1417320" y="3346704"/>
            <a:ext cx="4480560" cy="347472"/>
          </a:xfrm>
          <a:prstGeom prst="rect">
            <a:avLst/>
          </a:prstGeom>
          <a:noFill/>
          <a:ln/>
        </p:spPr>
        <p:txBody>
          <a:bodyPr wrap="square" lIns="0" tIns="0" rIns="0" bIns="0" rtlCol="0" anchor="t"/>
          <a:lstStyle/>
          <a:p>
            <a:pPr indent="0" marL="0">
              <a:buNone/>
            </a:pPr>
            <a:r>
              <a:rPr lang="en-US" sz="1300" dirty="0">
                <a:solidFill>
                  <a:schemeClr val="tx1"/>
                </a:solidFill>
              </a:rPr>
              <a:t>No video, rewards, creator network or marketing</a:t>
            </a:r>
            <a:endParaRPr lang="en-US" sz="1300" dirty="0"/>
          </a:p>
        </p:txBody>
      </p:sp>
      <p:sp>
        <p:nvSpPr>
          <p:cNvPr id="15" name="Old data circle"/>
          <p:cNvSpPr/>
          <p:nvPr/>
        </p:nvSpPr>
        <p:spPr>
          <a:xfrm>
            <a:off x="548640" y="3931920"/>
            <a:ext cx="640080" cy="640080"/>
          </a:xfrm>
          <a:prstGeom prst="ellipse">
            <a:avLst/>
          </a:prstGeom>
          <a:solidFill>
            <a:schemeClr val="bg1"/>
          </a:solidFill>
          <a:ln/>
        </p:spPr>
      </p:sp>
      <p:pic>
        <p:nvPicPr>
          <p:cNvPr id="16" name="Old data icon" descr="Old data">    </p:cNvPr>
          <p:cNvPicPr>
            <a:picLocks noChangeAspect="1"/>
          </p:cNvPicPr>
          <p:nvPr/>
        </p:nvPicPr>
        <p:blipFill>
          <a:blip r:embed="rId3"/>
          <a:stretch>
            <a:fillRect/>
          </a:stretch>
        </p:blipFill>
        <p:spPr>
          <a:xfrm>
            <a:off x="702259" y="4085539"/>
            <a:ext cx="332842" cy="332842"/>
          </a:xfrm>
          <a:prstGeom prst="rect">
            <a:avLst/>
          </a:prstGeom>
        </p:spPr>
      </p:pic>
      <p:sp>
        <p:nvSpPr>
          <p:cNvPr id="17" name="Text 11"/>
          <p:cNvSpPr txBox="1"/>
          <p:nvPr/>
        </p:nvSpPr>
        <p:spPr>
          <a:xfrm>
            <a:off x="1417320" y="3913632"/>
            <a:ext cx="4480560" cy="347472"/>
          </a:xfrm>
          <a:prstGeom prst="rect">
            <a:avLst/>
          </a:prstGeom>
          <a:noFill/>
          <a:ln/>
        </p:spPr>
        <p:txBody>
          <a:bodyPr wrap="square" lIns="0" tIns="0" rIns="0" bIns="0" rtlCol="0" anchor="t"/>
          <a:lstStyle/>
          <a:p>
            <a:pPr indent="0" marL="0">
              <a:buNone/>
            </a:pPr>
            <a:r>
              <a:rPr lang="en-US" sz="1600" b="1" dirty="0">
                <a:solidFill>
                  <a:schemeClr val="tx2"/>
                </a:solidFill>
              </a:rPr>
              <a:t>Old data</a:t>
            </a:r>
            <a:endParaRPr lang="en-US" sz="1600" dirty="0"/>
          </a:p>
        </p:txBody>
      </p:sp>
      <p:sp>
        <p:nvSpPr>
          <p:cNvPr id="18" name="Text 12"/>
          <p:cNvSpPr txBox="1"/>
          <p:nvPr/>
        </p:nvSpPr>
        <p:spPr>
          <a:xfrm>
            <a:off x="1417320" y="4261104"/>
            <a:ext cx="4480560" cy="347472"/>
          </a:xfrm>
          <a:prstGeom prst="rect">
            <a:avLst/>
          </a:prstGeom>
          <a:noFill/>
          <a:ln/>
        </p:spPr>
        <p:txBody>
          <a:bodyPr wrap="square" lIns="0" tIns="0" rIns="0" bIns="0" rtlCol="0" anchor="t"/>
          <a:lstStyle/>
          <a:p>
            <a:pPr indent="0" marL="0">
              <a:buNone/>
            </a:pPr>
            <a:r>
              <a:rPr lang="en-US" sz="1300" dirty="0">
                <a:solidFill>
                  <a:schemeClr val="tx1"/>
                </a:solidFill>
              </a:rPr>
              <a:t>Ends early 2018; per-year calibration off by up to ~4 points</a:t>
            </a:r>
            <a:endParaRPr lang="en-US" sz="1300" dirty="0"/>
          </a:p>
        </p:txBody>
      </p:sp>
      <p:sp>
        <p:nvSpPr>
          <p:cNvPr id="19" name="Generous label circle"/>
          <p:cNvSpPr/>
          <p:nvPr/>
        </p:nvSpPr>
        <p:spPr>
          <a:xfrm>
            <a:off x="548640" y="4846320"/>
            <a:ext cx="640080" cy="640080"/>
          </a:xfrm>
          <a:prstGeom prst="ellipse">
            <a:avLst/>
          </a:prstGeom>
          <a:solidFill>
            <a:schemeClr val="bg1"/>
          </a:solidFill>
          <a:ln/>
        </p:spPr>
      </p:sp>
      <p:pic>
        <p:nvPicPr>
          <p:cNvPr id="20" name="Generous label icon" descr="Generous label">    </p:cNvPr>
          <p:cNvPicPr>
            <a:picLocks noChangeAspect="1"/>
          </p:cNvPicPr>
          <p:nvPr/>
        </p:nvPicPr>
        <p:blipFill>
          <a:blip r:embed="rId4"/>
          <a:stretch>
            <a:fillRect/>
          </a:stretch>
        </p:blipFill>
        <p:spPr>
          <a:xfrm>
            <a:off x="702259" y="4999939"/>
            <a:ext cx="332842" cy="332842"/>
          </a:xfrm>
          <a:prstGeom prst="rect">
            <a:avLst/>
          </a:prstGeom>
        </p:spPr>
      </p:pic>
      <p:sp>
        <p:nvSpPr>
          <p:cNvPr id="21" name="Text 14"/>
          <p:cNvSpPr txBox="1"/>
          <p:nvPr/>
        </p:nvSpPr>
        <p:spPr>
          <a:xfrm>
            <a:off x="1417320" y="4828032"/>
            <a:ext cx="4480560" cy="347472"/>
          </a:xfrm>
          <a:prstGeom prst="rect">
            <a:avLst/>
          </a:prstGeom>
          <a:noFill/>
          <a:ln/>
        </p:spPr>
        <p:txBody>
          <a:bodyPr wrap="square" lIns="0" tIns="0" rIns="0" bIns="0" rtlCol="0" anchor="t"/>
          <a:lstStyle/>
          <a:p>
            <a:pPr indent="0" marL="0">
              <a:buNone/>
            </a:pPr>
            <a:r>
              <a:rPr lang="en-US" sz="1600" b="1" dirty="0">
                <a:solidFill>
                  <a:schemeClr val="tx2"/>
                </a:solidFill>
              </a:rPr>
              <a:t>Generous label</a:t>
            </a:r>
            <a:endParaRPr lang="en-US" sz="1600" dirty="0"/>
          </a:p>
        </p:txBody>
      </p:sp>
      <p:sp>
        <p:nvSpPr>
          <p:cNvPr id="22" name="Text 15"/>
          <p:cNvSpPr txBox="1"/>
          <p:nvPr/>
        </p:nvSpPr>
        <p:spPr>
          <a:xfrm>
            <a:off x="1417320" y="5175504"/>
            <a:ext cx="4480560" cy="347472"/>
          </a:xfrm>
          <a:prstGeom prst="rect">
            <a:avLst/>
          </a:prstGeom>
          <a:noFill/>
          <a:ln/>
        </p:spPr>
        <p:txBody>
          <a:bodyPr wrap="square" lIns="0" tIns="0" rIns="0" bIns="0" rtlCol="0" anchor="t"/>
          <a:lstStyle/>
          <a:p>
            <a:pPr indent="0" marL="0">
              <a:buNone/>
            </a:pPr>
            <a:r>
              <a:rPr lang="en-US" sz="1300" dirty="0">
                <a:solidFill>
                  <a:schemeClr val="tx1"/>
                </a:solidFill>
              </a:rPr>
              <a:t>58% labelled promising vs 36% funded</a:t>
            </a:r>
            <a:endParaRPr lang="en-US" sz="1300" dirty="0"/>
          </a:p>
        </p:txBody>
      </p:sp>
      <p:sp>
        <p:nvSpPr>
          <p:cNvPr id="23" name="Text 16"/>
          <p:cNvSpPr txBox="1"/>
          <p:nvPr/>
        </p:nvSpPr>
        <p:spPr>
          <a:xfrm>
            <a:off x="6336792" y="1600200"/>
            <a:ext cx="5303520" cy="411480"/>
          </a:xfrm>
          <a:prstGeom prst="rect">
            <a:avLst/>
          </a:prstGeom>
          <a:noFill/>
          <a:ln/>
        </p:spPr>
        <p:txBody>
          <a:bodyPr wrap="square" lIns="0" tIns="0" rIns="0" bIns="0" rtlCol="0" anchor="t"/>
          <a:lstStyle/>
          <a:p>
            <a:pPr indent="0" marL="0">
              <a:buNone/>
            </a:pPr>
            <a:r>
              <a:rPr lang="en-US" sz="2000" b="1" dirty="0">
                <a:solidFill>
                  <a:schemeClr val="accent1"/>
                </a:solidFill>
              </a:rPr>
              <a:t>Before real use</a:t>
            </a:r>
            <a:endParaRPr lang="en-US" sz="2000" dirty="0"/>
          </a:p>
        </p:txBody>
      </p:sp>
      <p:sp>
        <p:nvSpPr>
          <p:cNvPr id="24" name="Refresh and recalibrate circle"/>
          <p:cNvSpPr/>
          <p:nvPr/>
        </p:nvSpPr>
        <p:spPr>
          <a:xfrm>
            <a:off x="6336792" y="2103120"/>
            <a:ext cx="566928" cy="566928"/>
          </a:xfrm>
          <a:prstGeom prst="ellipse">
            <a:avLst/>
          </a:prstGeom>
          <a:solidFill>
            <a:schemeClr val="bg1"/>
          </a:solidFill>
          <a:ln/>
        </p:spPr>
      </p:sp>
      <p:pic>
        <p:nvPicPr>
          <p:cNvPr id="25" name="Refresh and recalibrate icon" descr="Refresh and recalibrate">    </p:cNvPr>
          <p:cNvPicPr>
            <a:picLocks noChangeAspect="1"/>
          </p:cNvPicPr>
          <p:nvPr/>
        </p:nvPicPr>
        <p:blipFill>
          <a:blip r:embed="rId5"/>
          <a:stretch>
            <a:fillRect/>
          </a:stretch>
        </p:blipFill>
        <p:spPr>
          <a:xfrm>
            <a:off x="6472855" y="2239183"/>
            <a:ext cx="294803" cy="294803"/>
          </a:xfrm>
          <a:prstGeom prst="rect">
            <a:avLst/>
          </a:prstGeom>
        </p:spPr>
      </p:pic>
      <p:sp>
        <p:nvSpPr>
          <p:cNvPr id="26" name="Text 18"/>
          <p:cNvSpPr txBox="1"/>
          <p:nvPr/>
        </p:nvSpPr>
        <p:spPr>
          <a:xfrm>
            <a:off x="7132320" y="2066544"/>
            <a:ext cx="4480560" cy="329184"/>
          </a:xfrm>
          <a:prstGeom prst="rect">
            <a:avLst/>
          </a:prstGeom>
          <a:noFill/>
          <a:ln/>
        </p:spPr>
        <p:txBody>
          <a:bodyPr wrap="square" lIns="0" tIns="0" rIns="0" bIns="0" rtlCol="0" anchor="t"/>
          <a:lstStyle/>
          <a:p>
            <a:pPr indent="0" marL="0">
              <a:buNone/>
            </a:pPr>
            <a:r>
              <a:rPr lang="en-US" sz="1600" b="1" dirty="0">
                <a:solidFill>
                  <a:schemeClr val="tx2"/>
                </a:solidFill>
              </a:rPr>
              <a:t>Refresh and recalibrate</a:t>
            </a:r>
            <a:endParaRPr lang="en-US" sz="1600" dirty="0"/>
          </a:p>
        </p:txBody>
      </p:sp>
      <p:sp>
        <p:nvSpPr>
          <p:cNvPr id="27" name="Text 19"/>
          <p:cNvSpPr txBox="1"/>
          <p:nvPr/>
        </p:nvSpPr>
        <p:spPr>
          <a:xfrm>
            <a:off x="7132320" y="2395728"/>
            <a:ext cx="4480560" cy="329184"/>
          </a:xfrm>
          <a:prstGeom prst="rect">
            <a:avLst/>
          </a:prstGeom>
          <a:noFill/>
          <a:ln/>
        </p:spPr>
        <p:txBody>
          <a:bodyPr wrap="square" lIns="0" tIns="0" rIns="0" bIns="0" rtlCol="0" anchor="t"/>
          <a:lstStyle/>
          <a:p>
            <a:pPr indent="0" marL="0">
              <a:buNone/>
            </a:pPr>
            <a:r>
              <a:rPr lang="en-US" sz="1300" dirty="0">
                <a:solidFill>
                  <a:schemeClr val="tx1"/>
                </a:solidFill>
              </a:rPr>
              <a:t>Add recent projects; isotonic recalibration</a:t>
            </a:r>
            <a:endParaRPr lang="en-US" sz="1300" dirty="0"/>
          </a:p>
        </p:txBody>
      </p:sp>
      <p:sp>
        <p:nvSpPr>
          <p:cNvPr id="28" name="Add text circle"/>
          <p:cNvSpPr/>
          <p:nvPr/>
        </p:nvSpPr>
        <p:spPr>
          <a:xfrm>
            <a:off x="6336792" y="2889504"/>
            <a:ext cx="566928" cy="566928"/>
          </a:xfrm>
          <a:prstGeom prst="ellipse">
            <a:avLst/>
          </a:prstGeom>
          <a:solidFill>
            <a:schemeClr val="bg1"/>
          </a:solidFill>
          <a:ln/>
        </p:spPr>
      </p:sp>
      <p:pic>
        <p:nvPicPr>
          <p:cNvPr id="29" name="Add text icon" descr="Add text">    </p:cNvPr>
          <p:cNvPicPr>
            <a:picLocks noChangeAspect="1"/>
          </p:cNvPicPr>
          <p:nvPr/>
        </p:nvPicPr>
        <p:blipFill>
          <a:blip r:embed="rId6"/>
          <a:stretch>
            <a:fillRect/>
          </a:stretch>
        </p:blipFill>
        <p:spPr>
          <a:xfrm>
            <a:off x="6472855" y="3025567"/>
            <a:ext cx="294803" cy="294803"/>
          </a:xfrm>
          <a:prstGeom prst="rect">
            <a:avLst/>
          </a:prstGeom>
        </p:spPr>
      </p:pic>
      <p:sp>
        <p:nvSpPr>
          <p:cNvPr id="30" name="Text 21"/>
          <p:cNvSpPr txBox="1"/>
          <p:nvPr/>
        </p:nvSpPr>
        <p:spPr>
          <a:xfrm>
            <a:off x="7132320" y="2852928"/>
            <a:ext cx="4480560" cy="329184"/>
          </a:xfrm>
          <a:prstGeom prst="rect">
            <a:avLst/>
          </a:prstGeom>
          <a:noFill/>
          <a:ln/>
        </p:spPr>
        <p:txBody>
          <a:bodyPr wrap="square" lIns="0" tIns="0" rIns="0" bIns="0" rtlCol="0" anchor="t"/>
          <a:lstStyle/>
          <a:p>
            <a:pPr indent="0" marL="0">
              <a:buNone/>
            </a:pPr>
            <a:r>
              <a:rPr lang="en-US" sz="1600" b="1" dirty="0">
                <a:solidFill>
                  <a:schemeClr val="tx2"/>
                </a:solidFill>
              </a:rPr>
              <a:t>Add text</a:t>
            </a:r>
            <a:endParaRPr lang="en-US" sz="1600" dirty="0"/>
          </a:p>
        </p:txBody>
      </p:sp>
      <p:sp>
        <p:nvSpPr>
          <p:cNvPr id="31" name="Text 22"/>
          <p:cNvSpPr txBox="1"/>
          <p:nvPr/>
        </p:nvSpPr>
        <p:spPr>
          <a:xfrm>
            <a:off x="7132320" y="3182112"/>
            <a:ext cx="4480560" cy="329184"/>
          </a:xfrm>
          <a:prstGeom prst="rect">
            <a:avLst/>
          </a:prstGeom>
          <a:noFill/>
          <a:ln/>
        </p:spPr>
        <p:txBody>
          <a:bodyPr wrap="square" lIns="0" tIns="0" rIns="0" bIns="0" rtlCol="0" anchor="t"/>
          <a:lstStyle/>
          <a:p>
            <a:pPr indent="0" marL="0">
              <a:buNone/>
            </a:pPr>
            <a:r>
              <a:rPr lang="en-US" sz="1300" dirty="0">
                <a:solidFill>
                  <a:schemeClr val="tx1"/>
                </a:solidFill>
              </a:rPr>
              <a:t>TF-IDF on title and description (+0.017 CV AUC seen)</a:t>
            </a:r>
            <a:endParaRPr lang="en-US" sz="1300" dirty="0"/>
          </a:p>
        </p:txBody>
      </p:sp>
      <p:sp>
        <p:nvSpPr>
          <p:cNvPr id="32" name="Add creator history circle"/>
          <p:cNvSpPr/>
          <p:nvPr/>
        </p:nvSpPr>
        <p:spPr>
          <a:xfrm>
            <a:off x="6336792" y="3675888"/>
            <a:ext cx="566928" cy="566928"/>
          </a:xfrm>
          <a:prstGeom prst="ellipse">
            <a:avLst/>
          </a:prstGeom>
          <a:solidFill>
            <a:schemeClr val="bg1"/>
          </a:solidFill>
          <a:ln/>
        </p:spPr>
      </p:sp>
      <p:pic>
        <p:nvPicPr>
          <p:cNvPr id="33" name="Add creator history icon" descr="Add creator history">    </p:cNvPr>
          <p:cNvPicPr>
            <a:picLocks noChangeAspect="1"/>
          </p:cNvPicPr>
          <p:nvPr/>
        </p:nvPicPr>
        <p:blipFill>
          <a:blip r:embed="rId7"/>
          <a:stretch>
            <a:fillRect/>
          </a:stretch>
        </p:blipFill>
        <p:spPr>
          <a:xfrm>
            <a:off x="6472855" y="3811951"/>
            <a:ext cx="294803" cy="294803"/>
          </a:xfrm>
          <a:prstGeom prst="rect">
            <a:avLst/>
          </a:prstGeom>
        </p:spPr>
      </p:pic>
      <p:sp>
        <p:nvSpPr>
          <p:cNvPr id="34" name="Text 24"/>
          <p:cNvSpPr txBox="1"/>
          <p:nvPr/>
        </p:nvSpPr>
        <p:spPr>
          <a:xfrm>
            <a:off x="7132320" y="3639312"/>
            <a:ext cx="4480560" cy="329184"/>
          </a:xfrm>
          <a:prstGeom prst="rect">
            <a:avLst/>
          </a:prstGeom>
          <a:noFill/>
          <a:ln/>
        </p:spPr>
        <p:txBody>
          <a:bodyPr wrap="square" lIns="0" tIns="0" rIns="0" bIns="0" rtlCol="0" anchor="t"/>
          <a:lstStyle/>
          <a:p>
            <a:pPr indent="0" marL="0">
              <a:buNone/>
            </a:pPr>
            <a:r>
              <a:rPr lang="en-US" sz="1600" b="1" dirty="0">
                <a:solidFill>
                  <a:schemeClr val="tx2"/>
                </a:solidFill>
              </a:rPr>
              <a:t>Add creator history</a:t>
            </a:r>
            <a:endParaRPr lang="en-US" sz="1600" dirty="0"/>
          </a:p>
        </p:txBody>
      </p:sp>
      <p:sp>
        <p:nvSpPr>
          <p:cNvPr id="35" name="Text 25"/>
          <p:cNvSpPr txBox="1"/>
          <p:nvPr/>
        </p:nvSpPr>
        <p:spPr>
          <a:xfrm>
            <a:off x="7132320" y="3968496"/>
            <a:ext cx="4480560" cy="329184"/>
          </a:xfrm>
          <a:prstGeom prst="rect">
            <a:avLst/>
          </a:prstGeom>
          <a:noFill/>
          <a:ln/>
        </p:spPr>
        <p:txBody>
          <a:bodyPr wrap="square" lIns="0" tIns="0" rIns="0" bIns="0" rtlCol="0" anchor="t"/>
          <a:lstStyle/>
          <a:p>
            <a:pPr indent="0" marL="0">
              <a:buNone/>
            </a:pPr>
            <a:r>
              <a:rPr lang="en-US" sz="1300" dirty="0">
                <a:solidFill>
                  <a:schemeClr val="tx1"/>
                </a:solidFill>
              </a:rPr>
              <a:t>Past launches, backers, rewards</a:t>
            </a:r>
            <a:endParaRPr lang="en-US" sz="1300" dirty="0"/>
          </a:p>
        </p:txBody>
      </p:sp>
      <p:sp>
        <p:nvSpPr>
          <p:cNvPr id="36" name="Goal-only what-if circle"/>
          <p:cNvSpPr/>
          <p:nvPr/>
        </p:nvSpPr>
        <p:spPr>
          <a:xfrm>
            <a:off x="6336792" y="4462272"/>
            <a:ext cx="566928" cy="566928"/>
          </a:xfrm>
          <a:prstGeom prst="ellipse">
            <a:avLst/>
          </a:prstGeom>
          <a:solidFill>
            <a:schemeClr val="bg1"/>
          </a:solidFill>
          <a:ln/>
        </p:spPr>
      </p:sp>
      <p:pic>
        <p:nvPicPr>
          <p:cNvPr id="37" name="Goal-only what-if icon" descr="Goal-only what-if">    </p:cNvPr>
          <p:cNvPicPr>
            <a:picLocks noChangeAspect="1"/>
          </p:cNvPicPr>
          <p:nvPr/>
        </p:nvPicPr>
        <p:blipFill>
          <a:blip r:embed="rId8"/>
          <a:stretch>
            <a:fillRect/>
          </a:stretch>
        </p:blipFill>
        <p:spPr>
          <a:xfrm>
            <a:off x="6472855" y="4598335"/>
            <a:ext cx="294803" cy="294803"/>
          </a:xfrm>
          <a:prstGeom prst="rect">
            <a:avLst/>
          </a:prstGeom>
        </p:spPr>
      </p:pic>
      <p:sp>
        <p:nvSpPr>
          <p:cNvPr id="38" name="Text 27"/>
          <p:cNvSpPr txBox="1"/>
          <p:nvPr/>
        </p:nvSpPr>
        <p:spPr>
          <a:xfrm>
            <a:off x="7132320" y="4425696"/>
            <a:ext cx="4480560" cy="329184"/>
          </a:xfrm>
          <a:prstGeom prst="rect">
            <a:avLst/>
          </a:prstGeom>
          <a:noFill/>
          <a:ln/>
        </p:spPr>
        <p:txBody>
          <a:bodyPr wrap="square" lIns="0" tIns="0" rIns="0" bIns="0" rtlCol="0" anchor="t"/>
          <a:lstStyle/>
          <a:p>
            <a:pPr indent="0" marL="0">
              <a:buNone/>
            </a:pPr>
            <a:r>
              <a:rPr lang="en-US" sz="1600" b="1" dirty="0">
                <a:solidFill>
                  <a:schemeClr val="tx2"/>
                </a:solidFill>
              </a:rPr>
              <a:t>Goal-only what-if</a:t>
            </a:r>
            <a:endParaRPr lang="en-US" sz="1600" dirty="0"/>
          </a:p>
        </p:txBody>
      </p:sp>
      <p:sp>
        <p:nvSpPr>
          <p:cNvPr id="39" name="Text 28"/>
          <p:cNvSpPr txBox="1"/>
          <p:nvPr/>
        </p:nvSpPr>
        <p:spPr>
          <a:xfrm>
            <a:off x="7132320" y="4754880"/>
            <a:ext cx="4480560" cy="329184"/>
          </a:xfrm>
          <a:prstGeom prst="rect">
            <a:avLst/>
          </a:prstGeom>
          <a:noFill/>
          <a:ln/>
        </p:spPr>
        <p:txBody>
          <a:bodyPr wrap="square" lIns="0" tIns="0" rIns="0" bIns="0" rtlCol="0" anchor="t"/>
          <a:lstStyle/>
          <a:p>
            <a:pPr indent="0" marL="0">
              <a:buNone/>
            </a:pPr>
            <a:r>
              <a:rPr lang="en-US" sz="1300" dirty="0">
                <a:solidFill>
                  <a:schemeClr val="tx1"/>
                </a:solidFill>
              </a:rPr>
              <a:t>monotonic_cst on log_goal, with a warning</a:t>
            </a:r>
            <a:endParaRPr lang="en-US" sz="1300" dirty="0"/>
          </a:p>
        </p:txBody>
      </p:sp>
      <p:sp>
        <p:nvSpPr>
          <p:cNvPr id="40" name="Deploy and monitor circle"/>
          <p:cNvSpPr/>
          <p:nvPr/>
        </p:nvSpPr>
        <p:spPr>
          <a:xfrm>
            <a:off x="6336792" y="5248656"/>
            <a:ext cx="566928" cy="566928"/>
          </a:xfrm>
          <a:prstGeom prst="ellipse">
            <a:avLst/>
          </a:prstGeom>
          <a:solidFill>
            <a:schemeClr val="bg1"/>
          </a:solidFill>
          <a:ln/>
        </p:spPr>
      </p:sp>
      <p:pic>
        <p:nvPicPr>
          <p:cNvPr id="41" name="Deploy and monitor icon" descr="Deploy and monitor">    </p:cNvPr>
          <p:cNvPicPr>
            <a:picLocks noChangeAspect="1"/>
          </p:cNvPicPr>
          <p:nvPr/>
        </p:nvPicPr>
        <p:blipFill>
          <a:blip r:embed="rId9"/>
          <a:stretch>
            <a:fillRect/>
          </a:stretch>
        </p:blipFill>
        <p:spPr>
          <a:xfrm>
            <a:off x="6472855" y="5384719"/>
            <a:ext cx="294803" cy="294803"/>
          </a:xfrm>
          <a:prstGeom prst="rect">
            <a:avLst/>
          </a:prstGeom>
        </p:spPr>
      </p:pic>
      <p:sp>
        <p:nvSpPr>
          <p:cNvPr id="42" name="Text 30"/>
          <p:cNvSpPr txBox="1"/>
          <p:nvPr/>
        </p:nvSpPr>
        <p:spPr>
          <a:xfrm>
            <a:off x="7132320" y="5212080"/>
            <a:ext cx="4480560" cy="329184"/>
          </a:xfrm>
          <a:prstGeom prst="rect">
            <a:avLst/>
          </a:prstGeom>
          <a:noFill/>
          <a:ln/>
        </p:spPr>
        <p:txBody>
          <a:bodyPr wrap="square" lIns="0" tIns="0" rIns="0" bIns="0" rtlCol="0" anchor="t"/>
          <a:lstStyle/>
          <a:p>
            <a:pPr indent="0" marL="0">
              <a:buNone/>
            </a:pPr>
            <a:r>
              <a:rPr lang="en-US" sz="1600" b="1" dirty="0">
                <a:solidFill>
                  <a:schemeClr val="tx2"/>
                </a:solidFill>
              </a:rPr>
              <a:t>Deploy and monitor</a:t>
            </a:r>
            <a:endParaRPr lang="en-US" sz="1600" dirty="0"/>
          </a:p>
        </p:txBody>
      </p:sp>
      <p:sp>
        <p:nvSpPr>
          <p:cNvPr id="43" name="Text 31"/>
          <p:cNvSpPr txBox="1"/>
          <p:nvPr/>
        </p:nvSpPr>
        <p:spPr>
          <a:xfrm>
            <a:off x="7132320" y="5541264"/>
            <a:ext cx="4480560" cy="329184"/>
          </a:xfrm>
          <a:prstGeom prst="rect">
            <a:avLst/>
          </a:prstGeom>
          <a:noFill/>
          <a:ln/>
        </p:spPr>
        <p:txBody>
          <a:bodyPr wrap="square" lIns="0" tIns="0" rIns="0" bIns="0" rtlCol="0" anchor="t"/>
          <a:lstStyle/>
          <a:p>
            <a:pPr indent="0" marL="0">
              <a:buNone/>
            </a:pPr>
            <a:r>
              <a:rPr lang="en-US" sz="1300" dirty="0">
                <a:solidFill>
                  <a:schemeClr val="tx1"/>
                </a:solidFill>
              </a:rPr>
              <a:t>Launch Check as a web tool; track calibration drift</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94415" cy="320040"/>
          </a:xfrm>
          <a:prstGeom prst="rect">
            <a:avLst/>
          </a:prstGeom>
          <a:noFill/>
          <a:ln/>
        </p:spPr>
        <p:txBody>
          <a:bodyPr wrap="square" lIns="0" tIns="0" rIns="0" bIns="0" rtlCol="0"/>
          <a:lstStyle/>
          <a:p>
            <a:pPr indent="0" marL="0">
              <a:buNone/>
            </a:pPr>
            <a:r>
              <a:rPr lang="en-US" sz="1200" b="1" spc="200" kern="0" dirty="0">
                <a:solidFill>
                  <a:schemeClr val="accent1"/>
                </a:solidFill>
              </a:rPr>
              <a:t>REPRODUCE IT</a:t>
            </a:r>
            <a:endParaRPr lang="en-US" sz="1200" dirty="0"/>
          </a:p>
        </p:txBody>
      </p:sp>
      <p:sp>
        <p:nvSpPr>
          <p:cNvPr id="3" name="Text 0"/>
          <p:cNvSpPr/>
          <p:nvPr>
            <p:ph idx="101" type="title" hasCustomPrompt="1"/>
          </p:nvPr>
        </p:nvSpPr>
        <p:spPr>
          <a:xfrm>
            <a:off x="548640" y="640080"/>
            <a:ext cx="11094415" cy="822960"/>
          </a:xfrm>
          <a:prstGeom prst="rect">
            <a:avLst/>
          </a:prstGeom>
          <a:noFill/>
          <a:ln/>
        </p:spPr>
        <p:txBody>
          <a:bodyPr wrap="square" lIns="0" tIns="0" rIns="0" bIns="0" rtlCol="0" anchor="t"/>
          <a:lstStyle/>
          <a:p>
            <a:pPr algn="l" indent="0" marL="0">
              <a:buNone/>
            </a:pPr>
            <a:r>
              <a:rPr lang="en-US" sz="3400" b="1" dirty="0">
                <a:solidFill>
                  <a:schemeClr val="tx2"/>
                </a:solidFill>
              </a:rPr>
              <a:t>Everything runs locally in five commands</a:t>
            </a:r>
            <a:endParaRPr lang="en-US" sz="3400" dirty="0"/>
          </a:p>
        </p:txBody>
      </p:sp>
      <p:sp>
        <p:nvSpPr>
          <p:cNvPr id="4" name="Text 0"/>
          <p:cNvSpPr/>
          <p:nvPr>
            <p:ph idx="102" type="body" hasCustomPrompt="1"/>
          </p:nvPr>
        </p:nvSpPr>
        <p:spPr>
          <a:xfrm>
            <a:off x="548640" y="6400800"/>
            <a:ext cx="10362895" cy="274320"/>
          </a:xfrm>
          <a:prstGeom prst="rect">
            <a:avLst/>
          </a:prstGeom>
          <a:noFill/>
          <a:ln/>
        </p:spPr>
        <p:txBody>
          <a:bodyPr wrap="square" lIns="0" tIns="0" rIns="0" bIns="0" rtlCol="0" anchor="ctr"/>
          <a:lstStyle/>
          <a:p>
            <a:pPr indent="0" marL="0">
              <a:buNone/>
            </a:pPr>
            <a:r>
              <a:rPr lang="en-US" sz="1000" dirty="0">
                <a:solidFill>
                  <a:schemeClr val="accent4"/>
                </a:solidFill>
              </a:rPr>
              <a:t>Requires uv (Python 3.13) · decks need Node.js 18+ · see README.md</a:t>
            </a:r>
            <a:endParaRPr lang="en-US" sz="1000" dirty="0"/>
          </a:p>
        </p:txBody>
      </p:sp>
      <p:sp>
        <p:nvSpPr>
          <p:cNvPr id="6" name="terminal"/>
          <p:cNvSpPr/>
          <p:nvPr/>
        </p:nvSpPr>
        <p:spPr>
          <a:xfrm>
            <a:off x="548640" y="1737360"/>
            <a:ext cx="11094415" cy="4114800"/>
          </a:xfrm>
          <a:prstGeom prst="roundRect">
            <a:avLst>
              <a:gd name="adj" fmla="val 2667"/>
            </a:avLst>
          </a:prstGeom>
          <a:solidFill>
            <a:schemeClr val="tx2"/>
          </a:solidFill>
          <a:ln/>
        </p:spPr>
      </p:sp>
      <p:sp>
        <p:nvSpPr>
          <p:cNvPr id="7" name="Text 4"/>
          <p:cNvSpPr txBox="1"/>
          <p:nvPr/>
        </p:nvSpPr>
        <p:spPr>
          <a:xfrm>
            <a:off x="914400" y="2011680"/>
            <a:ext cx="10362895" cy="365760"/>
          </a:xfrm>
          <a:prstGeom prst="rect">
            <a:avLst/>
          </a:prstGeom>
          <a:noFill/>
          <a:ln/>
        </p:spPr>
        <p:txBody>
          <a:bodyPr wrap="square" lIns="0" tIns="0" rIns="0" bIns="0" rtlCol="0" anchor="t"/>
          <a:lstStyle/>
          <a:p>
            <a:pPr indent="0" marL="0">
              <a:buNone/>
            </a:pPr>
            <a:r>
              <a:rPr lang="en-US" sz="1600" b="1" dirty="0">
                <a:solidFill>
                  <a:schemeClr val="bg1"/>
                </a:solidFill>
                <a:latin typeface="Courier New" pitchFamily="34" charset="0"/>
                <a:ea typeface="Courier New" pitchFamily="34" charset="-122"/>
                <a:cs typeface="Courier New" pitchFamily="34" charset="-120"/>
              </a:rPr>
              <a:t>$ uv sync</a:t>
            </a:r>
            <a:endParaRPr lang="en-US" sz="1600" dirty="0"/>
          </a:p>
        </p:txBody>
      </p:sp>
      <p:sp>
        <p:nvSpPr>
          <p:cNvPr id="8" name="Text 5"/>
          <p:cNvSpPr txBox="1"/>
          <p:nvPr/>
        </p:nvSpPr>
        <p:spPr>
          <a:xfrm>
            <a:off x="914400" y="2359152"/>
            <a:ext cx="10362895" cy="320040"/>
          </a:xfrm>
          <a:prstGeom prst="rect">
            <a:avLst/>
          </a:prstGeom>
          <a:noFill/>
          <a:ln/>
        </p:spPr>
        <p:txBody>
          <a:bodyPr wrap="square" lIns="0" tIns="0" rIns="0" bIns="0" rtlCol="0" anchor="t"/>
          <a:lstStyle/>
          <a:p>
            <a:pPr indent="0" marL="0">
              <a:buNone/>
            </a:pPr>
            <a:r>
              <a:rPr lang="en-US" sz="1300" dirty="0">
                <a:solidFill>
                  <a:schemeClr val="accent5"/>
                </a:solidFill>
                <a:latin typeface="Courier New" pitchFamily="34" charset="0"/>
                <a:ea typeface="Courier New" pitchFamily="34" charset="-122"/>
                <a:cs typeface="Courier New" pitchFamily="34" charset="-120"/>
              </a:rPr>
              <a:t># install Python 3.13 and pinned packages</a:t>
            </a:r>
            <a:endParaRPr lang="en-US" sz="1300" dirty="0"/>
          </a:p>
        </p:txBody>
      </p:sp>
      <p:sp>
        <p:nvSpPr>
          <p:cNvPr id="9" name="Text 6"/>
          <p:cNvSpPr txBox="1"/>
          <p:nvPr/>
        </p:nvSpPr>
        <p:spPr>
          <a:xfrm>
            <a:off x="914400" y="2761488"/>
            <a:ext cx="10362895" cy="365760"/>
          </a:xfrm>
          <a:prstGeom prst="rect">
            <a:avLst/>
          </a:prstGeom>
          <a:noFill/>
          <a:ln/>
        </p:spPr>
        <p:txBody>
          <a:bodyPr wrap="square" lIns="0" tIns="0" rIns="0" bIns="0" rtlCol="0" anchor="t"/>
          <a:lstStyle/>
          <a:p>
            <a:pPr indent="0" marL="0">
              <a:buNone/>
            </a:pPr>
            <a:r>
              <a:rPr lang="en-US" sz="1600" b="1" dirty="0">
                <a:solidFill>
                  <a:schemeClr val="bg1"/>
                </a:solidFill>
                <a:latin typeface="Courier New" pitchFamily="34" charset="0"/>
                <a:ea typeface="Courier New" pitchFamily="34" charset="-122"/>
                <a:cs typeface="Courier New" pitchFamily="34" charset="-120"/>
              </a:rPr>
              <a:t>$ uv run kickstarter-download</a:t>
            </a:r>
            <a:endParaRPr lang="en-US" sz="1600" dirty="0"/>
          </a:p>
        </p:txBody>
      </p:sp>
      <p:sp>
        <p:nvSpPr>
          <p:cNvPr id="10" name="Text 7"/>
          <p:cNvSpPr txBox="1"/>
          <p:nvPr/>
        </p:nvSpPr>
        <p:spPr>
          <a:xfrm>
            <a:off x="914400" y="3108960"/>
            <a:ext cx="10362895" cy="320040"/>
          </a:xfrm>
          <a:prstGeom prst="rect">
            <a:avLst/>
          </a:prstGeom>
          <a:noFill/>
          <a:ln/>
        </p:spPr>
        <p:txBody>
          <a:bodyPr wrap="square" lIns="0" tIns="0" rIns="0" bIns="0" rtlCol="0" anchor="t"/>
          <a:lstStyle/>
          <a:p>
            <a:pPr indent="0" marL="0">
              <a:buNone/>
            </a:pPr>
            <a:r>
              <a:rPr lang="en-US" sz="1300" dirty="0">
                <a:solidFill>
                  <a:schemeClr val="accent5"/>
                </a:solidFill>
                <a:latin typeface="Courier New" pitchFamily="34" charset="0"/>
                <a:ea typeface="Courier New" pitchFamily="34" charset="-122"/>
                <a:cs typeface="Courier New" pitchFamily="34" charset="-120"/>
              </a:rPr>
              <a:t># fetch ks-projects-201801.csv into data/</a:t>
            </a:r>
            <a:endParaRPr lang="en-US" sz="1300" dirty="0"/>
          </a:p>
        </p:txBody>
      </p:sp>
      <p:sp>
        <p:nvSpPr>
          <p:cNvPr id="11" name="Text 8"/>
          <p:cNvSpPr txBox="1"/>
          <p:nvPr/>
        </p:nvSpPr>
        <p:spPr>
          <a:xfrm>
            <a:off x="914400" y="3511296"/>
            <a:ext cx="10362895" cy="365760"/>
          </a:xfrm>
          <a:prstGeom prst="rect">
            <a:avLst/>
          </a:prstGeom>
          <a:noFill/>
          <a:ln/>
        </p:spPr>
        <p:txBody>
          <a:bodyPr wrap="square" lIns="0" tIns="0" rIns="0" bIns="0" rtlCol="0" anchor="t"/>
          <a:lstStyle/>
          <a:p>
            <a:pPr indent="0" marL="0">
              <a:buNone/>
            </a:pPr>
            <a:r>
              <a:rPr lang="en-US" sz="1600" b="1" dirty="0">
                <a:solidFill>
                  <a:schemeClr val="bg1"/>
                </a:solidFill>
                <a:latin typeface="Courier New" pitchFamily="34" charset="0"/>
                <a:ea typeface="Courier New" pitchFamily="34" charset="-122"/>
                <a:cs typeface="Courier New" pitchFamily="34" charset="-120"/>
              </a:rPr>
              <a:t>$ uv run kickstarter-train</a:t>
            </a:r>
            <a:endParaRPr lang="en-US" sz="1600" dirty="0"/>
          </a:p>
        </p:txBody>
      </p:sp>
      <p:sp>
        <p:nvSpPr>
          <p:cNvPr id="12" name="Text 9"/>
          <p:cNvSpPr txBox="1"/>
          <p:nvPr/>
        </p:nvSpPr>
        <p:spPr>
          <a:xfrm>
            <a:off x="914400" y="3858768"/>
            <a:ext cx="10362895" cy="320040"/>
          </a:xfrm>
          <a:prstGeom prst="rect">
            <a:avLst/>
          </a:prstGeom>
          <a:noFill/>
          <a:ln/>
        </p:spPr>
        <p:txBody>
          <a:bodyPr wrap="square" lIns="0" tIns="0" rIns="0" bIns="0" rtlCol="0" anchor="t"/>
          <a:lstStyle/>
          <a:p>
            <a:pPr indent="0" marL="0">
              <a:buNone/>
            </a:pPr>
            <a:r>
              <a:rPr lang="en-US" sz="1300" dirty="0">
                <a:solidFill>
                  <a:schemeClr val="accent5"/>
                </a:solidFill>
                <a:latin typeface="Courier New" pitchFamily="34" charset="0"/>
                <a:ea typeface="Courier New" pitchFamily="34" charset="-122"/>
                <a:cs typeface="Courier New" pitchFamily="34" charset="-120"/>
              </a:rPr>
              <a:t># clean, train, evaluate → models/ and reports/results.json</a:t>
            </a:r>
            <a:endParaRPr lang="en-US" sz="1300" dirty="0"/>
          </a:p>
        </p:txBody>
      </p:sp>
      <p:sp>
        <p:nvSpPr>
          <p:cNvPr id="13" name="Text 10"/>
          <p:cNvSpPr txBox="1"/>
          <p:nvPr/>
        </p:nvSpPr>
        <p:spPr>
          <a:xfrm>
            <a:off x="914400" y="4261104"/>
            <a:ext cx="10362895" cy="365760"/>
          </a:xfrm>
          <a:prstGeom prst="rect">
            <a:avLst/>
          </a:prstGeom>
          <a:noFill/>
          <a:ln/>
        </p:spPr>
        <p:txBody>
          <a:bodyPr wrap="square" lIns="0" tIns="0" rIns="0" bIns="0" rtlCol="0" anchor="t"/>
          <a:lstStyle/>
          <a:p>
            <a:pPr indent="0" marL="0">
              <a:buNone/>
            </a:pPr>
            <a:r>
              <a:rPr lang="en-US" sz="1600" b="1" dirty="0">
                <a:solidFill>
                  <a:schemeClr val="bg1"/>
                </a:solidFill>
                <a:latin typeface="Courier New" pitchFamily="34" charset="0"/>
                <a:ea typeface="Courier New" pitchFamily="34" charset="-122"/>
                <a:cs typeface="Courier New" pitchFamily="34" charset="-120"/>
              </a:rPr>
              <a:t>$ uv run kickstarter-check --category "Tabletop Games" --goal 10000 --days 30</a:t>
            </a:r>
            <a:endParaRPr lang="en-US" sz="1600" dirty="0"/>
          </a:p>
        </p:txBody>
      </p:sp>
      <p:sp>
        <p:nvSpPr>
          <p:cNvPr id="14" name="Text 11"/>
          <p:cNvSpPr txBox="1"/>
          <p:nvPr/>
        </p:nvSpPr>
        <p:spPr>
          <a:xfrm>
            <a:off x="914400" y="4608576"/>
            <a:ext cx="10362895" cy="320040"/>
          </a:xfrm>
          <a:prstGeom prst="rect">
            <a:avLst/>
          </a:prstGeom>
          <a:noFill/>
          <a:ln/>
        </p:spPr>
        <p:txBody>
          <a:bodyPr wrap="square" lIns="0" tIns="0" rIns="0" bIns="0" rtlCol="0" anchor="t"/>
          <a:lstStyle/>
          <a:p>
            <a:pPr indent="0" marL="0">
              <a:buNone/>
            </a:pPr>
            <a:r>
              <a:rPr lang="en-US" sz="1300" dirty="0">
                <a:solidFill>
                  <a:schemeClr val="accent5"/>
                </a:solidFill>
                <a:latin typeface="Courier New" pitchFamily="34" charset="0"/>
                <a:ea typeface="Courier New" pitchFamily="34" charset="-122"/>
                <a:cs typeface="Courier New" pitchFamily="34" charset="-120"/>
              </a:rPr>
              <a:t># score a planned campaign</a:t>
            </a:r>
            <a:endParaRPr lang="en-US" sz="1300" dirty="0"/>
          </a:p>
        </p:txBody>
      </p:sp>
      <p:sp>
        <p:nvSpPr>
          <p:cNvPr id="15" name="Text 12"/>
          <p:cNvSpPr txBox="1"/>
          <p:nvPr/>
        </p:nvSpPr>
        <p:spPr>
          <a:xfrm>
            <a:off x="914400" y="5010912"/>
            <a:ext cx="10362895" cy="365760"/>
          </a:xfrm>
          <a:prstGeom prst="rect">
            <a:avLst/>
          </a:prstGeom>
          <a:noFill/>
          <a:ln/>
        </p:spPr>
        <p:txBody>
          <a:bodyPr wrap="square" lIns="0" tIns="0" rIns="0" bIns="0" rtlCol="0" anchor="t"/>
          <a:lstStyle/>
          <a:p>
            <a:pPr indent="0" marL="0">
              <a:buNone/>
            </a:pPr>
            <a:r>
              <a:rPr lang="en-US" sz="1600" b="1" dirty="0">
                <a:solidFill>
                  <a:schemeClr val="bg1"/>
                </a:solidFill>
                <a:latin typeface="Courier New" pitchFamily="34" charset="0"/>
                <a:ea typeface="Courier New" pitchFamily="34" charset="-122"/>
                <a:cs typeface="Courier New" pitchFamily="34" charset="-120"/>
              </a:rPr>
              <a:t>$ make slides</a:t>
            </a:r>
            <a:endParaRPr lang="en-US" sz="1600" dirty="0"/>
          </a:p>
        </p:txBody>
      </p:sp>
      <p:sp>
        <p:nvSpPr>
          <p:cNvPr id="16" name="Text 13"/>
          <p:cNvSpPr txBox="1"/>
          <p:nvPr/>
        </p:nvSpPr>
        <p:spPr>
          <a:xfrm>
            <a:off x="914400" y="5358384"/>
            <a:ext cx="10362895" cy="320040"/>
          </a:xfrm>
          <a:prstGeom prst="rect">
            <a:avLst/>
          </a:prstGeom>
          <a:noFill/>
          <a:ln/>
        </p:spPr>
        <p:txBody>
          <a:bodyPr wrap="square" lIns="0" tIns="0" rIns="0" bIns="0" rtlCol="0" anchor="t"/>
          <a:lstStyle/>
          <a:p>
            <a:pPr indent="0" marL="0">
              <a:buNone/>
            </a:pPr>
            <a:r>
              <a:rPr lang="en-US" sz="1300" dirty="0">
                <a:solidFill>
                  <a:schemeClr val="accent5"/>
                </a:solidFill>
                <a:latin typeface="Courier New" pitchFamily="34" charset="0"/>
                <a:ea typeface="Courier New" pitchFamily="34" charset="-122"/>
                <a:cs typeface="Courier New" pitchFamily="34" charset="-120"/>
              </a:rPr>
              <a:t># rebuild both decks from reports/results.json</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3" name="Text 0"/>
          <p:cNvSpPr txBox="1"/>
          <p:nvPr/>
        </p:nvSpPr>
        <p:spPr>
          <a:xfrm>
            <a:off x="548640" y="2377440"/>
            <a:ext cx="11094415" cy="1097280"/>
          </a:xfrm>
          <a:prstGeom prst="rect">
            <a:avLst/>
          </a:prstGeom>
          <a:noFill/>
          <a:ln/>
        </p:spPr>
        <p:txBody>
          <a:bodyPr wrap="square" lIns="0" tIns="0" rIns="0" bIns="0" rtlCol="0" anchor="ctr">
            <a:normAutofit/>
          </a:bodyPr>
          <a:lstStyle/>
          <a:p>
            <a:pPr algn="ctr" indent="0" marL="0">
              <a:buNone/>
            </a:pPr>
            <a:r>
              <a:rPr lang="en-US" sz="4800" b="1" dirty="0">
                <a:solidFill>
                  <a:schemeClr val="bg1"/>
                </a:solidFill>
                <a:latin typeface="Calibri" pitchFamily="34" charset="0"/>
                <a:ea typeface="Calibri" pitchFamily="34" charset="-122"/>
                <a:cs typeface="Calibri" pitchFamily="34" charset="-120"/>
              </a:rPr>
              <a:t>Thank you for your attention.</a:t>
            </a:r>
            <a:endParaRPr lang="en-US" sz="4800" dirty="0"/>
          </a:p>
        </p:txBody>
      </p:sp>
      <p:sp>
        <p:nvSpPr>
          <p:cNvPr id="4" name="Text 1"/>
          <p:cNvSpPr txBox="1"/>
          <p:nvPr/>
        </p:nvSpPr>
        <p:spPr>
          <a:xfrm>
            <a:off x="548640" y="3566160"/>
            <a:ext cx="11094415" cy="731520"/>
          </a:xfrm>
          <a:prstGeom prst="rect">
            <a:avLst/>
          </a:prstGeom>
          <a:noFill/>
          <a:ln/>
        </p:spPr>
        <p:txBody>
          <a:bodyPr wrap="square" lIns="0" tIns="0" rIns="0" bIns="0" rtlCol="0" anchor="ctr"/>
          <a:lstStyle/>
          <a:p>
            <a:pPr algn="ctr" indent="0" marL="0">
              <a:buNone/>
            </a:pPr>
            <a:r>
              <a:rPr lang="en-US" sz="3200" b="1" dirty="0">
                <a:solidFill>
                  <a:schemeClr val="accent1"/>
                </a:solidFill>
                <a:latin typeface="Calibri" pitchFamily="34" charset="0"/>
                <a:ea typeface="Calibri" pitchFamily="34" charset="-122"/>
                <a:cs typeface="Calibri" pitchFamily="34" charset="-120"/>
              </a:rPr>
              <a:t>Questions?</a:t>
            </a:r>
            <a:endParaRPr lang="en-US" sz="3200" dirty="0"/>
          </a:p>
        </p:txBody>
      </p:sp>
      <p:sp>
        <p:nvSpPr>
          <p:cNvPr id="5" name="Text 0"/>
          <p:cNvSpPr/>
          <p:nvPr>
            <p:ph idx="100" type="body" hasCustomPrompt="1"/>
          </p:nvPr>
        </p:nvSpPr>
        <p:spPr>
          <a:xfrm>
            <a:off x="548640" y="1417320"/>
            <a:ext cx="8229600" cy="365760"/>
          </a:xfrm>
          <a:prstGeom prst="rect">
            <a:avLst/>
          </a:prstGeom>
          <a:noFill/>
          <a:ln/>
        </p:spPr>
        <p:txBody>
          <a:bodyPr wrap="square" lIns="0" tIns="0" rIns="0" bIns="0" rtlCol="0"/>
          <a:lstStyle/>
          <a:p>
            <a:pPr indent="0" marL="0">
              <a:buNone/>
            </a:pPr>
            <a:endParaRPr lang="en-US" sz="1400" dirty="0"/>
          </a:p>
        </p:txBody>
      </p:sp>
      <p:sp>
        <p:nvSpPr>
          <p:cNvPr id="6" name="Text 0"/>
          <p:cNvSpPr/>
          <p:nvPr>
            <p:ph idx="101" type="title" hasCustomPrompt="1"/>
          </p:nvPr>
        </p:nvSpPr>
        <p:spPr>
          <a:xfrm>
            <a:off x="548640" y="1828800"/>
            <a:ext cx="8412480" cy="2011680"/>
          </a:xfrm>
          <a:prstGeom prst="rect">
            <a:avLst/>
          </a:prstGeom>
          <a:noFill/>
          <a:ln/>
        </p:spPr>
        <p:txBody>
          <a:bodyPr wrap="square" lIns="0" tIns="0" rIns="0" bIns="0" rtlCol="0" anchor="t"/>
          <a:lstStyle/>
          <a:p>
            <a:pPr algn="l" indent="0" marL="0">
              <a:buNone/>
            </a:pPr>
            <a:endParaRPr lang="en-US" sz="4800" dirty="0"/>
          </a:p>
        </p:txBody>
      </p:sp>
      <p:sp>
        <p:nvSpPr>
          <p:cNvPr id="7" name="Text 0"/>
          <p:cNvSpPr/>
          <p:nvPr>
            <p:ph idx="102" type="body" hasCustomPrompt="1"/>
          </p:nvPr>
        </p:nvSpPr>
        <p:spPr>
          <a:xfrm>
            <a:off x="548640" y="3931920"/>
            <a:ext cx="7863840" cy="914400"/>
          </a:xfrm>
          <a:prstGeom prst="rect">
            <a:avLst/>
          </a:prstGeom>
          <a:noFill/>
          <a:ln/>
        </p:spPr>
        <p:txBody>
          <a:bodyPr wrap="square" lIns="0" tIns="0" rIns="0" bIns="0" rtlCol="0" anchor="t"/>
          <a:lstStyle/>
          <a:p>
            <a:pPr indent="0" marL="0">
              <a:buNone/>
            </a:pPr>
            <a:endParaRPr lang="en-US" sz="2000" dirty="0"/>
          </a:p>
        </p:txBody>
      </p:sp>
      <p:sp>
        <p:nvSpPr>
          <p:cNvPr id="8" name="Text 0"/>
          <p:cNvSpPr/>
          <p:nvPr>
            <p:ph idx="103" type="body" hasCustomPrompt="1"/>
          </p:nvPr>
        </p:nvSpPr>
        <p:spPr>
          <a:xfrm>
            <a:off x="548640" y="5943600"/>
            <a:ext cx="8229600" cy="365760"/>
          </a:xfrm>
          <a:prstGeom prst="rect">
            <a:avLst/>
          </a:prstGeom>
          <a:noFill/>
          <a:ln/>
        </p:spPr>
        <p:txBody>
          <a:bodyPr wrap="square" lIns="0" tIns="0" rIns="0" bIns="0" rtlCol="0"/>
          <a:lstStyle/>
          <a:p>
            <a:pPr indent="0" marL="0">
              <a:buNone/>
            </a:pPr>
            <a:endParaRPr lang="en-US" sz="1200" dirty="0"/>
          </a:p>
        </p:txBody>
      </p:sp>
    </p:spTree>
  </p:cSld>
  <p:clrMapOvr>
    <a:masterClrMapping/>
  </p:clrMapOvr>
</p:sld>
</file>

<file path=ppt/theme/theme1.xml><?xml version="1.0" encoding="utf-8"?>
<a:theme xmlns:a="http://schemas.openxmlformats.org/drawingml/2006/main" name="Launch Check">
  <a:themeElements>
    <a:clrScheme name="Launch Check">
      <a:dk1>
        <a:srgbClr val="1F2421"/>
      </a:dk1>
      <a:lt1>
        <a:srgbClr val="FFFFFF"/>
      </a:lt1>
      <a:dk2>
        <a:srgbClr val="1F2421"/>
      </a:dk2>
      <a:lt2>
        <a:srgbClr val="F5F7F6"/>
      </a:lt2>
      <a:accent1>
        <a:srgbClr val="05CE78"/>
      </a:accent1>
      <a:accent2>
        <a:srgbClr val="2E3431"/>
      </a:accent2>
      <a:accent3>
        <a:srgbClr val="8FE3BB"/>
      </a:accent3>
      <a:accent4>
        <a:srgbClr val="5D6863"/>
      </a:accent4>
      <a:accent5>
        <a:srgbClr val="C9D3CE"/>
      </a:accent5>
      <a:accent6>
        <a:srgbClr val="037A47"/>
      </a:accent6>
      <a:hlink>
        <a:srgbClr val="037A47"/>
      </a:hlink>
      <a:folHlink>
        <a:srgbClr val="5D6863"/>
      </a:folHlink>
    </a:clrScheme>
    <a:fontScheme name="Launch Check">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neuefische Data Science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Kickstarter Launch Check: technical deep dive</dc:title>
  <dc:subject>Technical presentation</dc:subject>
  <dc:creator>Christian Balan, Syed Kashif Ali Kazmi, Furkan Y.</dc:creator>
  <cp:lastModifiedBy>Christian Balan, Syed Kashif Ali Kazmi, Furkan Y.</cp:lastModifiedBy>
  <cp:revision>1</cp:revision>
  <dcterms:created xsi:type="dcterms:W3CDTF">2026-10-23T10:11:04Z</dcterms:created>
  <dcterms:modified xsi:type="dcterms:W3CDTF">2026-10-23T10:11:04Z</dcterms:modified>
</cp:coreProperties>
</file>